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A CAD File Is Not Yet an Engineering Workflow" id="{abe2bd23-cd8f-20ba-da95-2b94d98a26fa}">
          <p14:sldIdLst>
            <p14:sldId id="256"/>
            <p14:sldId id="257"/>
            <p14:sldId id="258"/>
            <p14:sldId id="259"/>
            <p14:sldId id="260"/>
            <p14:sldId id="261"/>
            <p14:sldId id="262"/>
            <p14:sldId id="263"/>
            <p14:sldId id="26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61E33"/>
                </a:solidFill>
                <a:latin typeface="+mn-lt"/>
              </a:defRPr>
            </a:pPr>
            <a:r>
              <a:rPr sz="1400" b="0" i="0" u="none" strike="noStrike">
                <a:solidFill>
                  <a:srgbClr val="161E33"/>
                </a:solidFill>
                <a:latin typeface="+mn-lt"/>
              </a:rPr>
              <a:t>Only 132 of 707 cases include runnable code</a:t>
            </a:r>
          </a:p>
        </c:rich>
      </c:tx>
      <c:layout/>
      <c:overlay val="0"/>
    </c:title>
    <c:autoTitleDeleted val="0"/>
    <c:plotArea>
      <c:layout/>
      <c:barChart>
        <c:barDir val="bar"/>
        <c:grouping val="clustered"/>
        <c:varyColors val="0"/>
        <c:ser>
          <c:idx val="0"/>
          <c:order val="0"/>
          <c:tx>
            <c:strRef>
              <c:f>Sheet1!$B$1</c:f>
              <c:strCache>
                <c:ptCount val="1"/>
                <c:pt idx="0">
                  <c:v>Cases</c:v>
                </c:pt>
              </c:strCache>
            </c:strRef>
          </c:tx>
          <c:spPr>
            <a:solidFill>
              <a:srgbClr val="2C5596"/>
            </a:solidFill>
            <a:effectLst/>
          </c:spPr>
          <c:invertIfNegative val="0"/>
          <c:dLbls>
            <c:numFmt formatCode="#,##0" sourceLinked="0"/>
            <c:txPr>
              <a:bodyPr/>
              <a:lstStyle/>
              <a:p>
                <a:pPr>
                  <a:defRPr b="0" i="0" strike="noStrike" sz="1400" u="none">
                    <a:solidFill>
                      <a:srgbClr val="161E33"/>
                    </a:solidFill>
                    <a:latin typeface="+mn-lt"/>
                  </a:defRPr>
                </a:pPr>
              </a:p>
            </c:txPr>
            <c:showLegendKey val="0"/>
            <c:showVal val="1"/>
            <c:showCatName val="0"/>
            <c:showSerName val="0"/>
            <c:showPercent val="0"/>
            <c:showBubbleSize val="0"/>
            <c:showLeaderLines val="0"/>
          </c:dLbls>
          <c:cat>
            <c:multiLvlStrRef>
              <c:f>Sheet1!$A$2:$A$3</c:f>
              <c:multiLvlStrCache>
                <c:ptCount val="2"/>
                <c:lvl>
                  <c:pt idx="0">
                    <c:v>All cases</c:v>
                  </c:pt>
                  <c:pt idx="1">
                    <c:v>With runnable code</c:v>
                  </c:pt>
                </c:lvl>
              </c:multiLvlStrCache>
            </c:multiLvlStrRef>
          </c:cat>
          <c:val>
            <c:numRef>
              <c:f>Sheet1!$B$2:$B$3</c:f>
              <c:numCache>
                <c:formatCode>General</c:formatCode>
                <c:ptCount val="2"/>
                <c:pt idx="0">
                  <c:v>707</c:v>
                </c:pt>
                <c:pt idx="1">
                  <c:v>132</c:v>
                </c:pt>
              </c:numCache>
            </c:numRef>
          </c:val>
        </c:ser>
        <c:dLbls>
          <c:numFmt formatCode="#,##0" sourceLinked="0"/>
          <c:txPr>
            <a:bodyPr/>
            <a:lstStyle/>
            <a:p>
              <a:pPr>
                <a:defRPr b="0" i="0" strike="noStrike" sz="1400" u="none">
                  <a:solidFill>
                    <a:srgbClr val="161E33"/>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400" b="0" i="0" u="none" strike="noStrike">
                <a:solidFill>
                  <a:srgbClr val="4A5663"/>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AI-generated CAD file passed two mass checks after export to a neutral STEP file. In other tests, it only partly rebuilt editable geometry and produced one of seven bodies. A wider survey finds mostly demonstrations, with tolerances and manufacturability untested on physical parts. Treat a passing export as a drafting result, and test each engineering property separately.
———
VOICEOVER CUE: 00:00.0–00:25.9 in piece02_voiceover.m4a (AI-generated voice: Chatterbox clone of the author’s voice). Suggested script window: new opening (not in original timing table).
OPENING: Opening: executive summary. Audience: technical product managers and engineering leaders deciding where to build on frontier models for spatial, geometric, and manufacturing-design work.
SOURCES:
- Engineering.com, “Welcome to the vibe-CAD era,” September 30, 2026. https://www.engineering.com/welcome-to-the-vibe-cad-era/
- MIT-CDFG, “On the Opportunities and Risks of Frontier Models for 3D Modeling, Computational Design and Robotics,” September 22, 2026. https://mit-cdfg.github.io/Survey-AI-for-3D-modeling-Robotics/
- Physical AI Podcast, “AI Models Fail 63 of 84 Robot Tasks, Waymo Borrows $5B,” October 10, 2026, 00:02:47–00:02:51 and 00:03:48–00:03:55. https://dts.podtrac.com/redirect.mp3/op3.dev/e,pg=83ccf97e-1d88-565b-ad28-0411c3a101af/physicalaipodcast.co/audio/episode-010.mp3
- Changelog Media, “Open models and the future of Physical AI with NVIDIA,” October 1, 2026, 00:23:59–00:24:19. https://pscrb.fm/rss/p/dts.podtrac.com/redirect.mp3/media.transistor.fm/217445d3/e1eb0b6a.mp3
AI-ASSISTED.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Which CAD-agent claims withstand scrutiny? A Backflip STEP export passed two mass checks after import into Fusion. But native-feature transfer was partial, and a multibody test failed. That is evidence for a narrow neutral-file outcome, not a dependable autonomous engineering workflow. This video uses AI-generated presentation. As of October 16, 2026.
———
VOICEOVER CUE: 00:25.9–00:49.3 in piece02_voiceover.m4a (AI-generated voice: Chatterbox clone of the author’s voice). Suggested script window: 00:00–00:21.
SCENE 1: The answer first
SOURCES:
- Engineering.com, “Welcome to the vibe-CAD era,” September 30, 2026. https://www.engineering.com/welcome-to-the-vibe-cad-era/
AI-ASSISTED.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Engineering.com reported two tests using simplified TooTallToby drawing exercises. In the first, it imported a Backflip STEP file into Fusion, applied material, checked mass, and found the result exactly correct. In the second, the downloaded STEP file also passed its mass check. These are reported facts. The check observed imported neutral geometry producing the expected mass under the selected material in Fusion.
———
VOICEOVER CUE: 00:49.3–01:19.4 in piece02_voiceover.m4a (AI-generated voice: Chatterbox clone of the author’s voice). Suggested script window: 00:21–00:47.
SCENE 2: What the mass checks actually checked
SOURCES:
- Engineering.com, “Welcome to the vibe-CAD era,” September 30, 2026. https://www.engineering.com/welcome-to-the-vibe-cad-era/
AI-ASSISTED.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mass check is not a check of editable design intent. It does not by itself check dimensional tolerances, assembly relationships, fabrication feasibility, or inspection results. That is not a criticism of the test. It is its scope. My interpretation is simple: passing mass after STEP import is artifact evidence. It does not establish native editability, tolerance conformance, or manufacturability.
———
VOICEOVER CUE: 01:19.4–01:46.0 in piece02_voiceover.m4a (AI-generated voice: Chatterbox clone of the author’s voice). Suggested script window: 00:47–01:12.
SCENE 3: What those checks did not establish
SOURCES:
- Engineering.com, “Welcome to the vibe-CAD era,” September 30, 2026. https://www.engineering.com/welcome-to-the-vibe-cad-era/
- MIT-CDFG, “On the Opportunities and Risks of Frontier Models for 3D Modeling, Computational Design and Robotics,” September 22, 2026. https://mit-cdfg.github.io/Survey-AI-for-3D-modeling-Robotics/
AI-ASSISTED.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Engineering.com also reported tests that checked different capabilities. In its first drawing-to-CAD trial, Backflip’s Fusion add-in only partially recreated geometry. In a multibody wire-shelf test, it created one of seven bodies. These are reported facts. Their checks concern native import behavior and multibody handling. They show why a successful STEP export and a successful editable reconstruction are separate claims.
———
VOICEOVER CUE: 01:46.0–02:17.3 in piece02_voiceover.m4a (AI-generated voice: Chatterbox clone of the author’s voice). Suggested script window: 01:12–01:37.
SCENE 4: The counterchecks
SOURCES:
- Engineering.com, “Welcome to the vibe-CAD era,” September 30, 2026. https://www.engineering.com/welcome-to-the-vibe-cad-era/
AI-ASSISTED.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MIT-CDFG says it reviewed 1,646 public posts across 707 cases. It also says only 132 cases include runnable code, and that most listed capabilities are demonstrations rather than independent reproductions. Those are the survey’s claims about its record, not independent validation of every listed result. More importantly, MIT-CDFG says tolerance specifications and manufacturability have not been tested on physical parts in the CAD evidence it summarizes.
———
VOICEOVER CUE: 02:17.3–02:50.3 in piece02_voiceover.m4a (AI-generated voice: Chatterbox clone of the author’s voice). Suggested script window: 01:37–02:05.
SCENE 5: The wider evidence record
SOURCES:
- MIT-CDFG, “On the Opportunities and Risks of Frontier Models for 3D Modeling, Computational Design and Robotics,” September 22, 2026. https://mit-cdfg.github.io/Survey-AI-for-3D-modeling-Robotics/
AI-ASSISTED.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Robotics offers a supporting warning about aggregate scores. The Physical AI Podcast reports that five frontier models were put in charge of robots across 84 Robot World tasks, and that 63 of those tasks went unsolved by any of them. It also reports that its two leading models shared only eight successes. These are podcast source claims from automatic transcripts, so the numbers require checking against the underlying study and audio before publication. The narrower interpretation still matters: one aggregate score can hide distinct failure profiles.
———
VOICEOVER CUE: 02:50.3–03:25.4 in piece02_voiceover.m4a (AI-generated voice: Chatterbox clone of the author’s voice). Suggested script window: 02:05–02:40.
SCENE 6: A supporting robotics warning
SOURCES:
- Physical AI Podcast, “AI Models Fail 63 of 84 Robot Tasks, Waymo Borrows $5B,” October 10, 2026, 00:02:47–00:02:51 and 00:03:48–00:03:55. https://dts.podtrac.com/redirect.mp3/op3.dev/e,pg=83ccf97e-1d88-565b-ad28-0411c3a101af/physicalaipodcast.co/audio/episode-010.mp3
AI-ASSISTED.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second podcast makes the same point in another domain. NVIDIA’s Cosmos Lab vice president describes world simulation as taking a current observation and an action input, then predicting what happens in the future. That is a source description of a capability. It is not evidence that the prediction is physically correct, or that it transfers to a real robot.
———
VOICEOVER CUE: 03:25.4–03:48.9 in piece02_voiceover.m4a (AI-generated voice: Chatterbox clone of the author’s voice). Suggested script window: 02:40–03:05.
SCENE 7: Define the output being tested
SOURCES:
- Changelog Media, “Open models and the future of Physical AI with NVIDIA,” October 1, 2026, 00:23:59–00:24:19. https://pscrb.fm/rss/p/dts.podtrac.com/redirect.mp3/media.transistor.fm/217445d3/e1eb0b6a.mp3
AI-ASSISTED.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buyers and builders, use separate acceptance gates: STEP validation, native editability, multibody behavior, tolerances, and manufacturability. For each gate, record the artifact, toolchain, material assumptions, grader, and failure cases. Watch for evaluations that test physical parts and disclose runnable methods. Until then, a passed CAD export is a useful drafting result, not a completed engineering workflow.
———
VOICEOVER CUE: 03:48.9–04:19.8 in piece02_voiceover.m4a (AI-generated voice: Chatterbox clone of the author’s voice). Suggested script window: 03:05–03:29.
SCENE 8: What to do next
SOURCES:
- Engineering.com, “Welcome to the vibe-CAD era,” September 30, 2026. https://www.engineering.com/welcome-to-the-vibe-cad-era/
- MIT-CDFG, “On the Opportunities and Risks of Frontier Models for 3D Modeling, Computational Design and Robotics,” September 22, 2026. https://mit-cdfg.github.io/Survey-AI-for-3D-modeling-Robotics/
AI-ASSISTED.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737360"/>
            <a:ext cx="10241280" cy="1828800"/>
          </a:xfrm>
          <a:prstGeom prst="rect">
            <a:avLst/>
          </a:prstGeom>
          <a:noFill/>
          <a:ln/>
        </p:spPr>
        <p:txBody>
          <a:bodyPr wrap="square" rtlCol="0"/>
          <a:lstStyle>
            <a:lvl1pPr algn="l" indent="0" marL="0">
              <a:buNone/>
              <a:defRPr lang="en-US" sz="4800" b="1" dirty="0">
                <a:solidFill>
                  <a:schemeClr val="bg1"/>
                </a:solidFill>
              </a:defRPr>
            </a:lvl1pPr>
          </a:lstStyle>
          <a:p>
            <a:pPr algn="l" indent="0" marL="0">
              <a:buNone/>
            </a:pPr>
            <a:endParaRPr lang="en-US" sz="4800" dirty="0"/>
          </a:p>
        </p:txBody>
      </p:sp>
      <p:sp>
        <p:nvSpPr>
          <p:cNvPr id="3" name="Text 0"/>
          <p:cNvSpPr/>
          <p:nvPr>
            <p:ph idx="101" type="body" hasCustomPrompt="1"/>
          </p:nvPr>
        </p:nvSpPr>
        <p:spPr>
          <a:xfrm>
            <a:off x="548640" y="3794760"/>
            <a:ext cx="10241280" cy="548640"/>
          </a:xfrm>
          <a:prstGeom prst="rect">
            <a:avLst/>
          </a:prstGeom>
          <a:noFill/>
          <a:ln/>
        </p:spPr>
        <p:txBody>
          <a:bodyPr wrap="square" rtlCol="0"/>
          <a:lstStyle>
            <a:lvl1pPr algn="l" indent="0" marL="0">
              <a:buNone/>
              <a:defRPr lang="en-US" sz="2200" dirty="0">
                <a:solidFill>
                  <a:schemeClr val="bg2"/>
                </a:solidFill>
              </a:defRPr>
            </a:lvl1pPr>
          </a:lstStyle>
          <a:p>
            <a:pPr algn="l" indent="0" marL="0">
              <a:buNone/>
            </a:pPr>
            <a:endParaRPr lang="en-US" sz="2200" dirty="0"/>
          </a:p>
        </p:txBody>
      </p:sp>
      <p:sp>
        <p:nvSpPr>
          <p:cNvPr id="4" name="Text 0"/>
          <p:cNvSpPr/>
          <p:nvPr/>
        </p:nvSpPr>
        <p:spPr>
          <a:xfrm>
            <a:off x="548640" y="6400800"/>
            <a:ext cx="10058400" cy="274320"/>
          </a:xfrm>
          <a:prstGeom prst="rect">
            <a:avLst/>
          </a:prstGeom>
          <a:noFill/>
          <a:ln/>
        </p:spPr>
        <p:txBody>
          <a:bodyPr wrap="square" lIns="0" tIns="0" rIns="0" bIns="0" rtlCol="0" anchor="ctr"/>
          <a:lstStyle/>
          <a:p>
            <a:pPr indent="0" marL="0">
              <a:buNone/>
            </a:pPr>
            <a:r>
              <a:rPr lang="en-US" sz="1000" dirty="0">
                <a:solidFill>
                  <a:schemeClr val="bg2"/>
                </a:solidFill>
              </a:rPr>
              <a:t>AI-ASSISTED · A CAD File Is Not Yet an Engineering Workflow</a:t>
            </a:r>
            <a:endParaRPr lang="en-US" sz="1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_CLOSE">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777240"/>
          </a:xfrm>
          <a:prstGeom prst="rect">
            <a:avLst/>
          </a:prstGeom>
          <a:noFill/>
          <a:ln/>
        </p:spPr>
        <p:txBody>
          <a:bodyPr wrap="square" rtlCol="0"/>
          <a:lstStyle>
            <a:lvl1pPr algn="l" indent="0" marL="0">
              <a:buNone/>
              <a:defRPr lang="en-US" sz="3200" b="1" dirty="0">
                <a:solidFill>
                  <a:schemeClr val="bg1"/>
                </a:solidFill>
              </a:defRPr>
            </a:lvl1pPr>
          </a:lstStyle>
          <a:p>
            <a:pPr algn="l" indent="0" marL="0">
              <a:buNone/>
            </a:pPr>
            <a:endParaRPr lang="en-US" sz="3200" dirty="0"/>
          </a:p>
        </p:txBody>
      </p:sp>
      <p:sp>
        <p:nvSpPr>
          <p:cNvPr id="3" name="Text 0"/>
          <p:cNvSpPr/>
          <p:nvPr/>
        </p:nvSpPr>
        <p:spPr>
          <a:xfrm>
            <a:off x="548640" y="6400800"/>
            <a:ext cx="10058400" cy="274320"/>
          </a:xfrm>
          <a:prstGeom prst="rect">
            <a:avLst/>
          </a:prstGeom>
          <a:noFill/>
          <a:ln/>
        </p:spPr>
        <p:txBody>
          <a:bodyPr wrap="square" lIns="0" tIns="0" rIns="0" bIns="0" rtlCol="0" anchor="ctr"/>
          <a:lstStyle/>
          <a:p>
            <a:pPr indent="0" marL="0">
              <a:buNone/>
            </a:pPr>
            <a:r>
              <a:rPr lang="en-US" sz="1000" dirty="0">
                <a:solidFill>
                  <a:schemeClr val="bg2"/>
                </a:solidFill>
              </a:rPr>
              <a:t>AI-ASSISTED · A CAD File Is Not Yet an Engineering Workflow</a:t>
            </a:r>
            <a:endParaRPr lang="en-US" sz="10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4415" cy="777240"/>
          </a:xfrm>
          <a:prstGeom prst="rect">
            <a:avLst/>
          </a:prstGeom>
          <a:noFill/>
          <a:ln/>
        </p:spPr>
        <p:txBody>
          <a:bodyPr wrap="square" rtlCol="0"/>
          <a:lstStyle>
            <a:lvl1pPr algn="l" indent="0" marL="0">
              <a:buNone/>
              <a:defRPr lang="en-US" sz="3200" b="1" dirty="0">
                <a:solidFill>
                  <a:schemeClr val="tx1"/>
                </a:solidFill>
              </a:defRPr>
            </a:lvl1pPr>
          </a:lstStyle>
          <a:p>
            <a:pPr algn="l" indent="0" marL="0">
              <a:buNone/>
            </a:pPr>
            <a:endParaRPr lang="en-US" sz="3200" dirty="0"/>
          </a:p>
        </p:txBody>
      </p:sp>
      <p:sp>
        <p:nvSpPr>
          <p:cNvPr id="3" name="Text 0"/>
          <p:cNvSpPr/>
          <p:nvPr/>
        </p:nvSpPr>
        <p:spPr>
          <a:xfrm>
            <a:off x="548640" y="6400800"/>
            <a:ext cx="10058400" cy="274320"/>
          </a:xfrm>
          <a:prstGeom prst="rect">
            <a:avLst/>
          </a:prstGeom>
          <a:noFill/>
          <a:ln/>
        </p:spPr>
        <p:txBody>
          <a:bodyPr wrap="square" lIns="0" tIns="0" rIns="0" bIns="0" rtlCol="0" anchor="ctr"/>
          <a:lstStyle/>
          <a:p>
            <a:pPr indent="0" marL="0">
              <a:buNone/>
            </a:pPr>
            <a:r>
              <a:rPr lang="en-US" sz="1000" dirty="0">
                <a:solidFill>
                  <a:schemeClr val="tx2"/>
                </a:solidFill>
              </a:rPr>
              <a:t>AI-ASSISTED · A CAD File Is Not Yet an Engineering Workflow</a:t>
            </a:r>
            <a:endParaRPr lang="en-US" sz="10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4.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image" Target="../media/image-6-1.png"/><Relationship Id="rId3" Type="http://schemas.openxmlformats.org/officeDocument/2006/relationships/slideLayout" Target="../slideLayouts/slideLayout4.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737360"/>
            <a:ext cx="10241280" cy="1828800"/>
          </a:xfrm>
          <a:prstGeom prst="rect">
            <a:avLst/>
          </a:prstGeom>
          <a:noFill/>
          <a:ln/>
        </p:spPr>
        <p:txBody>
          <a:bodyPr wrap="square" lIns="0" tIns="0" rIns="0" bIns="0" rtlCol="0" anchor="b"/>
          <a:lstStyle/>
          <a:p>
            <a:pPr algn="l" indent="0" marL="0">
              <a:buNone/>
            </a:pPr>
            <a:r>
              <a:rPr lang="en-US" sz="4800" b="1" dirty="0">
                <a:solidFill>
                  <a:schemeClr val="bg1"/>
                </a:solidFill>
              </a:rPr>
              <a:t>A CAD File Is Not Yet an Engineering Workflow</a:t>
            </a:r>
            <a:endParaRPr lang="en-US" sz="4800" dirty="0"/>
          </a:p>
        </p:txBody>
      </p:sp>
      <p:sp>
        <p:nvSpPr>
          <p:cNvPr id="3" name="Text 0"/>
          <p:cNvSpPr/>
          <p:nvPr>
            <p:ph idx="101" type="body" hasCustomPrompt="1"/>
          </p:nvPr>
        </p:nvSpPr>
        <p:spPr>
          <a:xfrm>
            <a:off x="548640" y="3794760"/>
            <a:ext cx="10241280" cy="548640"/>
          </a:xfrm>
          <a:prstGeom prst="rect">
            <a:avLst/>
          </a:prstGeom>
          <a:noFill/>
          <a:ln/>
        </p:spPr>
        <p:txBody>
          <a:bodyPr wrap="square" lIns="0" tIns="0" rIns="0" bIns="0" rtlCol="0" anchor="t"/>
          <a:lstStyle/>
          <a:p>
            <a:pPr algn="l" indent="0" marL="0">
              <a:buNone/>
            </a:pPr>
            <a:r>
              <a:rPr lang="en-US" sz="2200" dirty="0">
                <a:solidFill>
                  <a:schemeClr val="bg2"/>
                </a:solidFill>
              </a:rPr>
              <a:t>For technical product managers and engineering leaders</a:t>
            </a:r>
            <a:endParaRPr lang="en-US" sz="2200" dirty="0"/>
          </a:p>
        </p:txBody>
      </p:sp>
      <p:sp>
        <p:nvSpPr>
          <p:cNvPr id="4" name="text-1"/>
          <p:cNvSpPr txBox="1"/>
          <p:nvPr/>
        </p:nvSpPr>
        <p:spPr>
          <a:xfrm>
            <a:off x="548640" y="548640"/>
            <a:ext cx="11094415" cy="320040"/>
          </a:xfrm>
          <a:prstGeom prst="rect">
            <a:avLst/>
          </a:prstGeom>
          <a:noFill/>
          <a:ln/>
        </p:spPr>
        <p:txBody>
          <a:bodyPr wrap="square" lIns="0" tIns="0" rIns="0" bIns="0" rtlCol="0" anchor="t"/>
          <a:lstStyle/>
          <a:p>
            <a:pPr indent="0" marL="0">
              <a:buNone/>
            </a:pPr>
            <a:r>
              <a:rPr lang="en-US" sz="1200" b="1" spc="200" kern="0" dirty="0">
                <a:solidFill>
                  <a:schemeClr val="bg2"/>
                </a:solidFill>
              </a:rPr>
              <a:t>AGENTIC 3D  ·  OCTOBER 16, 2026  ·  AI-GENERATED NARRATION</a:t>
            </a:r>
            <a:endParaRPr lang="en-US" sz="1200" dirty="0"/>
          </a:p>
        </p:txBody>
      </p:sp>
    </p:spTree>
  </p:cSld>
  <p:clrMapOvr>
    <a:masterClrMapping/>
  </p:clrMapOvr>
  <p:transition spd="med" advClick="1" advTm="25850">
    <p:fade/>
  </p:transition>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4415" cy="777240"/>
          </a:xfrm>
          <a:prstGeom prst="rect">
            <a:avLst/>
          </a:prstGeom>
          <a:noFill/>
          <a:ln/>
        </p:spPr>
        <p:txBody>
          <a:bodyPr wrap="square" lIns="0" tIns="0" rIns="0" bIns="0" rtlCol="0" anchor="ctr"/>
          <a:lstStyle/>
          <a:p>
            <a:pPr algn="l" indent="0" marL="0">
              <a:buNone/>
            </a:pPr>
            <a:r>
              <a:rPr lang="en-US" sz="3200" b="1" dirty="0">
                <a:solidFill>
                  <a:schemeClr val="tx1"/>
                </a:solidFill>
              </a:rPr>
              <a:t>The file passed; the workflow is unproven</a:t>
            </a:r>
            <a:endParaRPr lang="en-US" sz="3200" dirty="0"/>
          </a:p>
        </p:txBody>
      </p:sp>
      <p:sp>
        <p:nvSpPr>
          <p:cNvPr id="3" name="text-2"/>
          <p:cNvSpPr txBox="1"/>
          <p:nvPr/>
        </p:nvSpPr>
        <p:spPr>
          <a:xfrm>
            <a:off x="548640" y="1600200"/>
            <a:ext cx="11094415" cy="365760"/>
          </a:xfrm>
          <a:prstGeom prst="rect">
            <a:avLst/>
          </a:prstGeom>
          <a:noFill/>
          <a:ln/>
        </p:spPr>
        <p:txBody>
          <a:bodyPr wrap="square" lIns="0" tIns="0" rIns="0" bIns="0" rtlCol="0" anchor="t"/>
          <a:lstStyle/>
          <a:p>
            <a:pPr indent="0" marL="0">
              <a:buNone/>
            </a:pPr>
            <a:r>
              <a:rPr lang="en-US" sz="1400" dirty="0">
                <a:solidFill>
                  <a:schemeClr val="tx2"/>
                </a:solidFill>
              </a:rPr>
              <a:t>Backflip is the AI CAD tool tested. STEP is a neutral 3D file that any CAD tool can open. Fusion is Autodesk's CAD software.</a:t>
            </a:r>
            <a:endParaRPr lang="en-US" sz="1400" dirty="0"/>
          </a:p>
        </p:txBody>
      </p:sp>
      <p:sp>
        <p:nvSpPr>
          <p:cNvPr id="4" name="panel-3"/>
          <p:cNvSpPr/>
          <p:nvPr/>
        </p:nvSpPr>
        <p:spPr>
          <a:xfrm>
            <a:off x="548640" y="2423160"/>
            <a:ext cx="5394960" cy="2606040"/>
          </a:xfrm>
          <a:prstGeom prst="roundRect">
            <a:avLst>
              <a:gd name="adj" fmla="val 3509"/>
            </a:avLst>
          </a:prstGeom>
          <a:solidFill>
            <a:schemeClr val="bg2"/>
          </a:solidFill>
          <a:ln w="12700">
            <a:solidFill>
              <a:schemeClr val="bg2"/>
            </a:solidFill>
            <a:prstDash val="solid"/>
          </a:ln>
        </p:spPr>
      </p:sp>
      <p:sp>
        <p:nvSpPr>
          <p:cNvPr id="5" name="panel-4"/>
          <p:cNvSpPr/>
          <p:nvPr/>
        </p:nvSpPr>
        <p:spPr>
          <a:xfrm>
            <a:off x="6245352" y="2423160"/>
            <a:ext cx="5394960" cy="2606040"/>
          </a:xfrm>
          <a:prstGeom prst="roundRect">
            <a:avLst>
              <a:gd name="adj" fmla="val 3509"/>
            </a:avLst>
          </a:prstGeom>
          <a:solidFill>
            <a:schemeClr val="bg2"/>
          </a:solidFill>
          <a:ln w="12700">
            <a:solidFill>
              <a:schemeClr val="bg2"/>
            </a:solidFill>
            <a:prstDash val="solid"/>
          </a:ln>
        </p:spPr>
      </p:sp>
      <p:sp>
        <p:nvSpPr>
          <p:cNvPr id="6" name="text-5"/>
          <p:cNvSpPr txBox="1"/>
          <p:nvPr/>
        </p:nvSpPr>
        <p:spPr>
          <a:xfrm>
            <a:off x="822960" y="2606040"/>
            <a:ext cx="4572000" cy="274320"/>
          </a:xfrm>
          <a:prstGeom prst="rect">
            <a:avLst/>
          </a:prstGeom>
          <a:noFill/>
          <a:ln/>
        </p:spPr>
        <p:txBody>
          <a:bodyPr wrap="square" lIns="0" tIns="0" rIns="0" bIns="0" rtlCol="0" anchor="t"/>
          <a:lstStyle/>
          <a:p>
            <a:pPr indent="0" marL="0">
              <a:buNone/>
            </a:pPr>
            <a:r>
              <a:rPr lang="en-US" sz="1200" b="1" spc="200" kern="0" dirty="0">
                <a:solidFill>
                  <a:schemeClr val="tx2"/>
                </a:solidFill>
              </a:rPr>
              <a:t>NEUTRAL FILE</a:t>
            </a:r>
            <a:endParaRPr lang="en-US" sz="1200" dirty="0"/>
          </a:p>
        </p:txBody>
      </p:sp>
      <p:sp>
        <p:nvSpPr>
          <p:cNvPr id="7" name="node-6"/>
          <p:cNvSpPr/>
          <p:nvPr/>
        </p:nvSpPr>
        <p:spPr>
          <a:xfrm>
            <a:off x="822960" y="3063240"/>
            <a:ext cx="1371600" cy="868680"/>
          </a:xfrm>
          <a:prstGeom prst="roundRect">
            <a:avLst>
              <a:gd name="adj" fmla="val 8421"/>
            </a:avLst>
          </a:prstGeom>
          <a:solidFill>
            <a:schemeClr val="bg1"/>
          </a:solidFill>
          <a:ln>
            <a:solidFill>
              <a:schemeClr val="bg1"/>
            </a:solidFill>
          </a:ln>
        </p:spPr>
        <p:txBody>
          <a:bodyPr wrap="square" lIns="76200" tIns="76200" rIns="76200" bIns="76200" rtlCol="0" anchor="ctr"/>
          <a:lstStyle/>
          <a:p>
            <a:pPr algn="ctr" indent="0" marL="0">
              <a:buNone/>
            </a:pPr>
            <a:r>
              <a:rPr lang="en-US" sz="1500" b="1" dirty="0">
                <a:solidFill>
                  <a:schemeClr val="tx1"/>
                </a:solidFill>
              </a:rPr>
              <a:t>Backflip STEP file</a:t>
            </a:r>
            <a:endParaRPr lang="en-US" sz="1500" dirty="0"/>
          </a:p>
        </p:txBody>
      </p:sp>
      <p:sp>
        <p:nvSpPr>
          <p:cNvPr id="8" name="arrow-7"/>
          <p:cNvSpPr/>
          <p:nvPr/>
        </p:nvSpPr>
        <p:spPr>
          <a:xfrm>
            <a:off x="2249424" y="3497580"/>
            <a:ext cx="256032" cy="0"/>
          </a:xfrm>
          <a:prstGeom prst="line">
            <a:avLst/>
          </a:prstGeom>
          <a:noFill/>
          <a:ln w="25400">
            <a:solidFill>
              <a:schemeClr val="tx2"/>
            </a:solidFill>
            <a:prstDash val="solid"/>
            <a:tailEnd type="triangle"/>
          </a:ln>
        </p:spPr>
      </p:sp>
      <p:sp>
        <p:nvSpPr>
          <p:cNvPr id="9" name="node-8"/>
          <p:cNvSpPr/>
          <p:nvPr/>
        </p:nvSpPr>
        <p:spPr>
          <a:xfrm>
            <a:off x="2560320" y="3063240"/>
            <a:ext cx="1371600" cy="868680"/>
          </a:xfrm>
          <a:prstGeom prst="roundRect">
            <a:avLst>
              <a:gd name="adj" fmla="val 8421"/>
            </a:avLst>
          </a:prstGeom>
          <a:solidFill>
            <a:schemeClr val="bg1"/>
          </a:solidFill>
          <a:ln>
            <a:solidFill>
              <a:schemeClr val="bg1"/>
            </a:solidFill>
          </a:ln>
        </p:spPr>
        <p:txBody>
          <a:bodyPr wrap="square" lIns="76200" tIns="76200" rIns="76200" bIns="76200" rtlCol="0" anchor="ctr"/>
          <a:lstStyle/>
          <a:p>
            <a:pPr algn="ctr" indent="0" marL="0">
              <a:buNone/>
            </a:pPr>
            <a:r>
              <a:rPr lang="en-US" sz="1500" b="1" dirty="0">
                <a:solidFill>
                  <a:schemeClr val="tx1"/>
                </a:solidFill>
              </a:rPr>
              <a:t>Fusion import</a:t>
            </a:r>
            <a:endParaRPr lang="en-US" sz="1500" dirty="0"/>
          </a:p>
        </p:txBody>
      </p:sp>
      <p:sp>
        <p:nvSpPr>
          <p:cNvPr id="10" name="arrow-9"/>
          <p:cNvSpPr/>
          <p:nvPr/>
        </p:nvSpPr>
        <p:spPr>
          <a:xfrm>
            <a:off x="3986784" y="3497580"/>
            <a:ext cx="256032" cy="0"/>
          </a:xfrm>
          <a:prstGeom prst="line">
            <a:avLst/>
          </a:prstGeom>
          <a:noFill/>
          <a:ln w="25400">
            <a:solidFill>
              <a:schemeClr val="tx2"/>
            </a:solidFill>
            <a:prstDash val="solid"/>
            <a:tailEnd type="triangle"/>
          </a:ln>
        </p:spPr>
      </p:sp>
      <p:sp>
        <p:nvSpPr>
          <p:cNvPr id="11" name="node-10"/>
          <p:cNvSpPr/>
          <p:nvPr/>
        </p:nvSpPr>
        <p:spPr>
          <a:xfrm>
            <a:off x="4297680" y="3063240"/>
            <a:ext cx="1371600" cy="868680"/>
          </a:xfrm>
          <a:prstGeom prst="roundRect">
            <a:avLst>
              <a:gd name="adj" fmla="val 8421"/>
            </a:avLst>
          </a:prstGeom>
          <a:solidFill>
            <a:schemeClr val="bg1"/>
          </a:solidFill>
          <a:ln>
            <a:solidFill>
              <a:schemeClr val="bg1"/>
            </a:solidFill>
          </a:ln>
        </p:spPr>
        <p:txBody>
          <a:bodyPr wrap="square" lIns="76200" tIns="76200" rIns="76200" bIns="76200" rtlCol="0" anchor="ctr"/>
          <a:lstStyle/>
          <a:p>
            <a:pPr algn="ctr" indent="0" marL="0">
              <a:buNone/>
            </a:pPr>
            <a:r>
              <a:rPr lang="en-US" sz="1500" b="1" dirty="0">
                <a:solidFill>
                  <a:schemeClr val="tx1"/>
                </a:solidFill>
              </a:rPr>
              <a:t>Mass check</a:t>
            </a:r>
            <a:endParaRPr lang="en-US" sz="1500" dirty="0"/>
          </a:p>
        </p:txBody>
      </p:sp>
      <p:sp>
        <p:nvSpPr>
          <p:cNvPr id="12" name="node-11"/>
          <p:cNvSpPr/>
          <p:nvPr/>
        </p:nvSpPr>
        <p:spPr>
          <a:xfrm>
            <a:off x="822960" y="4206240"/>
            <a:ext cx="2194560" cy="502920"/>
          </a:xfrm>
          <a:prstGeom prst="roundRect">
            <a:avLst>
              <a:gd name="adj" fmla="val 14545"/>
            </a:avLst>
          </a:prstGeom>
          <a:solidFill>
            <a:schemeClr val="accent2"/>
          </a:solidFill>
          <a:ln>
            <a:solidFill>
              <a:schemeClr val="accent2"/>
            </a:solidFill>
          </a:ln>
        </p:spPr>
        <p:txBody>
          <a:bodyPr wrap="square" lIns="76200" tIns="76200" rIns="76200" bIns="76200" rtlCol="0" anchor="ctr"/>
          <a:lstStyle/>
          <a:p>
            <a:pPr algn="ctr" indent="0" marL="0">
              <a:buNone/>
            </a:pPr>
            <a:r>
              <a:rPr lang="en-US" sz="1400" b="1" dirty="0">
                <a:solidFill>
                  <a:schemeClr val="bg1"/>
                </a:solidFill>
              </a:rPr>
              <a:t>PASSED IN 2 TESTS</a:t>
            </a:r>
            <a:endParaRPr lang="en-US" sz="1400" dirty="0"/>
          </a:p>
        </p:txBody>
      </p:sp>
      <p:sp>
        <p:nvSpPr>
          <p:cNvPr id="13" name="text-12"/>
          <p:cNvSpPr txBox="1"/>
          <p:nvPr/>
        </p:nvSpPr>
        <p:spPr>
          <a:xfrm>
            <a:off x="6519672" y="2606040"/>
            <a:ext cx="4572000" cy="274320"/>
          </a:xfrm>
          <a:prstGeom prst="rect">
            <a:avLst/>
          </a:prstGeom>
          <a:noFill/>
          <a:ln/>
        </p:spPr>
        <p:txBody>
          <a:bodyPr wrap="square" lIns="0" tIns="0" rIns="0" bIns="0" rtlCol="0" anchor="t"/>
          <a:lstStyle/>
          <a:p>
            <a:pPr indent="0" marL="0">
              <a:buNone/>
            </a:pPr>
            <a:r>
              <a:rPr lang="en-US" sz="1200" b="1" spc="200" kern="0" dirty="0">
                <a:solidFill>
                  <a:schemeClr val="tx2"/>
                </a:solidFill>
              </a:rPr>
              <a:t>EDITABLE CAD</a:t>
            </a:r>
            <a:endParaRPr lang="en-US" sz="1200" dirty="0"/>
          </a:p>
        </p:txBody>
      </p:sp>
      <p:sp>
        <p:nvSpPr>
          <p:cNvPr id="14" name="text-13"/>
          <p:cNvSpPr txBox="1"/>
          <p:nvPr/>
        </p:nvSpPr>
        <p:spPr>
          <a:xfrm>
            <a:off x="6519672" y="3063240"/>
            <a:ext cx="2743200" cy="411480"/>
          </a:xfrm>
          <a:prstGeom prst="rect">
            <a:avLst/>
          </a:prstGeom>
          <a:noFill/>
          <a:ln/>
        </p:spPr>
        <p:txBody>
          <a:bodyPr wrap="square" lIns="0" tIns="0" rIns="0" bIns="0" rtlCol="0" anchor="ctr"/>
          <a:lstStyle/>
          <a:p>
            <a:pPr indent="0" marL="0">
              <a:buNone/>
            </a:pPr>
            <a:r>
              <a:rPr lang="en-US" sz="1700" b="1" dirty="0">
                <a:solidFill>
                  <a:schemeClr val="tx1"/>
                </a:solidFill>
              </a:rPr>
              <a:t>Native feature tree</a:t>
            </a:r>
            <a:endParaRPr lang="en-US" sz="1700" dirty="0"/>
          </a:p>
        </p:txBody>
      </p:sp>
      <p:sp>
        <p:nvSpPr>
          <p:cNvPr id="15" name="text-14"/>
          <p:cNvSpPr txBox="1"/>
          <p:nvPr/>
        </p:nvSpPr>
        <p:spPr>
          <a:xfrm>
            <a:off x="9326880" y="3063240"/>
            <a:ext cx="2011680" cy="411480"/>
          </a:xfrm>
          <a:prstGeom prst="rect">
            <a:avLst/>
          </a:prstGeom>
          <a:noFill/>
          <a:ln/>
        </p:spPr>
        <p:txBody>
          <a:bodyPr wrap="square" lIns="0" tIns="0" rIns="0" bIns="0" rtlCol="0" anchor="ctr"/>
          <a:lstStyle/>
          <a:p>
            <a:pPr indent="0" marL="0">
              <a:buNone/>
            </a:pPr>
            <a:r>
              <a:rPr lang="en-US" sz="1700" dirty="0">
                <a:solidFill>
                  <a:schemeClr val="tx2"/>
                </a:solidFill>
              </a:rPr>
              <a:t>Partial</a:t>
            </a:r>
            <a:endParaRPr lang="en-US" sz="1700" dirty="0"/>
          </a:p>
        </p:txBody>
      </p:sp>
      <p:sp>
        <p:nvSpPr>
          <p:cNvPr id="16" name="text-15"/>
          <p:cNvSpPr txBox="1"/>
          <p:nvPr/>
        </p:nvSpPr>
        <p:spPr>
          <a:xfrm>
            <a:off x="6519672" y="3630168"/>
            <a:ext cx="2743200" cy="411480"/>
          </a:xfrm>
          <a:prstGeom prst="rect">
            <a:avLst/>
          </a:prstGeom>
          <a:noFill/>
          <a:ln/>
        </p:spPr>
        <p:txBody>
          <a:bodyPr wrap="square" lIns="0" tIns="0" rIns="0" bIns="0" rtlCol="0" anchor="ctr"/>
          <a:lstStyle/>
          <a:p>
            <a:pPr indent="0" marL="0">
              <a:buNone/>
            </a:pPr>
            <a:r>
              <a:rPr lang="en-US" sz="1700" b="1" dirty="0">
                <a:solidFill>
                  <a:schemeClr val="tx1"/>
                </a:solidFill>
              </a:rPr>
              <a:t>Seven-body wire shelf</a:t>
            </a:r>
            <a:endParaRPr lang="en-US" sz="1700" dirty="0"/>
          </a:p>
        </p:txBody>
      </p:sp>
      <p:sp>
        <p:nvSpPr>
          <p:cNvPr id="17" name="text-16"/>
          <p:cNvSpPr txBox="1"/>
          <p:nvPr/>
        </p:nvSpPr>
        <p:spPr>
          <a:xfrm>
            <a:off x="9326880" y="3630168"/>
            <a:ext cx="2011680" cy="411480"/>
          </a:xfrm>
          <a:prstGeom prst="rect">
            <a:avLst/>
          </a:prstGeom>
          <a:noFill/>
          <a:ln/>
        </p:spPr>
        <p:txBody>
          <a:bodyPr wrap="square" lIns="0" tIns="0" rIns="0" bIns="0" rtlCol="0" anchor="ctr"/>
          <a:lstStyle/>
          <a:p>
            <a:pPr indent="0" marL="0">
              <a:buNone/>
            </a:pPr>
            <a:r>
              <a:rPr lang="en-US" sz="1700" dirty="0">
                <a:solidFill>
                  <a:schemeClr val="tx2"/>
                </a:solidFill>
              </a:rPr>
              <a:t>1 of 7 bodies</a:t>
            </a:r>
            <a:endParaRPr lang="en-US" sz="1700" dirty="0"/>
          </a:p>
        </p:txBody>
      </p:sp>
      <p:sp>
        <p:nvSpPr>
          <p:cNvPr id="18" name="node-17"/>
          <p:cNvSpPr/>
          <p:nvPr/>
        </p:nvSpPr>
        <p:spPr>
          <a:xfrm>
            <a:off x="6519672" y="4206240"/>
            <a:ext cx="2194560" cy="502920"/>
          </a:xfrm>
          <a:prstGeom prst="roundRect">
            <a:avLst>
              <a:gd name="adj" fmla="val 14545"/>
            </a:avLst>
          </a:prstGeom>
          <a:solidFill>
            <a:schemeClr val="accent5"/>
          </a:solidFill>
          <a:ln>
            <a:solidFill>
              <a:schemeClr val="accent5"/>
            </a:solidFill>
          </a:ln>
        </p:spPr>
        <p:txBody>
          <a:bodyPr wrap="square" lIns="76200" tIns="76200" rIns="76200" bIns="76200" rtlCol="0" anchor="ctr"/>
          <a:lstStyle/>
          <a:p>
            <a:pPr algn="ctr" indent="0" marL="0">
              <a:buNone/>
            </a:pPr>
            <a:r>
              <a:rPr lang="en-US" sz="1400" b="1" dirty="0">
                <a:solidFill>
                  <a:schemeClr val="bg1"/>
                </a:solidFill>
              </a:rPr>
              <a:t>NOT ESTABLISHED</a:t>
            </a:r>
            <a:endParaRPr lang="en-US" sz="1400" dirty="0"/>
          </a:p>
        </p:txBody>
      </p:sp>
      <p:sp>
        <p:nvSpPr>
          <p:cNvPr id="19" name="text-18"/>
          <p:cNvSpPr txBox="1"/>
          <p:nvPr/>
        </p:nvSpPr>
        <p:spPr>
          <a:xfrm>
            <a:off x="548640" y="5321808"/>
            <a:ext cx="1463040" cy="310896"/>
          </a:xfrm>
          <a:prstGeom prst="rect">
            <a:avLst/>
          </a:prstGeom>
          <a:noFill/>
          <a:ln/>
        </p:spPr>
        <p:txBody>
          <a:bodyPr wrap="square" lIns="0" tIns="0" rIns="0" bIns="0" rtlCol="0" anchor="ctr"/>
          <a:lstStyle/>
          <a:p>
            <a:pPr indent="0" marL="0">
              <a:buNone/>
            </a:pPr>
            <a:r>
              <a:rPr lang="en-US" sz="1200" dirty="0">
                <a:solidFill>
                  <a:schemeClr val="tx2"/>
                </a:solidFill>
              </a:rPr>
              <a:t>Evidence labels:</a:t>
            </a:r>
            <a:endParaRPr lang="en-US" sz="1200" dirty="0"/>
          </a:p>
        </p:txBody>
      </p:sp>
      <p:sp>
        <p:nvSpPr>
          <p:cNvPr id="20" name="evidence-tag-19"/>
          <p:cNvSpPr txBox="1"/>
          <p:nvPr/>
        </p:nvSpPr>
        <p:spPr>
          <a:xfrm>
            <a:off x="1965960" y="5349240"/>
            <a:ext cx="1422806" cy="256032"/>
          </a:xfrm>
          <a:prstGeom prst="roundRect">
            <a:avLst>
              <a:gd name="adj" fmla="val 46429"/>
            </a:avLst>
          </a:prstGeom>
          <a:solidFill>
            <a:schemeClr val="accent2"/>
          </a:solidFill>
          <a:ln w="12700">
            <a:solidFill>
              <a:schemeClr val="accent2"/>
            </a:solidFill>
          </a:ln>
        </p:spPr>
        <p:txBody>
          <a:bodyPr wrap="square" lIns="0" tIns="0" rIns="0" bIns="0" rtlCol="0" anchor="ctr"/>
          <a:lstStyle/>
          <a:p>
            <a:pPr algn="ctr" indent="0" marL="0">
              <a:buNone/>
            </a:pPr>
            <a:r>
              <a:rPr lang="en-US" sz="1000" b="1" spc="100" kern="0" dirty="0">
                <a:solidFill>
                  <a:schemeClr val="bg1"/>
                </a:solidFill>
              </a:rPr>
              <a:t>REPORTED FACT</a:t>
            </a:r>
            <a:endParaRPr lang="en-US" sz="1000" dirty="0"/>
          </a:p>
        </p:txBody>
      </p:sp>
      <p:sp>
        <p:nvSpPr>
          <p:cNvPr id="21" name="evidence-tag-20"/>
          <p:cNvSpPr txBox="1"/>
          <p:nvPr/>
        </p:nvSpPr>
        <p:spPr>
          <a:xfrm>
            <a:off x="3553358" y="5349240"/>
            <a:ext cx="1338682" cy="256032"/>
          </a:xfrm>
          <a:prstGeom prst="roundRect">
            <a:avLst>
              <a:gd name="adj" fmla="val 46429"/>
            </a:avLst>
          </a:prstGeom>
          <a:solidFill>
            <a:schemeClr val="accent3"/>
          </a:solidFill>
          <a:ln w="12700">
            <a:solidFill>
              <a:schemeClr val="accent3"/>
            </a:solidFill>
          </a:ln>
        </p:spPr>
        <p:txBody>
          <a:bodyPr wrap="square" lIns="0" tIns="0" rIns="0" bIns="0" rtlCol="0" anchor="ctr"/>
          <a:lstStyle/>
          <a:p>
            <a:pPr algn="ctr" indent="0" marL="0">
              <a:buNone/>
            </a:pPr>
            <a:r>
              <a:rPr lang="en-US" sz="1000" b="1" spc="100" kern="0" dirty="0">
                <a:solidFill>
                  <a:schemeClr val="bg1"/>
                </a:solidFill>
              </a:rPr>
              <a:t>SOURCE CLAIM</a:t>
            </a:r>
            <a:endParaRPr lang="en-US" sz="1000" dirty="0"/>
          </a:p>
        </p:txBody>
      </p:sp>
      <p:sp>
        <p:nvSpPr>
          <p:cNvPr id="22" name="evidence-tag-21"/>
          <p:cNvSpPr txBox="1"/>
          <p:nvPr/>
        </p:nvSpPr>
        <p:spPr>
          <a:xfrm>
            <a:off x="5056632" y="5349240"/>
            <a:ext cx="1927555" cy="256032"/>
          </a:xfrm>
          <a:prstGeom prst="roundRect">
            <a:avLst>
              <a:gd name="adj" fmla="val 46429"/>
            </a:avLst>
          </a:prstGeom>
          <a:solidFill>
            <a:schemeClr val="accent4"/>
          </a:solidFill>
          <a:ln w="12700">
            <a:solidFill>
              <a:schemeClr val="accent4"/>
            </a:solidFill>
          </a:ln>
        </p:spPr>
        <p:txBody>
          <a:bodyPr wrap="square" lIns="0" tIns="0" rIns="0" bIns="0" rtlCol="0" anchor="ctr"/>
          <a:lstStyle/>
          <a:p>
            <a:pPr algn="ctr" indent="0" marL="0">
              <a:buNone/>
            </a:pPr>
            <a:r>
              <a:rPr lang="en-US" sz="1000" b="1" spc="100" kern="0" dirty="0">
                <a:solidFill>
                  <a:schemeClr val="bg1"/>
                </a:solidFill>
              </a:rPr>
              <a:t>EDITORIAL INFERENCE</a:t>
            </a:r>
            <a:endParaRPr lang="en-US" sz="1000" dirty="0"/>
          </a:p>
        </p:txBody>
      </p:sp>
      <p:sp>
        <p:nvSpPr>
          <p:cNvPr id="23" name="evidence-tag-22"/>
          <p:cNvSpPr txBox="1"/>
          <p:nvPr/>
        </p:nvSpPr>
        <p:spPr>
          <a:xfrm>
            <a:off x="7148779" y="5349240"/>
            <a:ext cx="2264054" cy="256032"/>
          </a:xfrm>
          <a:prstGeom prst="roundRect">
            <a:avLst>
              <a:gd name="adj" fmla="val 46429"/>
            </a:avLst>
          </a:prstGeom>
          <a:solidFill>
            <a:schemeClr val="bg1"/>
          </a:solidFill>
          <a:ln w="15875">
            <a:solidFill>
              <a:schemeClr val="accent6"/>
            </a:solidFill>
            <a:prstDash val="dash"/>
          </a:ln>
        </p:spPr>
        <p:txBody>
          <a:bodyPr wrap="square" lIns="0" tIns="0" rIns="0" bIns="0" rtlCol="0" anchor="ctr"/>
          <a:lstStyle/>
          <a:p>
            <a:pPr algn="ctr" indent="0" marL="0">
              <a:buNone/>
            </a:pPr>
            <a:r>
              <a:rPr lang="en-US" sz="1000" b="1" spc="100" kern="0" dirty="0">
                <a:solidFill>
                  <a:schemeClr val="accent6"/>
                </a:solidFill>
              </a:rPr>
              <a:t>UNVERIFIED · TRANSCRIPT</a:t>
            </a:r>
            <a:endParaRPr lang="en-US" sz="1000" dirty="0"/>
          </a:p>
        </p:txBody>
      </p:sp>
      <p:sp>
        <p:nvSpPr>
          <p:cNvPr id="24" name="evidence-tag-23"/>
          <p:cNvSpPr txBox="1"/>
          <p:nvPr/>
        </p:nvSpPr>
        <p:spPr>
          <a:xfrm>
            <a:off x="9577426" y="5349240"/>
            <a:ext cx="1591056" cy="256032"/>
          </a:xfrm>
          <a:prstGeom prst="roundRect">
            <a:avLst>
              <a:gd name="adj" fmla="val 46429"/>
            </a:avLst>
          </a:prstGeom>
          <a:solidFill>
            <a:schemeClr val="accent5"/>
          </a:solidFill>
          <a:ln w="12700">
            <a:solidFill>
              <a:schemeClr val="accent5"/>
            </a:solidFill>
          </a:ln>
        </p:spPr>
        <p:txBody>
          <a:bodyPr wrap="square" lIns="0" tIns="0" rIns="0" bIns="0" rtlCol="0" anchor="ctr"/>
          <a:lstStyle/>
          <a:p>
            <a:pPr algn="ctr" indent="0" marL="0">
              <a:buNone/>
            </a:pPr>
            <a:r>
              <a:rPr lang="en-US" sz="1000" b="1" spc="100" kern="0" dirty="0">
                <a:solidFill>
                  <a:schemeClr val="bg1"/>
                </a:solidFill>
              </a:rPr>
              <a:t>NOT ESTABLISHED</a:t>
            </a:r>
            <a:endParaRPr lang="en-US" sz="1000" dirty="0"/>
          </a:p>
        </p:txBody>
      </p:sp>
      <p:sp>
        <p:nvSpPr>
          <p:cNvPr id="25" name="text-24"/>
          <p:cNvSpPr txBox="1"/>
          <p:nvPr/>
        </p:nvSpPr>
        <p:spPr>
          <a:xfrm>
            <a:off x="548640" y="5998464"/>
            <a:ext cx="11094415" cy="310896"/>
          </a:xfrm>
          <a:prstGeom prst="rect">
            <a:avLst/>
          </a:prstGeom>
          <a:noFill/>
          <a:ln/>
        </p:spPr>
        <p:txBody>
          <a:bodyPr wrap="square" lIns="0" tIns="0" rIns="0" bIns="0" rtlCol="0" anchor="ctr"/>
          <a:lstStyle/>
          <a:p>
            <a:pPr indent="0" marL="0">
              <a:buNone/>
            </a:pPr>
            <a:r>
              <a:rPr lang="en-US" sz="1100" dirty="0">
                <a:solidFill>
                  <a:schemeClr val="tx2"/>
                </a:solidFill>
              </a:rPr>
              <a:t>Source: Engineering.com, “Welcome to the vibe-CAD era,” Sept. 30, 2026</a:t>
            </a:r>
            <a:endParaRPr lang="en-US" sz="11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a:t>
            </a:fld>
            <a:endParaRPr lang="en-US"/>
          </a:p>
        </p:txBody>
      </p:sp>
    </p:spTree>
  </p:cSld>
  <p:clrMapOvr>
    <a:masterClrMapping/>
  </p:clrMapOvr>
  <p:transition spd="med" advClick="1" advTm="23450">
    <p:fade/>
  </p:transition>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4415" cy="777240"/>
          </a:xfrm>
          <a:prstGeom prst="rect">
            <a:avLst/>
          </a:prstGeom>
          <a:noFill/>
          <a:ln/>
        </p:spPr>
        <p:txBody>
          <a:bodyPr wrap="square" lIns="0" tIns="0" rIns="0" bIns="0" rtlCol="0" anchor="ctr"/>
          <a:lstStyle/>
          <a:p>
            <a:pPr algn="l" indent="0" marL="0">
              <a:buNone/>
            </a:pPr>
            <a:r>
              <a:rPr lang="en-US" sz="3200" b="1" dirty="0">
                <a:solidFill>
                  <a:schemeClr val="tx1"/>
                </a:solidFill>
              </a:rPr>
              <a:t>Two mass checks passed after import</a:t>
            </a:r>
            <a:endParaRPr lang="en-US" sz="3200" dirty="0"/>
          </a:p>
        </p:txBody>
      </p:sp>
      <p:sp>
        <p:nvSpPr>
          <p:cNvPr id="3" name="panel-25"/>
          <p:cNvSpPr/>
          <p:nvPr/>
        </p:nvSpPr>
        <p:spPr>
          <a:xfrm>
            <a:off x="548640" y="1463040"/>
            <a:ext cx="5394960" cy="3246120"/>
          </a:xfrm>
          <a:prstGeom prst="roundRect">
            <a:avLst>
              <a:gd name="adj" fmla="val 2817"/>
            </a:avLst>
          </a:prstGeom>
          <a:solidFill>
            <a:schemeClr val="bg2"/>
          </a:solidFill>
          <a:ln w="12700">
            <a:solidFill>
              <a:schemeClr val="bg2"/>
            </a:solidFill>
            <a:prstDash val="solid"/>
          </a:ln>
        </p:spPr>
      </p:sp>
      <p:sp>
        <p:nvSpPr>
          <p:cNvPr id="4" name="text-26"/>
          <p:cNvSpPr txBox="1"/>
          <p:nvPr/>
        </p:nvSpPr>
        <p:spPr>
          <a:xfrm>
            <a:off x="822960" y="1691640"/>
            <a:ext cx="1828800" cy="411480"/>
          </a:xfrm>
          <a:prstGeom prst="rect">
            <a:avLst/>
          </a:prstGeom>
          <a:noFill/>
          <a:ln/>
        </p:spPr>
        <p:txBody>
          <a:bodyPr wrap="square" lIns="0" tIns="0" rIns="0" bIns="0" rtlCol="0" anchor="t"/>
          <a:lstStyle/>
          <a:p>
            <a:pPr indent="0" marL="0">
              <a:buNone/>
            </a:pPr>
            <a:r>
              <a:rPr lang="en-US" sz="2200" b="1" dirty="0">
                <a:solidFill>
                  <a:schemeClr val="tx1"/>
                </a:solidFill>
                <a:latin typeface="Cambria" pitchFamily="34" charset="0"/>
                <a:ea typeface="Cambria" pitchFamily="34" charset="-122"/>
                <a:cs typeface="Cambria" pitchFamily="34" charset="-120"/>
              </a:rPr>
              <a:t>Test 1</a:t>
            </a:r>
            <a:endParaRPr lang="en-US" sz="2200" dirty="0"/>
          </a:p>
        </p:txBody>
      </p:sp>
      <p:sp>
        <p:nvSpPr>
          <p:cNvPr id="5" name="text-27"/>
          <p:cNvSpPr txBox="1"/>
          <p:nvPr/>
        </p:nvSpPr>
        <p:spPr>
          <a:xfrm>
            <a:off x="822960" y="2103120"/>
            <a:ext cx="4846320" cy="320040"/>
          </a:xfrm>
          <a:prstGeom prst="rect">
            <a:avLst/>
          </a:prstGeom>
          <a:noFill/>
          <a:ln/>
        </p:spPr>
        <p:txBody>
          <a:bodyPr wrap="square" lIns="0" tIns="0" rIns="0" bIns="0" rtlCol="0" anchor="t"/>
          <a:lstStyle/>
          <a:p>
            <a:pPr indent="0" marL="0">
              <a:buNone/>
            </a:pPr>
            <a:r>
              <a:rPr lang="en-US" sz="1400" dirty="0">
                <a:solidFill>
                  <a:schemeClr val="tx2"/>
                </a:solidFill>
              </a:rPr>
              <a:t>Simplified TooTallToby drawing exercise</a:t>
            </a:r>
            <a:endParaRPr lang="en-US" sz="1400" dirty="0"/>
          </a:p>
        </p:txBody>
      </p:sp>
      <p:sp>
        <p:nvSpPr>
          <p:cNvPr id="6" name="node-28"/>
          <p:cNvSpPr/>
          <p:nvPr/>
        </p:nvSpPr>
        <p:spPr>
          <a:xfrm>
            <a:off x="822960" y="2697480"/>
            <a:ext cx="1005840" cy="914400"/>
          </a:xfrm>
          <a:prstGeom prst="roundRect">
            <a:avLst>
              <a:gd name="adj" fmla="val 8000"/>
            </a:avLst>
          </a:prstGeom>
          <a:solidFill>
            <a:schemeClr val="bg1"/>
          </a:solidFill>
          <a:ln>
            <a:solidFill>
              <a:schemeClr val="bg1"/>
            </a:solidFill>
          </a:ln>
        </p:spPr>
        <p:txBody>
          <a:bodyPr wrap="square" lIns="76200" tIns="76200" rIns="76200" bIns="76200" rtlCol="0" anchor="ctr"/>
          <a:lstStyle/>
          <a:p>
            <a:pPr algn="ctr" indent="0" marL="0">
              <a:buNone/>
            </a:pPr>
            <a:r>
              <a:rPr lang="en-US" sz="1300" b="1" dirty="0">
                <a:solidFill>
                  <a:schemeClr val="tx1"/>
                </a:solidFill>
              </a:rPr>
              <a:t>Backflip STEP export</a:t>
            </a:r>
            <a:endParaRPr lang="en-US" sz="1300" dirty="0"/>
          </a:p>
        </p:txBody>
      </p:sp>
      <p:sp>
        <p:nvSpPr>
          <p:cNvPr id="7" name="arrow-29"/>
          <p:cNvSpPr/>
          <p:nvPr/>
        </p:nvSpPr>
        <p:spPr>
          <a:xfrm>
            <a:off x="1883664" y="3154680"/>
            <a:ext cx="164592" cy="0"/>
          </a:xfrm>
          <a:prstGeom prst="line">
            <a:avLst/>
          </a:prstGeom>
          <a:noFill/>
          <a:ln w="25400">
            <a:solidFill>
              <a:schemeClr val="tx2"/>
            </a:solidFill>
            <a:prstDash val="solid"/>
            <a:tailEnd type="triangle"/>
          </a:ln>
        </p:spPr>
      </p:sp>
      <p:sp>
        <p:nvSpPr>
          <p:cNvPr id="8" name="node-30"/>
          <p:cNvSpPr/>
          <p:nvPr/>
        </p:nvSpPr>
        <p:spPr>
          <a:xfrm>
            <a:off x="2103120" y="2697480"/>
            <a:ext cx="1005840" cy="914400"/>
          </a:xfrm>
          <a:prstGeom prst="roundRect">
            <a:avLst>
              <a:gd name="adj" fmla="val 8000"/>
            </a:avLst>
          </a:prstGeom>
          <a:solidFill>
            <a:schemeClr val="bg1"/>
          </a:solidFill>
          <a:ln>
            <a:solidFill>
              <a:schemeClr val="bg1"/>
            </a:solidFill>
          </a:ln>
        </p:spPr>
        <p:txBody>
          <a:bodyPr wrap="square" lIns="76200" tIns="76200" rIns="76200" bIns="76200" rtlCol="0" anchor="ctr"/>
          <a:lstStyle/>
          <a:p>
            <a:pPr algn="ctr" indent="0" marL="0">
              <a:buNone/>
            </a:pPr>
            <a:r>
              <a:rPr lang="en-US" sz="1300" b="1" dirty="0">
                <a:solidFill>
                  <a:schemeClr val="tx1"/>
                </a:solidFill>
              </a:rPr>
              <a:t>Fusion import</a:t>
            </a:r>
            <a:endParaRPr lang="en-US" sz="1300" dirty="0"/>
          </a:p>
        </p:txBody>
      </p:sp>
      <p:sp>
        <p:nvSpPr>
          <p:cNvPr id="9" name="arrow-31"/>
          <p:cNvSpPr/>
          <p:nvPr/>
        </p:nvSpPr>
        <p:spPr>
          <a:xfrm>
            <a:off x="3163824" y="3154680"/>
            <a:ext cx="164592" cy="0"/>
          </a:xfrm>
          <a:prstGeom prst="line">
            <a:avLst/>
          </a:prstGeom>
          <a:noFill/>
          <a:ln w="25400">
            <a:solidFill>
              <a:schemeClr val="tx2"/>
            </a:solidFill>
            <a:prstDash val="solid"/>
            <a:tailEnd type="triangle"/>
          </a:ln>
        </p:spPr>
      </p:sp>
      <p:sp>
        <p:nvSpPr>
          <p:cNvPr id="10" name="node-32"/>
          <p:cNvSpPr/>
          <p:nvPr/>
        </p:nvSpPr>
        <p:spPr>
          <a:xfrm>
            <a:off x="3383280" y="2697480"/>
            <a:ext cx="1005840" cy="914400"/>
          </a:xfrm>
          <a:prstGeom prst="roundRect">
            <a:avLst>
              <a:gd name="adj" fmla="val 8000"/>
            </a:avLst>
          </a:prstGeom>
          <a:solidFill>
            <a:schemeClr val="bg1"/>
          </a:solidFill>
          <a:ln>
            <a:solidFill>
              <a:schemeClr val="bg1"/>
            </a:solidFill>
          </a:ln>
        </p:spPr>
        <p:txBody>
          <a:bodyPr wrap="square" lIns="76200" tIns="76200" rIns="76200" bIns="76200" rtlCol="0" anchor="ctr"/>
          <a:lstStyle/>
          <a:p>
            <a:pPr algn="ctr" indent="0" marL="0">
              <a:buNone/>
            </a:pPr>
            <a:r>
              <a:rPr lang="en-US" sz="1300" b="1" dirty="0">
                <a:solidFill>
                  <a:schemeClr val="tx1"/>
                </a:solidFill>
              </a:rPr>
              <a:t>Apply material</a:t>
            </a:r>
            <a:endParaRPr lang="en-US" sz="1300" dirty="0"/>
          </a:p>
        </p:txBody>
      </p:sp>
      <p:sp>
        <p:nvSpPr>
          <p:cNvPr id="11" name="arrow-33"/>
          <p:cNvSpPr/>
          <p:nvPr/>
        </p:nvSpPr>
        <p:spPr>
          <a:xfrm>
            <a:off x="4443984" y="3154680"/>
            <a:ext cx="164592" cy="0"/>
          </a:xfrm>
          <a:prstGeom prst="line">
            <a:avLst/>
          </a:prstGeom>
          <a:noFill/>
          <a:ln w="25400">
            <a:solidFill>
              <a:schemeClr val="tx2"/>
            </a:solidFill>
            <a:prstDash val="solid"/>
            <a:tailEnd type="triangle"/>
          </a:ln>
        </p:spPr>
      </p:sp>
      <p:sp>
        <p:nvSpPr>
          <p:cNvPr id="12" name="node-34"/>
          <p:cNvSpPr/>
          <p:nvPr/>
        </p:nvSpPr>
        <p:spPr>
          <a:xfrm>
            <a:off x="4663440" y="2697480"/>
            <a:ext cx="1005840" cy="914400"/>
          </a:xfrm>
          <a:prstGeom prst="roundRect">
            <a:avLst>
              <a:gd name="adj" fmla="val 8000"/>
            </a:avLst>
          </a:prstGeom>
          <a:solidFill>
            <a:schemeClr val="accent2"/>
          </a:solidFill>
          <a:ln>
            <a:solidFill>
              <a:schemeClr val="accent2"/>
            </a:solidFill>
          </a:ln>
        </p:spPr>
        <p:txBody>
          <a:bodyPr wrap="square" lIns="76200" tIns="76200" rIns="76200" bIns="76200" rtlCol="0" anchor="ctr"/>
          <a:lstStyle/>
          <a:p>
            <a:pPr algn="ctr" indent="0" marL="0">
              <a:buNone/>
            </a:pPr>
            <a:r>
              <a:rPr lang="en-US" sz="1300" b="1" dirty="0">
                <a:solidFill>
                  <a:schemeClr val="bg1"/>
                </a:solidFill>
              </a:rPr>
              <a:t>Mass check</a:t>
            </a:r>
            <a:endParaRPr lang="en-US" sz="1300" dirty="0"/>
          </a:p>
        </p:txBody>
      </p:sp>
      <p:pic>
        <p:nvPicPr>
          <p:cNvPr id="13" name="icon-check-35" descr="preencoded.png">    </p:cNvPr>
          <p:cNvPicPr>
            <a:picLocks noChangeAspect="1"/>
          </p:cNvPicPr>
          <p:nvPr/>
        </p:nvPicPr>
        <p:blipFill>
          <a:blip r:embed="rId1"/>
          <a:stretch>
            <a:fillRect/>
          </a:stretch>
        </p:blipFill>
        <p:spPr>
          <a:xfrm>
            <a:off x="822960" y="3931920"/>
            <a:ext cx="384048" cy="384048"/>
          </a:xfrm>
          <a:prstGeom prst="rect">
            <a:avLst/>
          </a:prstGeom>
        </p:spPr>
      </p:pic>
      <p:sp>
        <p:nvSpPr>
          <p:cNvPr id="14" name="text-36"/>
          <p:cNvSpPr txBox="1"/>
          <p:nvPr/>
        </p:nvSpPr>
        <p:spPr>
          <a:xfrm>
            <a:off x="1325880" y="3931920"/>
            <a:ext cx="4206240" cy="384048"/>
          </a:xfrm>
          <a:prstGeom prst="rect">
            <a:avLst/>
          </a:prstGeom>
          <a:noFill/>
          <a:ln/>
        </p:spPr>
        <p:txBody>
          <a:bodyPr wrap="square" lIns="0" tIns="0" rIns="0" bIns="0" rtlCol="0" anchor="ctr"/>
          <a:lstStyle/>
          <a:p>
            <a:pPr indent="0" marL="0">
              <a:buNone/>
            </a:pPr>
            <a:r>
              <a:rPr lang="en-US" sz="1700" b="1" dirty="0">
                <a:solidFill>
                  <a:schemeClr val="tx1"/>
                </a:solidFill>
              </a:rPr>
              <a:t>Mass exactly correct</a:t>
            </a:r>
            <a:endParaRPr lang="en-US" sz="1700" dirty="0"/>
          </a:p>
        </p:txBody>
      </p:sp>
      <p:sp>
        <p:nvSpPr>
          <p:cNvPr id="15" name="panel-37"/>
          <p:cNvSpPr/>
          <p:nvPr/>
        </p:nvSpPr>
        <p:spPr>
          <a:xfrm>
            <a:off x="6245352" y="1463040"/>
            <a:ext cx="5394960" cy="3246120"/>
          </a:xfrm>
          <a:prstGeom prst="roundRect">
            <a:avLst>
              <a:gd name="adj" fmla="val 2817"/>
            </a:avLst>
          </a:prstGeom>
          <a:solidFill>
            <a:schemeClr val="bg2"/>
          </a:solidFill>
          <a:ln w="12700">
            <a:solidFill>
              <a:schemeClr val="bg2"/>
            </a:solidFill>
            <a:prstDash val="solid"/>
          </a:ln>
        </p:spPr>
      </p:sp>
      <p:sp>
        <p:nvSpPr>
          <p:cNvPr id="16" name="text-38"/>
          <p:cNvSpPr txBox="1"/>
          <p:nvPr/>
        </p:nvSpPr>
        <p:spPr>
          <a:xfrm>
            <a:off x="6519672" y="1691640"/>
            <a:ext cx="1828800" cy="411480"/>
          </a:xfrm>
          <a:prstGeom prst="rect">
            <a:avLst/>
          </a:prstGeom>
          <a:noFill/>
          <a:ln/>
        </p:spPr>
        <p:txBody>
          <a:bodyPr wrap="square" lIns="0" tIns="0" rIns="0" bIns="0" rtlCol="0" anchor="t"/>
          <a:lstStyle/>
          <a:p>
            <a:pPr indent="0" marL="0">
              <a:buNone/>
            </a:pPr>
            <a:r>
              <a:rPr lang="en-US" sz="2200" b="1" dirty="0">
                <a:solidFill>
                  <a:schemeClr val="tx1"/>
                </a:solidFill>
                <a:latin typeface="Cambria" pitchFamily="34" charset="0"/>
                <a:ea typeface="Cambria" pitchFamily="34" charset="-122"/>
                <a:cs typeface="Cambria" pitchFamily="34" charset="-120"/>
              </a:rPr>
              <a:t>Test 2</a:t>
            </a:r>
            <a:endParaRPr lang="en-US" sz="2200" dirty="0"/>
          </a:p>
        </p:txBody>
      </p:sp>
      <p:sp>
        <p:nvSpPr>
          <p:cNvPr id="17" name="text-39"/>
          <p:cNvSpPr txBox="1"/>
          <p:nvPr/>
        </p:nvSpPr>
        <p:spPr>
          <a:xfrm>
            <a:off x="6519672" y="2103120"/>
            <a:ext cx="4846320" cy="320040"/>
          </a:xfrm>
          <a:prstGeom prst="rect">
            <a:avLst/>
          </a:prstGeom>
          <a:noFill/>
          <a:ln/>
        </p:spPr>
        <p:txBody>
          <a:bodyPr wrap="square" lIns="0" tIns="0" rIns="0" bIns="0" rtlCol="0" anchor="t"/>
          <a:lstStyle/>
          <a:p>
            <a:pPr indent="0" marL="0">
              <a:buNone/>
            </a:pPr>
            <a:r>
              <a:rPr lang="en-US" sz="1400" dirty="0">
                <a:solidFill>
                  <a:schemeClr val="tx2"/>
                </a:solidFill>
              </a:rPr>
              <a:t>Simplified TooTallToby drawing exercise</a:t>
            </a:r>
            <a:endParaRPr lang="en-US" sz="1400" dirty="0"/>
          </a:p>
        </p:txBody>
      </p:sp>
      <p:sp>
        <p:nvSpPr>
          <p:cNvPr id="18" name="node-40"/>
          <p:cNvSpPr/>
          <p:nvPr/>
        </p:nvSpPr>
        <p:spPr>
          <a:xfrm>
            <a:off x="6519672" y="2697480"/>
            <a:ext cx="1005840" cy="914400"/>
          </a:xfrm>
          <a:prstGeom prst="roundRect">
            <a:avLst>
              <a:gd name="adj" fmla="val 8000"/>
            </a:avLst>
          </a:prstGeom>
          <a:solidFill>
            <a:schemeClr val="bg1"/>
          </a:solidFill>
          <a:ln>
            <a:solidFill>
              <a:schemeClr val="bg1"/>
            </a:solidFill>
          </a:ln>
        </p:spPr>
        <p:txBody>
          <a:bodyPr wrap="square" lIns="76200" tIns="76200" rIns="76200" bIns="76200" rtlCol="0" anchor="ctr"/>
          <a:lstStyle/>
          <a:p>
            <a:pPr algn="ctr" indent="0" marL="0">
              <a:buNone/>
            </a:pPr>
            <a:r>
              <a:rPr lang="en-US" sz="1300" b="1" dirty="0">
                <a:solidFill>
                  <a:schemeClr val="tx1"/>
                </a:solidFill>
              </a:rPr>
              <a:t>Backflip STEP export</a:t>
            </a:r>
            <a:endParaRPr lang="en-US" sz="1300" dirty="0"/>
          </a:p>
        </p:txBody>
      </p:sp>
      <p:sp>
        <p:nvSpPr>
          <p:cNvPr id="19" name="arrow-41"/>
          <p:cNvSpPr/>
          <p:nvPr/>
        </p:nvSpPr>
        <p:spPr>
          <a:xfrm>
            <a:off x="7580376" y="3154680"/>
            <a:ext cx="164592" cy="0"/>
          </a:xfrm>
          <a:prstGeom prst="line">
            <a:avLst/>
          </a:prstGeom>
          <a:noFill/>
          <a:ln w="25400">
            <a:solidFill>
              <a:schemeClr val="tx2"/>
            </a:solidFill>
            <a:prstDash val="solid"/>
            <a:tailEnd type="triangle"/>
          </a:ln>
        </p:spPr>
      </p:sp>
      <p:sp>
        <p:nvSpPr>
          <p:cNvPr id="20" name="node-42"/>
          <p:cNvSpPr/>
          <p:nvPr/>
        </p:nvSpPr>
        <p:spPr>
          <a:xfrm>
            <a:off x="7799832" y="2697480"/>
            <a:ext cx="1005840" cy="914400"/>
          </a:xfrm>
          <a:prstGeom prst="roundRect">
            <a:avLst>
              <a:gd name="adj" fmla="val 8000"/>
            </a:avLst>
          </a:prstGeom>
          <a:solidFill>
            <a:schemeClr val="bg1"/>
          </a:solidFill>
          <a:ln>
            <a:solidFill>
              <a:schemeClr val="bg1"/>
            </a:solidFill>
          </a:ln>
        </p:spPr>
        <p:txBody>
          <a:bodyPr wrap="square" lIns="76200" tIns="76200" rIns="76200" bIns="76200" rtlCol="0" anchor="ctr"/>
          <a:lstStyle/>
          <a:p>
            <a:pPr algn="ctr" indent="0" marL="0">
              <a:buNone/>
            </a:pPr>
            <a:r>
              <a:rPr lang="en-US" sz="1300" b="1" dirty="0">
                <a:solidFill>
                  <a:schemeClr val="tx1"/>
                </a:solidFill>
              </a:rPr>
              <a:t>Fusion import</a:t>
            </a:r>
            <a:endParaRPr lang="en-US" sz="1300" dirty="0"/>
          </a:p>
        </p:txBody>
      </p:sp>
      <p:sp>
        <p:nvSpPr>
          <p:cNvPr id="21" name="arrow-43"/>
          <p:cNvSpPr/>
          <p:nvPr/>
        </p:nvSpPr>
        <p:spPr>
          <a:xfrm>
            <a:off x="8860536" y="3154680"/>
            <a:ext cx="164592" cy="0"/>
          </a:xfrm>
          <a:prstGeom prst="line">
            <a:avLst/>
          </a:prstGeom>
          <a:noFill/>
          <a:ln w="25400">
            <a:solidFill>
              <a:schemeClr val="tx2"/>
            </a:solidFill>
            <a:prstDash val="solid"/>
            <a:tailEnd type="triangle"/>
          </a:ln>
        </p:spPr>
      </p:sp>
      <p:sp>
        <p:nvSpPr>
          <p:cNvPr id="22" name="node-44"/>
          <p:cNvSpPr/>
          <p:nvPr/>
        </p:nvSpPr>
        <p:spPr>
          <a:xfrm>
            <a:off x="9079992" y="2697480"/>
            <a:ext cx="1005840" cy="914400"/>
          </a:xfrm>
          <a:prstGeom prst="roundRect">
            <a:avLst>
              <a:gd name="adj" fmla="val 8000"/>
            </a:avLst>
          </a:prstGeom>
          <a:solidFill>
            <a:schemeClr val="bg1"/>
          </a:solidFill>
          <a:ln>
            <a:solidFill>
              <a:schemeClr val="bg1"/>
            </a:solidFill>
          </a:ln>
        </p:spPr>
        <p:txBody>
          <a:bodyPr wrap="square" lIns="76200" tIns="76200" rIns="76200" bIns="76200" rtlCol="0" anchor="ctr"/>
          <a:lstStyle/>
          <a:p>
            <a:pPr algn="ctr" indent="0" marL="0">
              <a:buNone/>
            </a:pPr>
            <a:r>
              <a:rPr lang="en-US" sz="1300" b="1" dirty="0">
                <a:solidFill>
                  <a:schemeClr val="tx1"/>
                </a:solidFill>
              </a:rPr>
              <a:t>Apply material</a:t>
            </a:r>
            <a:endParaRPr lang="en-US" sz="1300" dirty="0"/>
          </a:p>
        </p:txBody>
      </p:sp>
      <p:sp>
        <p:nvSpPr>
          <p:cNvPr id="23" name="arrow-45"/>
          <p:cNvSpPr/>
          <p:nvPr/>
        </p:nvSpPr>
        <p:spPr>
          <a:xfrm>
            <a:off x="10140696" y="3154680"/>
            <a:ext cx="164592" cy="0"/>
          </a:xfrm>
          <a:prstGeom prst="line">
            <a:avLst/>
          </a:prstGeom>
          <a:noFill/>
          <a:ln w="25400">
            <a:solidFill>
              <a:schemeClr val="tx2"/>
            </a:solidFill>
            <a:prstDash val="solid"/>
            <a:tailEnd type="triangle"/>
          </a:ln>
        </p:spPr>
      </p:sp>
      <p:sp>
        <p:nvSpPr>
          <p:cNvPr id="24" name="node-46"/>
          <p:cNvSpPr/>
          <p:nvPr/>
        </p:nvSpPr>
        <p:spPr>
          <a:xfrm>
            <a:off x="10360152" y="2697480"/>
            <a:ext cx="1005840" cy="914400"/>
          </a:xfrm>
          <a:prstGeom prst="roundRect">
            <a:avLst>
              <a:gd name="adj" fmla="val 8000"/>
            </a:avLst>
          </a:prstGeom>
          <a:solidFill>
            <a:schemeClr val="accent2"/>
          </a:solidFill>
          <a:ln>
            <a:solidFill>
              <a:schemeClr val="accent2"/>
            </a:solidFill>
          </a:ln>
        </p:spPr>
        <p:txBody>
          <a:bodyPr wrap="square" lIns="76200" tIns="76200" rIns="76200" bIns="76200" rtlCol="0" anchor="ctr"/>
          <a:lstStyle/>
          <a:p>
            <a:pPr algn="ctr" indent="0" marL="0">
              <a:buNone/>
            </a:pPr>
            <a:r>
              <a:rPr lang="en-US" sz="1300" b="1" dirty="0">
                <a:solidFill>
                  <a:schemeClr val="bg1"/>
                </a:solidFill>
              </a:rPr>
              <a:t>Mass check</a:t>
            </a:r>
            <a:endParaRPr lang="en-US" sz="1300" dirty="0"/>
          </a:p>
        </p:txBody>
      </p:sp>
      <p:pic>
        <p:nvPicPr>
          <p:cNvPr id="25" name="icon-check-47" descr="preencoded.png">    </p:cNvPr>
          <p:cNvPicPr>
            <a:picLocks noChangeAspect="1"/>
          </p:cNvPicPr>
          <p:nvPr/>
        </p:nvPicPr>
        <p:blipFill>
          <a:blip r:embed="rId2"/>
          <a:stretch>
            <a:fillRect/>
          </a:stretch>
        </p:blipFill>
        <p:spPr>
          <a:xfrm>
            <a:off x="6519672" y="3931920"/>
            <a:ext cx="384048" cy="384048"/>
          </a:xfrm>
          <a:prstGeom prst="rect">
            <a:avLst/>
          </a:prstGeom>
        </p:spPr>
      </p:pic>
      <p:sp>
        <p:nvSpPr>
          <p:cNvPr id="26" name="text-48"/>
          <p:cNvSpPr txBox="1"/>
          <p:nvPr/>
        </p:nvSpPr>
        <p:spPr>
          <a:xfrm>
            <a:off x="7022592" y="3931920"/>
            <a:ext cx="4206240" cy="384048"/>
          </a:xfrm>
          <a:prstGeom prst="rect">
            <a:avLst/>
          </a:prstGeom>
          <a:noFill/>
          <a:ln/>
        </p:spPr>
        <p:txBody>
          <a:bodyPr wrap="square" lIns="0" tIns="0" rIns="0" bIns="0" rtlCol="0" anchor="ctr"/>
          <a:lstStyle/>
          <a:p>
            <a:pPr indent="0" marL="0">
              <a:buNone/>
            </a:pPr>
            <a:r>
              <a:rPr lang="en-US" sz="1700" b="1" dirty="0">
                <a:solidFill>
                  <a:schemeClr val="tx1"/>
                </a:solidFill>
              </a:rPr>
              <a:t>Downloaded STEP file passed</a:t>
            </a:r>
            <a:endParaRPr lang="en-US" sz="1700" dirty="0"/>
          </a:p>
        </p:txBody>
      </p:sp>
      <p:sp>
        <p:nvSpPr>
          <p:cNvPr id="27" name="evidence-tag-49"/>
          <p:cNvSpPr txBox="1"/>
          <p:nvPr/>
        </p:nvSpPr>
        <p:spPr>
          <a:xfrm>
            <a:off x="548640" y="5120640"/>
            <a:ext cx="1422806" cy="256032"/>
          </a:xfrm>
          <a:prstGeom prst="roundRect">
            <a:avLst>
              <a:gd name="adj" fmla="val 46429"/>
            </a:avLst>
          </a:prstGeom>
          <a:solidFill>
            <a:schemeClr val="accent2"/>
          </a:solidFill>
          <a:ln w="12700">
            <a:solidFill>
              <a:schemeClr val="accent2"/>
            </a:solidFill>
          </a:ln>
        </p:spPr>
        <p:txBody>
          <a:bodyPr wrap="square" lIns="0" tIns="0" rIns="0" bIns="0" rtlCol="0" anchor="ctr"/>
          <a:lstStyle/>
          <a:p>
            <a:pPr algn="ctr" indent="0" marL="0">
              <a:buNone/>
            </a:pPr>
            <a:r>
              <a:rPr lang="en-US" sz="1000" b="1" spc="100" kern="0" dirty="0">
                <a:solidFill>
                  <a:schemeClr val="bg1"/>
                </a:solidFill>
              </a:rPr>
              <a:t>REPORTED FACT</a:t>
            </a:r>
            <a:endParaRPr lang="en-US" sz="1000" dirty="0"/>
          </a:p>
        </p:txBody>
      </p:sp>
      <p:sp>
        <p:nvSpPr>
          <p:cNvPr id="28" name="text-50"/>
          <p:cNvSpPr txBox="1"/>
          <p:nvPr/>
        </p:nvSpPr>
        <p:spPr>
          <a:xfrm>
            <a:off x="2108606" y="5029200"/>
            <a:ext cx="9534449" cy="457200"/>
          </a:xfrm>
          <a:prstGeom prst="rect">
            <a:avLst/>
          </a:prstGeom>
          <a:noFill/>
          <a:ln/>
        </p:spPr>
        <p:txBody>
          <a:bodyPr wrap="square" lIns="0" tIns="0" rIns="0" bIns="0" rtlCol="0" anchor="ctr"/>
          <a:lstStyle/>
          <a:p>
            <a:pPr indent="0" marL="0">
              <a:buNone/>
            </a:pPr>
            <a:r>
              <a:rPr lang="en-US" sz="1700" b="1" dirty="0">
                <a:solidFill>
                  <a:schemeClr val="tx1"/>
                </a:solidFill>
              </a:rPr>
              <a:t>Observed: </a:t>
            </a:r>
            <a:pPr indent="0" marL="0">
              <a:buNone/>
            </a:pPr>
            <a:r>
              <a:rPr lang="en-US" sz="1700" dirty="0">
                <a:solidFill>
                  <a:schemeClr val="tx1"/>
                </a:solidFill>
              </a:rPr>
              <a:t>imported neutral geometry gave the expected mass with the selected material, in Fusion</a:t>
            </a:r>
            <a:endParaRPr lang="en-US" sz="1700" dirty="0"/>
          </a:p>
        </p:txBody>
      </p:sp>
      <p:sp>
        <p:nvSpPr>
          <p:cNvPr id="29" name="text-51"/>
          <p:cNvSpPr txBox="1"/>
          <p:nvPr/>
        </p:nvSpPr>
        <p:spPr>
          <a:xfrm>
            <a:off x="548640" y="5998464"/>
            <a:ext cx="11094415" cy="310896"/>
          </a:xfrm>
          <a:prstGeom prst="rect">
            <a:avLst/>
          </a:prstGeom>
          <a:noFill/>
          <a:ln/>
        </p:spPr>
        <p:txBody>
          <a:bodyPr wrap="square" lIns="0" tIns="0" rIns="0" bIns="0" rtlCol="0" anchor="ctr"/>
          <a:lstStyle/>
          <a:p>
            <a:pPr indent="0" marL="0">
              <a:buNone/>
            </a:pPr>
            <a:r>
              <a:rPr lang="en-US" sz="1100" dirty="0">
                <a:solidFill>
                  <a:schemeClr val="tx2"/>
                </a:solidFill>
              </a:rPr>
              <a:t>Source: Engineering.com, “Welcome to the vibe-CAD era,” Sept. 30, 2026</a:t>
            </a:r>
            <a:endParaRPr lang="en-US" sz="11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a:t>
            </a:fld>
            <a:endParaRPr lang="en-US"/>
          </a:p>
        </p:txBody>
      </p:sp>
    </p:spTree>
  </p:cSld>
  <p:clrMapOvr>
    <a:masterClrMapping/>
  </p:clrMapOvr>
  <p:transition spd="med" advClick="1" advTm="30130">
    <p:fade/>
  </p:transition>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4415" cy="777240"/>
          </a:xfrm>
          <a:prstGeom prst="rect">
            <a:avLst/>
          </a:prstGeom>
          <a:noFill/>
          <a:ln/>
        </p:spPr>
        <p:txBody>
          <a:bodyPr wrap="square" lIns="0" tIns="0" rIns="0" bIns="0" rtlCol="0" anchor="ctr"/>
          <a:lstStyle/>
          <a:p>
            <a:pPr algn="l" indent="0" marL="0">
              <a:buNone/>
            </a:pPr>
            <a:r>
              <a:rPr lang="en-US" sz="3200" b="1" dirty="0">
                <a:solidFill>
                  <a:schemeClr val="tx1"/>
                </a:solidFill>
              </a:rPr>
              <a:t>A mass check has a narrow scope</a:t>
            </a:r>
            <a:endParaRPr lang="en-US" sz="3200" dirty="0"/>
          </a:p>
        </p:txBody>
      </p:sp>
      <p:graphicFrame>
        <p:nvGraphicFramePr>
          <p:cNvPr id="5" name="scope-table-52"/>
          <p:cNvGraphicFramePr>
            <a:graphicFrameLocks noGrp="1"/>
          </p:cNvGraphicFramePr>
          <p:nvPr>
            <p:extLst>
              <p:ext uri="{D42A27DB-BD31-4B8C-83A1-F6EECF244321}">
                <p14:modId xmlns:p14="http://schemas.microsoft.com/office/powerpoint/2010/main" val="1579011935"/>
              </p:ext>
            </p:extLst>
          </p:nvPr>
        </p:nvGraphicFramePr>
        <p:xfrm>
          <a:off x="548640" y="1463040"/>
          <a:ext cx="6949440" cy="914400"/>
        </p:xfrm>
        <a:graphic>
          <a:graphicData uri="http://schemas.openxmlformats.org/drawingml/2006/table">
            <a:tbl>
              <a:tblPr/>
              <a:tblGrid>
                <a:gridCol w="2743200"/>
                <a:gridCol w="4206240"/>
              </a:tblGrid>
              <a:tr h="457200">
                <a:tc>
                  <a:txBody>
                    <a:bodyPr/>
                    <a:lstStyle/>
                    <a:p>
                      <a:pPr indent="0" marL="0">
                        <a:buNone/>
                      </a:pPr>
                      <a:r>
                        <a:rPr lang="en-US" sz="1500" b="1" dirty="0">
                          <a:solidFill>
                            <a:schemeClr val="bg1"/>
                          </a:solidFill>
                        </a:rPr>
                        <a:t>Checked</a:t>
                      </a:r>
                      <a:endParaRPr lang="en-US" sz="1500" dirty="0"/>
                    </a:p>
                  </a:txBody>
                  <a:tcPr marL="109728" marR="109728" marT="45720" marB="45720" anchor="ctr">
                    <a:lnL w="9525" cap="flat" cmpd="sng" algn="ctr">
                      <a:solidFill>
                        <a:srgbClr val="EEF1F4"/>
                      </a:solidFill>
                      <a:prstDash val="solid"/>
                      <a:round/>
                      <a:headEnd type="none" w="med" len="med"/>
                      <a:tailEnd type="none" w="med" len="med"/>
                    </a:lnL>
                    <a:lnR w="9525" cap="flat" cmpd="sng" algn="ctr">
                      <a:solidFill>
                        <a:srgbClr val="EEF1F4"/>
                      </a:solidFill>
                      <a:prstDash val="solid"/>
                      <a:round/>
                      <a:headEnd type="none" w="med" len="med"/>
                      <a:tailEnd type="none" w="med" len="med"/>
                    </a:lnR>
                    <a:lnT w="9525" cap="flat" cmpd="sng" algn="ctr">
                      <a:solidFill>
                        <a:srgbClr val="EEF1F4"/>
                      </a:solidFill>
                      <a:prstDash val="solid"/>
                      <a:round/>
                      <a:headEnd type="none" w="med" len="med"/>
                      <a:tailEnd type="none" w="med" len="med"/>
                    </a:lnT>
                    <a:lnB w="9525" cap="flat" cmpd="sng" algn="ctr">
                      <a:solidFill>
                        <a:srgbClr val="EEF1F4"/>
                      </a:solidFill>
                      <a:prstDash val="solid"/>
                      <a:round/>
                      <a:headEnd type="none" w="med" len="med"/>
                      <a:tailEnd type="none" w="med" len="med"/>
                    </a:lnB>
                    <a:solidFill>
                      <a:schemeClr val="tx1"/>
                    </a:solidFill>
                  </a:tcPr>
                </a:tc>
                <a:tc>
                  <a:txBody>
                    <a:bodyPr/>
                    <a:lstStyle/>
                    <a:p>
                      <a:pPr indent="0" marL="0">
                        <a:buNone/>
                      </a:pPr>
                      <a:r>
                        <a:rPr lang="en-US" sz="1500" b="1" dirty="0">
                          <a:solidFill>
                            <a:schemeClr val="bg1"/>
                          </a:solidFill>
                        </a:rPr>
                        <a:t>Not checked by this test</a:t>
                      </a:r>
                      <a:endParaRPr lang="en-US" sz="1500" dirty="0"/>
                    </a:p>
                  </a:txBody>
                  <a:tcPr marL="109728" marR="109728" marT="45720" marB="45720" anchor="ctr">
                    <a:lnL w="9525" cap="flat" cmpd="sng" algn="ctr">
                      <a:solidFill>
                        <a:srgbClr val="EEF1F4"/>
                      </a:solidFill>
                      <a:prstDash val="solid"/>
                      <a:round/>
                      <a:headEnd type="none" w="med" len="med"/>
                      <a:tailEnd type="none" w="med" len="med"/>
                    </a:lnL>
                    <a:lnR w="9525" cap="flat" cmpd="sng" algn="ctr">
                      <a:solidFill>
                        <a:srgbClr val="EEF1F4"/>
                      </a:solidFill>
                      <a:prstDash val="solid"/>
                      <a:round/>
                      <a:headEnd type="none" w="med" len="med"/>
                      <a:tailEnd type="none" w="med" len="med"/>
                    </a:lnR>
                    <a:lnT w="9525" cap="flat" cmpd="sng" algn="ctr">
                      <a:solidFill>
                        <a:srgbClr val="EEF1F4"/>
                      </a:solidFill>
                      <a:prstDash val="solid"/>
                      <a:round/>
                      <a:headEnd type="none" w="med" len="med"/>
                      <a:tailEnd type="none" w="med" len="med"/>
                    </a:lnT>
                    <a:lnB w="9525" cap="flat" cmpd="sng" algn="ctr">
                      <a:solidFill>
                        <a:srgbClr val="EEF1F4"/>
                      </a:solidFill>
                      <a:prstDash val="solid"/>
                      <a:round/>
                      <a:headEnd type="none" w="med" len="med"/>
                      <a:tailEnd type="none" w="med" len="med"/>
                    </a:lnB>
                    <a:solidFill>
                      <a:schemeClr val="tx1"/>
                    </a:solidFill>
                  </a:tcPr>
                </a:tc>
              </a:tr>
              <a:tr h="640080">
                <a:tc rowSpan="5">
                  <a:txBody>
                    <a:bodyPr/>
                    <a:lstStyle/>
                    <a:p>
                      <a:pPr indent="0" marL="0">
                        <a:buNone/>
                      </a:pPr>
                      <a:r>
                        <a:rPr lang="en-US" sz="1600" b="1" dirty="0">
                          <a:solidFill>
                            <a:schemeClr val="accent2"/>
                          </a:solidFill>
                        </a:rPr>
                        <a:t>Mass after STEP import</a:t>
                      </a:r>
                      <a:endParaRPr lang="en-US" sz="1600" dirty="0"/>
                    </a:p>
                  </a:txBody>
                  <a:tcPr marL="109728" marR="109728" marT="45720" marB="45720" anchor="ctr">
                    <a:lnL w="9525" cap="flat" cmpd="sng" algn="ctr">
                      <a:solidFill>
                        <a:srgbClr val="EEF1F4"/>
                      </a:solidFill>
                      <a:prstDash val="solid"/>
                      <a:round/>
                      <a:headEnd type="none" w="med" len="med"/>
                      <a:tailEnd type="none" w="med" len="med"/>
                    </a:lnL>
                    <a:lnR w="9525" cap="flat" cmpd="sng" algn="ctr">
                      <a:solidFill>
                        <a:srgbClr val="EEF1F4"/>
                      </a:solidFill>
                      <a:prstDash val="solid"/>
                      <a:round/>
                      <a:headEnd type="none" w="med" len="med"/>
                      <a:tailEnd type="none" w="med" len="med"/>
                    </a:lnR>
                    <a:lnT w="9525" cap="flat" cmpd="sng" algn="ctr">
                      <a:solidFill>
                        <a:srgbClr val="EEF1F4"/>
                      </a:solidFill>
                      <a:prstDash val="solid"/>
                      <a:round/>
                      <a:headEnd type="none" w="med" len="med"/>
                      <a:tailEnd type="none" w="med" len="med"/>
                    </a:lnT>
                    <a:lnB w="9525" cap="flat" cmpd="sng" algn="ctr">
                      <a:solidFill>
                        <a:srgbClr val="EEF1F4"/>
                      </a:solidFill>
                      <a:prstDash val="solid"/>
                      <a:round/>
                      <a:headEnd type="none" w="med" len="med"/>
                      <a:tailEnd type="none" w="med" len="med"/>
                    </a:lnB>
                    <a:solidFill>
                      <a:schemeClr val="bg2"/>
                    </a:solidFill>
                  </a:tcPr>
                </a:tc>
                <a:tc>
                  <a:txBody>
                    <a:bodyPr/>
                    <a:lstStyle/>
                    <a:p>
                      <a:pPr indent="0" marL="0">
                        <a:buNone/>
                      </a:pPr>
                      <a:r>
                        <a:rPr lang="en-US" sz="1600" dirty="0">
                          <a:solidFill>
                            <a:schemeClr val="tx1"/>
                          </a:solidFill>
                        </a:rPr>
                        <a:t>Feature history (editable design intent)</a:t>
                      </a:r>
                      <a:endParaRPr lang="en-US" sz="1600" dirty="0"/>
                    </a:p>
                  </a:txBody>
                  <a:tcPr marL="109728" marR="109728" marT="45720" marB="45720" anchor="ctr">
                    <a:lnL w="9525" cap="flat" cmpd="sng" algn="ctr">
                      <a:solidFill>
                        <a:srgbClr val="EEF1F4"/>
                      </a:solidFill>
                      <a:prstDash val="solid"/>
                      <a:round/>
                      <a:headEnd type="none" w="med" len="med"/>
                      <a:tailEnd type="none" w="med" len="med"/>
                    </a:lnL>
                    <a:lnR w="9525" cap="flat" cmpd="sng" algn="ctr">
                      <a:solidFill>
                        <a:srgbClr val="EEF1F4"/>
                      </a:solidFill>
                      <a:prstDash val="solid"/>
                      <a:round/>
                      <a:headEnd type="none" w="med" len="med"/>
                      <a:tailEnd type="none" w="med" len="med"/>
                    </a:lnR>
                    <a:lnT w="9525" cap="flat" cmpd="sng" algn="ctr">
                      <a:solidFill>
                        <a:srgbClr val="EEF1F4"/>
                      </a:solidFill>
                      <a:prstDash val="solid"/>
                      <a:round/>
                      <a:headEnd type="none" w="med" len="med"/>
                      <a:tailEnd type="none" w="med" len="med"/>
                    </a:lnT>
                    <a:lnB w="9525" cap="flat" cmpd="sng" algn="ctr">
                      <a:solidFill>
                        <a:srgbClr val="EEF1F4"/>
                      </a:solidFill>
                      <a:prstDash val="solid"/>
                      <a:round/>
                      <a:headEnd type="none" w="med" len="med"/>
                      <a:tailEnd type="none" w="med" len="med"/>
                    </a:lnB>
                  </a:tcPr>
                </a:tc>
              </a:tr>
              <a:tr h="640080">
                <a:tc vMerge="1">
                  <a:tcPr/>
                </a:tc>
                <a:tc>
                  <a:txBody>
                    <a:bodyPr/>
                    <a:lstStyle/>
                    <a:p>
                      <a:pPr indent="0" marL="0">
                        <a:buNone/>
                      </a:pPr>
                      <a:r>
                        <a:rPr lang="en-US" sz="1600" dirty="0">
                          <a:solidFill>
                            <a:schemeClr val="tx1"/>
                          </a:solidFill>
                        </a:rPr>
                        <a:t>Dimensional tolerances</a:t>
                      </a:r>
                      <a:endParaRPr lang="en-US" sz="1600" dirty="0"/>
                    </a:p>
                  </a:txBody>
                  <a:tcPr marL="109728" marR="109728" marT="45720" marB="45720" anchor="ctr">
                    <a:lnL w="9525" cap="flat" cmpd="sng" algn="ctr">
                      <a:solidFill>
                        <a:srgbClr val="EEF1F4"/>
                      </a:solidFill>
                      <a:prstDash val="solid"/>
                      <a:round/>
                      <a:headEnd type="none" w="med" len="med"/>
                      <a:tailEnd type="none" w="med" len="med"/>
                    </a:lnL>
                    <a:lnR w="9525" cap="flat" cmpd="sng" algn="ctr">
                      <a:solidFill>
                        <a:srgbClr val="EEF1F4"/>
                      </a:solidFill>
                      <a:prstDash val="solid"/>
                      <a:round/>
                      <a:headEnd type="none" w="med" len="med"/>
                      <a:tailEnd type="none" w="med" len="med"/>
                    </a:lnR>
                    <a:lnT w="9525" cap="flat" cmpd="sng" algn="ctr">
                      <a:solidFill>
                        <a:srgbClr val="EEF1F4"/>
                      </a:solidFill>
                      <a:prstDash val="solid"/>
                      <a:round/>
                      <a:headEnd type="none" w="med" len="med"/>
                      <a:tailEnd type="none" w="med" len="med"/>
                    </a:lnT>
                    <a:lnB w="9525" cap="flat" cmpd="sng" algn="ctr">
                      <a:solidFill>
                        <a:srgbClr val="EEF1F4"/>
                      </a:solidFill>
                      <a:prstDash val="solid"/>
                      <a:round/>
                      <a:headEnd type="none" w="med" len="med"/>
                      <a:tailEnd type="none" w="med" len="med"/>
                    </a:lnB>
                  </a:tcPr>
                </a:tc>
              </a:tr>
              <a:tr h="640080">
                <a:tc vMerge="1">
                  <a:tcPr/>
                </a:tc>
                <a:tc>
                  <a:txBody>
                    <a:bodyPr/>
                    <a:lstStyle/>
                    <a:p>
                      <a:pPr indent="0" marL="0">
                        <a:buNone/>
                      </a:pPr>
                      <a:r>
                        <a:rPr lang="en-US" sz="1600" dirty="0">
                          <a:solidFill>
                            <a:schemeClr val="tx1"/>
                          </a:solidFill>
                        </a:rPr>
                        <a:t>Assembly relationships</a:t>
                      </a:r>
                      <a:endParaRPr lang="en-US" sz="1600" dirty="0"/>
                    </a:p>
                  </a:txBody>
                  <a:tcPr marL="109728" marR="109728" marT="45720" marB="45720" anchor="ctr">
                    <a:lnL w="9525" cap="flat" cmpd="sng" algn="ctr">
                      <a:solidFill>
                        <a:srgbClr val="EEF1F4"/>
                      </a:solidFill>
                      <a:prstDash val="solid"/>
                      <a:round/>
                      <a:headEnd type="none" w="med" len="med"/>
                      <a:tailEnd type="none" w="med" len="med"/>
                    </a:lnL>
                    <a:lnR w="9525" cap="flat" cmpd="sng" algn="ctr">
                      <a:solidFill>
                        <a:srgbClr val="EEF1F4"/>
                      </a:solidFill>
                      <a:prstDash val="solid"/>
                      <a:round/>
                      <a:headEnd type="none" w="med" len="med"/>
                      <a:tailEnd type="none" w="med" len="med"/>
                    </a:lnR>
                    <a:lnT w="9525" cap="flat" cmpd="sng" algn="ctr">
                      <a:solidFill>
                        <a:srgbClr val="EEF1F4"/>
                      </a:solidFill>
                      <a:prstDash val="solid"/>
                      <a:round/>
                      <a:headEnd type="none" w="med" len="med"/>
                      <a:tailEnd type="none" w="med" len="med"/>
                    </a:lnT>
                    <a:lnB w="9525" cap="flat" cmpd="sng" algn="ctr">
                      <a:solidFill>
                        <a:srgbClr val="EEF1F4"/>
                      </a:solidFill>
                      <a:prstDash val="solid"/>
                      <a:round/>
                      <a:headEnd type="none" w="med" len="med"/>
                      <a:tailEnd type="none" w="med" len="med"/>
                    </a:lnB>
                  </a:tcPr>
                </a:tc>
              </a:tr>
              <a:tr h="640080">
                <a:tc vMerge="1">
                  <a:tcPr/>
                </a:tc>
                <a:tc>
                  <a:txBody>
                    <a:bodyPr/>
                    <a:lstStyle/>
                    <a:p>
                      <a:pPr indent="0" marL="0">
                        <a:buNone/>
                      </a:pPr>
                      <a:r>
                        <a:rPr lang="en-US" sz="1600" dirty="0">
                          <a:solidFill>
                            <a:schemeClr val="tx1"/>
                          </a:solidFill>
                        </a:rPr>
                        <a:t>Manufacturability</a:t>
                      </a:r>
                      <a:endParaRPr lang="en-US" sz="1600" dirty="0"/>
                    </a:p>
                  </a:txBody>
                  <a:tcPr marL="109728" marR="109728" marT="45720" marB="45720" anchor="ctr">
                    <a:lnL w="9525" cap="flat" cmpd="sng" algn="ctr">
                      <a:solidFill>
                        <a:srgbClr val="EEF1F4"/>
                      </a:solidFill>
                      <a:prstDash val="solid"/>
                      <a:round/>
                      <a:headEnd type="none" w="med" len="med"/>
                      <a:tailEnd type="none" w="med" len="med"/>
                    </a:lnL>
                    <a:lnR w="9525" cap="flat" cmpd="sng" algn="ctr">
                      <a:solidFill>
                        <a:srgbClr val="EEF1F4"/>
                      </a:solidFill>
                      <a:prstDash val="solid"/>
                      <a:round/>
                      <a:headEnd type="none" w="med" len="med"/>
                      <a:tailEnd type="none" w="med" len="med"/>
                    </a:lnR>
                    <a:lnT w="9525" cap="flat" cmpd="sng" algn="ctr">
                      <a:solidFill>
                        <a:srgbClr val="EEF1F4"/>
                      </a:solidFill>
                      <a:prstDash val="solid"/>
                      <a:round/>
                      <a:headEnd type="none" w="med" len="med"/>
                      <a:tailEnd type="none" w="med" len="med"/>
                    </a:lnT>
                    <a:lnB w="9525" cap="flat" cmpd="sng" algn="ctr">
                      <a:solidFill>
                        <a:srgbClr val="EEF1F4"/>
                      </a:solidFill>
                      <a:prstDash val="solid"/>
                      <a:round/>
                      <a:headEnd type="none" w="med" len="med"/>
                      <a:tailEnd type="none" w="med" len="med"/>
                    </a:lnB>
                  </a:tcPr>
                </a:tc>
              </a:tr>
              <a:tr h="640080">
                <a:tc vMerge="1">
                  <a:tcPr/>
                </a:tc>
                <a:tc>
                  <a:txBody>
                    <a:bodyPr/>
                    <a:lstStyle/>
                    <a:p>
                      <a:pPr indent="0" marL="0">
                        <a:buNone/>
                      </a:pPr>
                      <a:r>
                        <a:rPr lang="en-US" sz="1600" dirty="0">
                          <a:solidFill>
                            <a:schemeClr val="tx1"/>
                          </a:solidFill>
                        </a:rPr>
                        <a:t>Physical inspection</a:t>
                      </a:r>
                      <a:endParaRPr lang="en-US" sz="1600" dirty="0"/>
                    </a:p>
                  </a:txBody>
                  <a:tcPr marL="109728" marR="109728" marT="45720" marB="45720" anchor="ctr">
                    <a:lnL w="9525" cap="flat" cmpd="sng" algn="ctr">
                      <a:solidFill>
                        <a:srgbClr val="EEF1F4"/>
                      </a:solidFill>
                      <a:prstDash val="solid"/>
                      <a:round/>
                      <a:headEnd type="none" w="med" len="med"/>
                      <a:tailEnd type="none" w="med" len="med"/>
                    </a:lnL>
                    <a:lnR w="9525" cap="flat" cmpd="sng" algn="ctr">
                      <a:solidFill>
                        <a:srgbClr val="EEF1F4"/>
                      </a:solidFill>
                      <a:prstDash val="solid"/>
                      <a:round/>
                      <a:headEnd type="none" w="med" len="med"/>
                      <a:tailEnd type="none" w="med" len="med"/>
                    </a:lnR>
                    <a:lnT w="9525" cap="flat" cmpd="sng" algn="ctr">
                      <a:solidFill>
                        <a:srgbClr val="EEF1F4"/>
                      </a:solidFill>
                      <a:prstDash val="solid"/>
                      <a:round/>
                      <a:headEnd type="none" w="med" len="med"/>
                      <a:tailEnd type="none" w="med" len="med"/>
                    </a:lnT>
                    <a:lnB w="9525" cap="flat" cmpd="sng" algn="ctr">
                      <a:solidFill>
                        <a:srgbClr val="EEF1F4"/>
                      </a:solidFill>
                      <a:prstDash val="solid"/>
                      <a:round/>
                      <a:headEnd type="none" w="med" len="med"/>
                      <a:tailEnd type="none" w="med" len="med"/>
                    </a:lnB>
                  </a:tcPr>
                </a:tc>
              </a:tr>
            </a:tbl>
          </a:graphicData>
        </a:graphic>
      </p:graphicFrame>
      <p:sp>
        <p:nvSpPr>
          <p:cNvPr id="4" name="evidence-tag-53"/>
          <p:cNvSpPr txBox="1"/>
          <p:nvPr/>
        </p:nvSpPr>
        <p:spPr>
          <a:xfrm>
            <a:off x="7955280" y="1463040"/>
            <a:ext cx="1927555" cy="256032"/>
          </a:xfrm>
          <a:prstGeom prst="roundRect">
            <a:avLst>
              <a:gd name="adj" fmla="val 46429"/>
            </a:avLst>
          </a:prstGeom>
          <a:solidFill>
            <a:schemeClr val="accent4"/>
          </a:solidFill>
          <a:ln w="12700">
            <a:solidFill>
              <a:schemeClr val="accent4"/>
            </a:solidFill>
          </a:ln>
        </p:spPr>
        <p:txBody>
          <a:bodyPr wrap="square" lIns="0" tIns="0" rIns="0" bIns="0" rtlCol="0" anchor="ctr"/>
          <a:lstStyle/>
          <a:p>
            <a:pPr algn="ctr" indent="0" marL="0">
              <a:buNone/>
            </a:pPr>
            <a:r>
              <a:rPr lang="en-US" sz="1000" b="1" spc="100" kern="0" dirty="0">
                <a:solidFill>
                  <a:schemeClr val="bg1"/>
                </a:solidFill>
              </a:rPr>
              <a:t>EDITORIAL INFERENCE</a:t>
            </a:r>
            <a:endParaRPr lang="en-US" sz="1000" dirty="0"/>
          </a:p>
        </p:txBody>
      </p:sp>
      <p:sp>
        <p:nvSpPr>
          <p:cNvPr id="5" name="text-54"/>
          <p:cNvSpPr txBox="1"/>
          <p:nvPr/>
        </p:nvSpPr>
        <p:spPr>
          <a:xfrm>
            <a:off x="7955280" y="1920240"/>
            <a:ext cx="3685032" cy="2468880"/>
          </a:xfrm>
          <a:prstGeom prst="rect">
            <a:avLst/>
          </a:prstGeom>
          <a:noFill/>
          <a:ln/>
        </p:spPr>
        <p:txBody>
          <a:bodyPr wrap="square" lIns="0" tIns="0" rIns="0" bIns="0" rtlCol="0" anchor="t"/>
          <a:lstStyle/>
          <a:p>
            <a:pPr indent="0" marL="0">
              <a:buNone/>
            </a:pPr>
            <a:r>
              <a:rPr lang="en-US" sz="2100" dirty="0">
                <a:solidFill>
                  <a:schemeClr val="tx1"/>
                </a:solidFill>
                <a:latin typeface="Cambria" pitchFamily="34" charset="0"/>
                <a:ea typeface="Cambria" pitchFamily="34" charset="-122"/>
                <a:cs typeface="Cambria" pitchFamily="34" charset="-120"/>
              </a:rPr>
              <a:t>Passing mass after STEP import is evidence about the file. It does not establish native editability, tolerance conformance, or manufacturability.</a:t>
            </a:r>
            <a:endParaRPr lang="en-US" sz="2100" dirty="0"/>
          </a:p>
        </p:txBody>
      </p:sp>
      <p:sp>
        <p:nvSpPr>
          <p:cNvPr id="6" name="text-55"/>
          <p:cNvSpPr txBox="1"/>
          <p:nvPr/>
        </p:nvSpPr>
        <p:spPr>
          <a:xfrm>
            <a:off x="7955280" y="4526280"/>
            <a:ext cx="3685032" cy="640080"/>
          </a:xfrm>
          <a:prstGeom prst="rect">
            <a:avLst/>
          </a:prstGeom>
          <a:noFill/>
          <a:ln/>
        </p:spPr>
        <p:txBody>
          <a:bodyPr wrap="square" lIns="0" tIns="0" rIns="0" bIns="0" rtlCol="0" anchor="t"/>
          <a:lstStyle/>
          <a:p>
            <a:pPr indent="0" marL="0">
              <a:buNone/>
            </a:pPr>
            <a:r>
              <a:rPr lang="en-US" sz="1500" i="1" dirty="0">
                <a:solidFill>
                  <a:schemeClr val="tx2"/>
                </a:solidFill>
              </a:rPr>
              <a:t>That is the test's scope, not a criticism of it.</a:t>
            </a:r>
            <a:endParaRPr lang="en-US" sz="1500" dirty="0"/>
          </a:p>
        </p:txBody>
      </p:sp>
      <p:sp>
        <p:nvSpPr>
          <p:cNvPr id="7" name="text-56"/>
          <p:cNvSpPr txBox="1"/>
          <p:nvPr/>
        </p:nvSpPr>
        <p:spPr>
          <a:xfrm>
            <a:off x="548640" y="5998464"/>
            <a:ext cx="11094415" cy="310896"/>
          </a:xfrm>
          <a:prstGeom prst="rect">
            <a:avLst/>
          </a:prstGeom>
          <a:noFill/>
          <a:ln/>
        </p:spPr>
        <p:txBody>
          <a:bodyPr wrap="square" lIns="0" tIns="0" rIns="0" bIns="0" rtlCol="0" anchor="ctr"/>
          <a:lstStyle/>
          <a:p>
            <a:pPr indent="0" marL="0">
              <a:buNone/>
            </a:pPr>
            <a:r>
              <a:rPr lang="en-US" sz="1100" dirty="0">
                <a:solidFill>
                  <a:schemeClr val="tx2"/>
                </a:solidFill>
              </a:rPr>
              <a:t>Source: Engineering.com, “Welcome to the vibe-CAD era,” Sept. 30, 2026; MIT-CDFG survey, Sept. 22, 2026</a:t>
            </a:r>
            <a:endParaRPr lang="en-US" sz="11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a:t>
            </a:fld>
            <a:endParaRPr lang="en-US"/>
          </a:p>
        </p:txBody>
      </p:sp>
    </p:spTree>
  </p:cSld>
  <p:clrMapOvr>
    <a:masterClrMapping/>
  </p:clrMapOvr>
  <p:transition spd="med" advClick="1" advTm="26570">
    <p:fade/>
  </p:transition>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4415" cy="777240"/>
          </a:xfrm>
          <a:prstGeom prst="rect">
            <a:avLst/>
          </a:prstGeom>
          <a:noFill/>
          <a:ln/>
        </p:spPr>
        <p:txBody>
          <a:bodyPr wrap="square" lIns="0" tIns="0" rIns="0" bIns="0" rtlCol="0" anchor="ctr"/>
          <a:lstStyle/>
          <a:p>
            <a:pPr algn="l" indent="0" marL="0">
              <a:buNone/>
            </a:pPr>
            <a:r>
              <a:rPr lang="en-US" sz="3200" b="1" dirty="0">
                <a:solidFill>
                  <a:schemeClr val="tx1"/>
                </a:solidFill>
              </a:rPr>
              <a:t>The counterchecks: editable and multibody</a:t>
            </a:r>
            <a:endParaRPr lang="en-US" sz="3200" dirty="0"/>
          </a:p>
        </p:txBody>
      </p:sp>
      <p:sp>
        <p:nvSpPr>
          <p:cNvPr id="3" name="panel-57"/>
          <p:cNvSpPr/>
          <p:nvPr/>
        </p:nvSpPr>
        <p:spPr>
          <a:xfrm>
            <a:off x="548640" y="1463040"/>
            <a:ext cx="5394960" cy="3749040"/>
          </a:xfrm>
          <a:prstGeom prst="roundRect">
            <a:avLst>
              <a:gd name="adj" fmla="val 2439"/>
            </a:avLst>
          </a:prstGeom>
          <a:solidFill>
            <a:schemeClr val="bg2"/>
          </a:solidFill>
          <a:ln w="12700">
            <a:solidFill>
              <a:schemeClr val="bg2"/>
            </a:solidFill>
            <a:prstDash val="solid"/>
          </a:ln>
        </p:spPr>
      </p:sp>
      <p:sp>
        <p:nvSpPr>
          <p:cNvPr id="4" name="panel-58"/>
          <p:cNvSpPr/>
          <p:nvPr/>
        </p:nvSpPr>
        <p:spPr>
          <a:xfrm>
            <a:off x="6245352" y="1463040"/>
            <a:ext cx="5394960" cy="3749040"/>
          </a:xfrm>
          <a:prstGeom prst="roundRect">
            <a:avLst>
              <a:gd name="adj" fmla="val 2439"/>
            </a:avLst>
          </a:prstGeom>
          <a:solidFill>
            <a:schemeClr val="bg2"/>
          </a:solidFill>
          <a:ln w="12700">
            <a:solidFill>
              <a:schemeClr val="bg2"/>
            </a:solidFill>
            <a:prstDash val="solid"/>
          </a:ln>
        </p:spPr>
      </p:sp>
      <p:sp>
        <p:nvSpPr>
          <p:cNvPr id="5" name="text-59"/>
          <p:cNvSpPr txBox="1"/>
          <p:nvPr/>
        </p:nvSpPr>
        <p:spPr>
          <a:xfrm>
            <a:off x="822960" y="1691640"/>
            <a:ext cx="4846320" cy="365760"/>
          </a:xfrm>
          <a:prstGeom prst="rect">
            <a:avLst/>
          </a:prstGeom>
          <a:noFill/>
          <a:ln/>
        </p:spPr>
        <p:txBody>
          <a:bodyPr wrap="square" lIns="0" tIns="0" rIns="0" bIns="0" rtlCol="0" anchor="t"/>
          <a:lstStyle/>
          <a:p>
            <a:pPr indent="0" marL="0">
              <a:buNone/>
            </a:pPr>
            <a:r>
              <a:rPr lang="en-US" sz="1800" b="1" dirty="0">
                <a:solidFill>
                  <a:schemeClr val="tx1"/>
                </a:solidFill>
              </a:rPr>
              <a:t>Drawing-to-CAD trial, Fusion add-in</a:t>
            </a:r>
            <a:endParaRPr lang="en-US" sz="1800" dirty="0"/>
          </a:p>
        </p:txBody>
      </p:sp>
      <p:sp>
        <p:nvSpPr>
          <p:cNvPr id="6" name="recreated-60"/>
          <p:cNvSpPr/>
          <p:nvPr/>
        </p:nvSpPr>
        <p:spPr>
          <a:xfrm>
            <a:off x="1371600" y="2514600"/>
            <a:ext cx="1463040" cy="1645920"/>
          </a:xfrm>
          <a:prstGeom prst="rect">
            <a:avLst/>
          </a:prstGeom>
          <a:solidFill>
            <a:schemeClr val="accent1"/>
          </a:solidFill>
          <a:ln w="12700">
            <a:solidFill>
              <a:schemeClr val="accent1"/>
            </a:solidFill>
            <a:prstDash val="solid"/>
          </a:ln>
        </p:spPr>
      </p:sp>
      <p:sp>
        <p:nvSpPr>
          <p:cNvPr id="7" name="missing-61"/>
          <p:cNvSpPr/>
          <p:nvPr/>
        </p:nvSpPr>
        <p:spPr>
          <a:xfrm>
            <a:off x="2834640" y="3429000"/>
            <a:ext cx="2194560" cy="731520"/>
          </a:xfrm>
          <a:prstGeom prst="rect">
            <a:avLst/>
          </a:prstGeom>
          <a:solidFill>
            <a:schemeClr val="bg1"/>
          </a:solidFill>
          <a:ln w="19050">
            <a:solidFill>
              <a:schemeClr val="accent6"/>
            </a:solidFill>
            <a:prstDash val="dash"/>
          </a:ln>
        </p:spPr>
      </p:sp>
      <p:sp>
        <p:nvSpPr>
          <p:cNvPr id="8" name="text-62"/>
          <p:cNvSpPr txBox="1"/>
          <p:nvPr/>
        </p:nvSpPr>
        <p:spPr>
          <a:xfrm>
            <a:off x="1371600" y="4206240"/>
            <a:ext cx="1463040" cy="274320"/>
          </a:xfrm>
          <a:prstGeom prst="rect">
            <a:avLst/>
          </a:prstGeom>
          <a:noFill/>
          <a:ln/>
        </p:spPr>
        <p:txBody>
          <a:bodyPr wrap="square" lIns="0" tIns="0" rIns="0" bIns="0" rtlCol="0" anchor="t"/>
          <a:lstStyle/>
          <a:p>
            <a:pPr algn="ctr" indent="0" marL="0">
              <a:buNone/>
            </a:pPr>
            <a:r>
              <a:rPr lang="en-US" sz="1100" dirty="0">
                <a:solidFill>
                  <a:schemeClr val="tx2"/>
                </a:solidFill>
              </a:rPr>
              <a:t>recreated</a:t>
            </a:r>
            <a:endParaRPr lang="en-US" sz="1100" dirty="0"/>
          </a:p>
        </p:txBody>
      </p:sp>
      <p:sp>
        <p:nvSpPr>
          <p:cNvPr id="9" name="text-63"/>
          <p:cNvSpPr txBox="1"/>
          <p:nvPr/>
        </p:nvSpPr>
        <p:spPr>
          <a:xfrm>
            <a:off x="2834640" y="4206240"/>
            <a:ext cx="2194560" cy="274320"/>
          </a:xfrm>
          <a:prstGeom prst="rect">
            <a:avLst/>
          </a:prstGeom>
          <a:noFill/>
          <a:ln/>
        </p:spPr>
        <p:txBody>
          <a:bodyPr wrap="square" lIns="0" tIns="0" rIns="0" bIns="0" rtlCol="0" anchor="t"/>
          <a:lstStyle/>
          <a:p>
            <a:pPr algn="ctr" indent="0" marL="0">
              <a:buNone/>
            </a:pPr>
            <a:r>
              <a:rPr lang="en-US" sz="1100" dirty="0">
                <a:solidFill>
                  <a:schemeClr val="tx2"/>
                </a:solidFill>
              </a:rPr>
              <a:t>not recreated</a:t>
            </a:r>
            <a:endParaRPr lang="en-US" sz="1100" dirty="0"/>
          </a:p>
        </p:txBody>
      </p:sp>
      <p:sp>
        <p:nvSpPr>
          <p:cNvPr id="10" name="text-64"/>
          <p:cNvSpPr txBox="1"/>
          <p:nvPr/>
        </p:nvSpPr>
        <p:spPr>
          <a:xfrm>
            <a:off x="822960" y="4572000"/>
            <a:ext cx="4846320" cy="320040"/>
          </a:xfrm>
          <a:prstGeom prst="rect">
            <a:avLst/>
          </a:prstGeom>
          <a:noFill/>
          <a:ln/>
        </p:spPr>
        <p:txBody>
          <a:bodyPr wrap="square" lIns="0" tIns="0" rIns="0" bIns="0" rtlCol="0" anchor="t"/>
          <a:lstStyle/>
          <a:p>
            <a:pPr indent="0" marL="0">
              <a:buNone/>
            </a:pPr>
            <a:r>
              <a:rPr lang="en-US" sz="1600" b="1" dirty="0">
                <a:solidFill>
                  <a:schemeClr val="tx1"/>
                </a:solidFill>
              </a:rPr>
              <a:t>Observed: partial geometry recreation</a:t>
            </a:r>
            <a:endParaRPr lang="en-US" sz="1600" dirty="0"/>
          </a:p>
        </p:txBody>
      </p:sp>
      <p:sp>
        <p:nvSpPr>
          <p:cNvPr id="11" name="text-65"/>
          <p:cNvSpPr txBox="1"/>
          <p:nvPr/>
        </p:nvSpPr>
        <p:spPr>
          <a:xfrm>
            <a:off x="822960" y="4873752"/>
            <a:ext cx="4846320" cy="274320"/>
          </a:xfrm>
          <a:prstGeom prst="rect">
            <a:avLst/>
          </a:prstGeom>
          <a:noFill/>
          <a:ln/>
        </p:spPr>
        <p:txBody>
          <a:bodyPr wrap="square" lIns="0" tIns="0" rIns="0" bIns="0" rtlCol="0" anchor="t"/>
          <a:lstStyle/>
          <a:p>
            <a:pPr indent="0" marL="0">
              <a:buNone/>
            </a:pPr>
            <a:r>
              <a:rPr lang="en-US" sz="1100" i="1" dirty="0">
                <a:solidFill>
                  <a:schemeClr val="tx2"/>
                </a:solidFill>
              </a:rPr>
              <a:t>Schematic, not the tested part</a:t>
            </a:r>
            <a:endParaRPr lang="en-US" sz="1100" dirty="0"/>
          </a:p>
        </p:txBody>
      </p:sp>
      <p:sp>
        <p:nvSpPr>
          <p:cNvPr id="12" name="text-66"/>
          <p:cNvSpPr txBox="1"/>
          <p:nvPr/>
        </p:nvSpPr>
        <p:spPr>
          <a:xfrm>
            <a:off x="6519672" y="1691640"/>
            <a:ext cx="4846320" cy="365760"/>
          </a:xfrm>
          <a:prstGeom prst="rect">
            <a:avLst/>
          </a:prstGeom>
          <a:noFill/>
          <a:ln/>
        </p:spPr>
        <p:txBody>
          <a:bodyPr wrap="square" lIns="0" tIns="0" rIns="0" bIns="0" rtlCol="0" anchor="t"/>
          <a:lstStyle/>
          <a:p>
            <a:pPr indent="0" marL="0">
              <a:buNone/>
            </a:pPr>
            <a:r>
              <a:rPr lang="en-US" sz="1800" b="1" dirty="0">
                <a:solidFill>
                  <a:schemeClr val="tx1"/>
                </a:solidFill>
              </a:rPr>
              <a:t>Multibody wire-shelf test</a:t>
            </a:r>
            <a:endParaRPr lang="en-US" sz="1800" dirty="0"/>
          </a:p>
        </p:txBody>
      </p:sp>
      <p:sp>
        <p:nvSpPr>
          <p:cNvPr id="13" name="body-67"/>
          <p:cNvSpPr/>
          <p:nvPr/>
        </p:nvSpPr>
        <p:spPr>
          <a:xfrm>
            <a:off x="6656832" y="2514600"/>
            <a:ext cx="502920" cy="1645920"/>
          </a:xfrm>
          <a:prstGeom prst="rect">
            <a:avLst/>
          </a:prstGeom>
          <a:solidFill>
            <a:schemeClr val="accent1"/>
          </a:solidFill>
          <a:ln w="19050">
            <a:solidFill>
              <a:schemeClr val="accent1"/>
            </a:solidFill>
            <a:prstDash val="solid"/>
          </a:ln>
        </p:spPr>
      </p:sp>
      <p:sp>
        <p:nvSpPr>
          <p:cNvPr id="14" name="body-68"/>
          <p:cNvSpPr/>
          <p:nvPr/>
        </p:nvSpPr>
        <p:spPr>
          <a:xfrm>
            <a:off x="7315200" y="2514600"/>
            <a:ext cx="502920" cy="1645920"/>
          </a:xfrm>
          <a:prstGeom prst="rect">
            <a:avLst/>
          </a:prstGeom>
          <a:solidFill>
            <a:schemeClr val="bg1"/>
          </a:solidFill>
          <a:ln w="19050">
            <a:solidFill>
              <a:schemeClr val="accent6"/>
            </a:solidFill>
            <a:prstDash val="dash"/>
          </a:ln>
        </p:spPr>
      </p:sp>
      <p:sp>
        <p:nvSpPr>
          <p:cNvPr id="15" name="body-69"/>
          <p:cNvSpPr/>
          <p:nvPr/>
        </p:nvSpPr>
        <p:spPr>
          <a:xfrm>
            <a:off x="7973568" y="2514600"/>
            <a:ext cx="502920" cy="1645920"/>
          </a:xfrm>
          <a:prstGeom prst="rect">
            <a:avLst/>
          </a:prstGeom>
          <a:solidFill>
            <a:schemeClr val="bg1"/>
          </a:solidFill>
          <a:ln w="19050">
            <a:solidFill>
              <a:schemeClr val="accent6"/>
            </a:solidFill>
            <a:prstDash val="dash"/>
          </a:ln>
        </p:spPr>
      </p:sp>
      <p:sp>
        <p:nvSpPr>
          <p:cNvPr id="16" name="body-70"/>
          <p:cNvSpPr/>
          <p:nvPr/>
        </p:nvSpPr>
        <p:spPr>
          <a:xfrm>
            <a:off x="8631936" y="2514600"/>
            <a:ext cx="502920" cy="1645920"/>
          </a:xfrm>
          <a:prstGeom prst="rect">
            <a:avLst/>
          </a:prstGeom>
          <a:solidFill>
            <a:schemeClr val="bg1"/>
          </a:solidFill>
          <a:ln w="19050">
            <a:solidFill>
              <a:schemeClr val="accent6"/>
            </a:solidFill>
            <a:prstDash val="dash"/>
          </a:ln>
        </p:spPr>
      </p:sp>
      <p:sp>
        <p:nvSpPr>
          <p:cNvPr id="17" name="body-71"/>
          <p:cNvSpPr/>
          <p:nvPr/>
        </p:nvSpPr>
        <p:spPr>
          <a:xfrm>
            <a:off x="9290304" y="2514600"/>
            <a:ext cx="502920" cy="1645920"/>
          </a:xfrm>
          <a:prstGeom prst="rect">
            <a:avLst/>
          </a:prstGeom>
          <a:solidFill>
            <a:schemeClr val="bg1"/>
          </a:solidFill>
          <a:ln w="19050">
            <a:solidFill>
              <a:schemeClr val="accent6"/>
            </a:solidFill>
            <a:prstDash val="dash"/>
          </a:ln>
        </p:spPr>
      </p:sp>
      <p:sp>
        <p:nvSpPr>
          <p:cNvPr id="18" name="body-72"/>
          <p:cNvSpPr/>
          <p:nvPr/>
        </p:nvSpPr>
        <p:spPr>
          <a:xfrm>
            <a:off x="9948672" y="2514600"/>
            <a:ext cx="502920" cy="1645920"/>
          </a:xfrm>
          <a:prstGeom prst="rect">
            <a:avLst/>
          </a:prstGeom>
          <a:solidFill>
            <a:schemeClr val="bg1"/>
          </a:solidFill>
          <a:ln w="19050">
            <a:solidFill>
              <a:schemeClr val="accent6"/>
            </a:solidFill>
            <a:prstDash val="dash"/>
          </a:ln>
        </p:spPr>
      </p:sp>
      <p:sp>
        <p:nvSpPr>
          <p:cNvPr id="19" name="body-73"/>
          <p:cNvSpPr/>
          <p:nvPr/>
        </p:nvSpPr>
        <p:spPr>
          <a:xfrm>
            <a:off x="10607040" y="2514600"/>
            <a:ext cx="502920" cy="1645920"/>
          </a:xfrm>
          <a:prstGeom prst="rect">
            <a:avLst/>
          </a:prstGeom>
          <a:solidFill>
            <a:schemeClr val="bg1"/>
          </a:solidFill>
          <a:ln w="19050">
            <a:solidFill>
              <a:schemeClr val="accent6"/>
            </a:solidFill>
            <a:prstDash val="dash"/>
          </a:ln>
        </p:spPr>
      </p:sp>
      <p:sp>
        <p:nvSpPr>
          <p:cNvPr id="20" name="text-74"/>
          <p:cNvSpPr txBox="1"/>
          <p:nvPr/>
        </p:nvSpPr>
        <p:spPr>
          <a:xfrm>
            <a:off x="6656832" y="4206240"/>
            <a:ext cx="4480560" cy="274320"/>
          </a:xfrm>
          <a:prstGeom prst="rect">
            <a:avLst/>
          </a:prstGeom>
          <a:noFill/>
          <a:ln/>
        </p:spPr>
        <p:txBody>
          <a:bodyPr wrap="square" lIns="0" tIns="0" rIns="0" bIns="0" rtlCol="0" anchor="t"/>
          <a:lstStyle/>
          <a:p>
            <a:pPr indent="0" marL="0">
              <a:buNone/>
            </a:pPr>
            <a:r>
              <a:rPr lang="en-US" sz="1100" dirty="0">
                <a:solidFill>
                  <a:schemeClr val="tx2"/>
                </a:solidFill>
              </a:rPr>
              <a:t>seven bodies; one created</a:t>
            </a:r>
            <a:endParaRPr lang="en-US" sz="1100" dirty="0"/>
          </a:p>
        </p:txBody>
      </p:sp>
      <p:sp>
        <p:nvSpPr>
          <p:cNvPr id="21" name="text-75"/>
          <p:cNvSpPr txBox="1"/>
          <p:nvPr/>
        </p:nvSpPr>
        <p:spPr>
          <a:xfrm>
            <a:off x="6519672" y="4572000"/>
            <a:ext cx="4846320" cy="320040"/>
          </a:xfrm>
          <a:prstGeom prst="rect">
            <a:avLst/>
          </a:prstGeom>
          <a:noFill/>
          <a:ln/>
        </p:spPr>
        <p:txBody>
          <a:bodyPr wrap="square" lIns="0" tIns="0" rIns="0" bIns="0" rtlCol="0" anchor="t"/>
          <a:lstStyle/>
          <a:p>
            <a:pPr indent="0" marL="0">
              <a:buNone/>
            </a:pPr>
            <a:r>
              <a:rPr lang="en-US" sz="1600" b="1" dirty="0">
                <a:solidFill>
                  <a:schemeClr val="tx1"/>
                </a:solidFill>
              </a:rPr>
              <a:t>Observed: 1 of 7 bodies created</a:t>
            </a:r>
            <a:endParaRPr lang="en-US" sz="1600" dirty="0"/>
          </a:p>
        </p:txBody>
      </p:sp>
      <p:sp>
        <p:nvSpPr>
          <p:cNvPr id="22" name="text-76"/>
          <p:cNvSpPr txBox="1"/>
          <p:nvPr/>
        </p:nvSpPr>
        <p:spPr>
          <a:xfrm>
            <a:off x="6519672" y="4873752"/>
            <a:ext cx="4846320" cy="274320"/>
          </a:xfrm>
          <a:prstGeom prst="rect">
            <a:avLst/>
          </a:prstGeom>
          <a:noFill/>
          <a:ln/>
        </p:spPr>
        <p:txBody>
          <a:bodyPr wrap="square" lIns="0" tIns="0" rIns="0" bIns="0" rtlCol="0" anchor="t"/>
          <a:lstStyle/>
          <a:p>
            <a:pPr indent="0" marL="0">
              <a:buNone/>
            </a:pPr>
            <a:r>
              <a:rPr lang="en-US" sz="1100" i="1" dirty="0">
                <a:solidFill>
                  <a:schemeClr val="tx2"/>
                </a:solidFill>
              </a:rPr>
              <a:t>Schematic, not the tested shelf</a:t>
            </a:r>
            <a:endParaRPr lang="en-US" sz="1100" dirty="0"/>
          </a:p>
        </p:txBody>
      </p:sp>
      <p:sp>
        <p:nvSpPr>
          <p:cNvPr id="23" name="evidence-tag-77"/>
          <p:cNvSpPr txBox="1"/>
          <p:nvPr/>
        </p:nvSpPr>
        <p:spPr>
          <a:xfrm>
            <a:off x="822960" y="2103120"/>
            <a:ext cx="1422806" cy="256032"/>
          </a:xfrm>
          <a:prstGeom prst="roundRect">
            <a:avLst>
              <a:gd name="adj" fmla="val 46429"/>
            </a:avLst>
          </a:prstGeom>
          <a:solidFill>
            <a:schemeClr val="accent2"/>
          </a:solidFill>
          <a:ln w="12700">
            <a:solidFill>
              <a:schemeClr val="accent2"/>
            </a:solidFill>
          </a:ln>
        </p:spPr>
        <p:txBody>
          <a:bodyPr wrap="square" lIns="0" tIns="0" rIns="0" bIns="0" rtlCol="0" anchor="ctr"/>
          <a:lstStyle/>
          <a:p>
            <a:pPr algn="ctr" indent="0" marL="0">
              <a:buNone/>
            </a:pPr>
            <a:r>
              <a:rPr lang="en-US" sz="1000" b="1" spc="100" kern="0" dirty="0">
                <a:solidFill>
                  <a:schemeClr val="bg1"/>
                </a:solidFill>
              </a:rPr>
              <a:t>REPORTED FACT</a:t>
            </a:r>
            <a:endParaRPr lang="en-US" sz="1000" dirty="0"/>
          </a:p>
        </p:txBody>
      </p:sp>
      <p:sp>
        <p:nvSpPr>
          <p:cNvPr id="24" name="evidence-tag-78"/>
          <p:cNvSpPr txBox="1"/>
          <p:nvPr/>
        </p:nvSpPr>
        <p:spPr>
          <a:xfrm>
            <a:off x="6519672" y="2103120"/>
            <a:ext cx="1422806" cy="256032"/>
          </a:xfrm>
          <a:prstGeom prst="roundRect">
            <a:avLst>
              <a:gd name="adj" fmla="val 46429"/>
            </a:avLst>
          </a:prstGeom>
          <a:solidFill>
            <a:schemeClr val="accent2"/>
          </a:solidFill>
          <a:ln w="12700">
            <a:solidFill>
              <a:schemeClr val="accent2"/>
            </a:solidFill>
          </a:ln>
        </p:spPr>
        <p:txBody>
          <a:bodyPr wrap="square" lIns="0" tIns="0" rIns="0" bIns="0" rtlCol="0" anchor="ctr"/>
          <a:lstStyle/>
          <a:p>
            <a:pPr algn="ctr" indent="0" marL="0">
              <a:buNone/>
            </a:pPr>
            <a:r>
              <a:rPr lang="en-US" sz="1000" b="1" spc="100" kern="0" dirty="0">
                <a:solidFill>
                  <a:schemeClr val="bg1"/>
                </a:solidFill>
              </a:rPr>
              <a:t>REPORTED FACT</a:t>
            </a:r>
            <a:endParaRPr lang="en-US" sz="1000" dirty="0"/>
          </a:p>
        </p:txBody>
      </p:sp>
      <p:sp>
        <p:nvSpPr>
          <p:cNvPr id="25" name="text-79"/>
          <p:cNvSpPr txBox="1"/>
          <p:nvPr/>
        </p:nvSpPr>
        <p:spPr>
          <a:xfrm>
            <a:off x="548640" y="5349240"/>
            <a:ext cx="11094415" cy="457200"/>
          </a:xfrm>
          <a:prstGeom prst="rect">
            <a:avLst/>
          </a:prstGeom>
          <a:noFill/>
          <a:ln/>
        </p:spPr>
        <p:txBody>
          <a:bodyPr wrap="square" lIns="0" tIns="0" rIns="0" bIns="0" rtlCol="0" anchor="ctr"/>
          <a:lstStyle/>
          <a:p>
            <a:pPr indent="0" marL="0">
              <a:buNone/>
            </a:pPr>
            <a:r>
              <a:rPr lang="en-US" sz="1800" i="1" dirty="0">
                <a:solidFill>
                  <a:schemeClr val="tx1"/>
                </a:solidFill>
                <a:latin typeface="Cambria" pitchFamily="34" charset="0"/>
                <a:ea typeface="Cambria" pitchFamily="34" charset="-122"/>
                <a:cs typeface="Cambria" pitchFamily="34" charset="-120"/>
              </a:rPr>
              <a:t>A successful STEP export and a successful editable rebuild are separate claims.</a:t>
            </a:r>
            <a:endParaRPr lang="en-US" sz="1800" dirty="0"/>
          </a:p>
        </p:txBody>
      </p:sp>
      <p:sp>
        <p:nvSpPr>
          <p:cNvPr id="26" name="text-80"/>
          <p:cNvSpPr txBox="1"/>
          <p:nvPr/>
        </p:nvSpPr>
        <p:spPr>
          <a:xfrm>
            <a:off x="548640" y="5998464"/>
            <a:ext cx="11094415" cy="310896"/>
          </a:xfrm>
          <a:prstGeom prst="rect">
            <a:avLst/>
          </a:prstGeom>
          <a:noFill/>
          <a:ln/>
        </p:spPr>
        <p:txBody>
          <a:bodyPr wrap="square" lIns="0" tIns="0" rIns="0" bIns="0" rtlCol="0" anchor="ctr"/>
          <a:lstStyle/>
          <a:p>
            <a:pPr indent="0" marL="0">
              <a:buNone/>
            </a:pPr>
            <a:r>
              <a:rPr lang="en-US" sz="1100" dirty="0">
                <a:solidFill>
                  <a:schemeClr val="tx2"/>
                </a:solidFill>
              </a:rPr>
              <a:t>Source: Engineering.com, “Welcome to the vibe-CAD era,” Sept. 30, 2026</a:t>
            </a:r>
            <a:endParaRPr lang="en-US" sz="11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5</a:t>
            </a:fld>
            <a:endParaRPr lang="en-US"/>
          </a:p>
        </p:txBody>
      </p:sp>
    </p:spTree>
  </p:cSld>
  <p:clrMapOvr>
    <a:masterClrMapping/>
  </p:clrMapOvr>
  <p:transition spd="med" advClick="1" advTm="31290">
    <p:fade/>
  </p:transition>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4415" cy="777240"/>
          </a:xfrm>
          <a:prstGeom prst="rect">
            <a:avLst/>
          </a:prstGeom>
          <a:noFill/>
          <a:ln/>
        </p:spPr>
        <p:txBody>
          <a:bodyPr wrap="square" lIns="0" tIns="0" rIns="0" bIns="0" rtlCol="0" anchor="ctr"/>
          <a:lstStyle/>
          <a:p>
            <a:pPr algn="l" indent="0" marL="0">
              <a:buNone/>
            </a:pPr>
            <a:r>
              <a:rPr lang="en-US" sz="3200" b="1" dirty="0">
                <a:solidFill>
                  <a:schemeClr val="tx1"/>
                </a:solidFill>
              </a:rPr>
              <a:t>The wider record: mostly demonstrations</a:t>
            </a:r>
            <a:endParaRPr lang="en-US" sz="3200" dirty="0"/>
          </a:p>
        </p:txBody>
      </p:sp>
      <p:sp>
        <p:nvSpPr>
          <p:cNvPr id="3" name="evidence-tag-81"/>
          <p:cNvSpPr txBox="1"/>
          <p:nvPr/>
        </p:nvSpPr>
        <p:spPr>
          <a:xfrm>
            <a:off x="548640" y="1463040"/>
            <a:ext cx="1338682" cy="256032"/>
          </a:xfrm>
          <a:prstGeom prst="roundRect">
            <a:avLst>
              <a:gd name="adj" fmla="val 46429"/>
            </a:avLst>
          </a:prstGeom>
          <a:solidFill>
            <a:schemeClr val="accent3"/>
          </a:solidFill>
          <a:ln w="12700">
            <a:solidFill>
              <a:schemeClr val="accent3"/>
            </a:solidFill>
          </a:ln>
        </p:spPr>
        <p:txBody>
          <a:bodyPr wrap="square" lIns="0" tIns="0" rIns="0" bIns="0" rtlCol="0" anchor="ctr"/>
          <a:lstStyle/>
          <a:p>
            <a:pPr algn="ctr" indent="0" marL="0">
              <a:buNone/>
            </a:pPr>
            <a:r>
              <a:rPr lang="en-US" sz="1000" b="1" spc="100" kern="0" dirty="0">
                <a:solidFill>
                  <a:schemeClr val="bg1"/>
                </a:solidFill>
              </a:rPr>
              <a:t>SOURCE CLAIM</a:t>
            </a:r>
            <a:endParaRPr lang="en-US" sz="1000" dirty="0"/>
          </a:p>
        </p:txBody>
      </p:sp>
      <p:sp>
        <p:nvSpPr>
          <p:cNvPr id="4" name="text-82"/>
          <p:cNvSpPr txBox="1"/>
          <p:nvPr/>
        </p:nvSpPr>
        <p:spPr>
          <a:xfrm>
            <a:off x="2024482" y="1435608"/>
            <a:ext cx="9618574" cy="310896"/>
          </a:xfrm>
          <a:prstGeom prst="rect">
            <a:avLst/>
          </a:prstGeom>
          <a:noFill/>
          <a:ln/>
        </p:spPr>
        <p:txBody>
          <a:bodyPr wrap="square" lIns="0" tIns="0" rIns="0" bIns="0" rtlCol="0" anchor="ctr"/>
          <a:lstStyle/>
          <a:p>
            <a:pPr indent="0" marL="0">
              <a:buNone/>
            </a:pPr>
            <a:r>
              <a:rPr lang="en-US" sz="1400" dirty="0">
                <a:solidFill>
                  <a:schemeClr val="tx2"/>
                </a:solidFill>
              </a:rPr>
              <a:t>MIT-CDFG's description of its own survey, not independent validation of each listed result</a:t>
            </a:r>
            <a:endParaRPr lang="en-US" sz="1400" dirty="0"/>
          </a:p>
        </p:txBody>
      </p:sp>
      <p:sp>
        <p:nvSpPr>
          <p:cNvPr id="5" name="text-83"/>
          <p:cNvSpPr txBox="1"/>
          <p:nvPr/>
        </p:nvSpPr>
        <p:spPr>
          <a:xfrm>
            <a:off x="548640" y="2011680"/>
            <a:ext cx="3108960" cy="777240"/>
          </a:xfrm>
          <a:prstGeom prst="rect">
            <a:avLst/>
          </a:prstGeom>
          <a:noFill/>
          <a:ln/>
        </p:spPr>
        <p:txBody>
          <a:bodyPr wrap="square" lIns="0" tIns="0" rIns="0" bIns="0" rtlCol="0" anchor="b"/>
          <a:lstStyle/>
          <a:p>
            <a:pPr indent="0" marL="0">
              <a:buNone/>
            </a:pPr>
            <a:r>
              <a:rPr lang="en-US" sz="5200" b="1" dirty="0">
                <a:solidFill>
                  <a:schemeClr val="accent1"/>
                </a:solidFill>
                <a:latin typeface="Cambria" pitchFamily="34" charset="0"/>
                <a:ea typeface="Cambria" pitchFamily="34" charset="-122"/>
                <a:cs typeface="Cambria" pitchFamily="34" charset="-120"/>
              </a:rPr>
              <a:t>1,646</a:t>
            </a:r>
            <a:endParaRPr lang="en-US" sz="5200" dirty="0"/>
          </a:p>
        </p:txBody>
      </p:sp>
      <p:sp>
        <p:nvSpPr>
          <p:cNvPr id="6" name="text-84"/>
          <p:cNvSpPr txBox="1"/>
          <p:nvPr/>
        </p:nvSpPr>
        <p:spPr>
          <a:xfrm>
            <a:off x="548640" y="2788920"/>
            <a:ext cx="3108960" cy="320040"/>
          </a:xfrm>
          <a:prstGeom prst="rect">
            <a:avLst/>
          </a:prstGeom>
          <a:noFill/>
          <a:ln/>
        </p:spPr>
        <p:txBody>
          <a:bodyPr wrap="square" lIns="0" tIns="0" rIns="0" bIns="0" rtlCol="0" anchor="t"/>
          <a:lstStyle/>
          <a:p>
            <a:pPr indent="0" marL="0">
              <a:buNone/>
            </a:pPr>
            <a:r>
              <a:rPr lang="en-US" sz="1500" dirty="0">
                <a:solidFill>
                  <a:schemeClr val="tx2"/>
                </a:solidFill>
              </a:rPr>
              <a:t>public posts reviewed</a:t>
            </a:r>
            <a:endParaRPr lang="en-US" sz="1500" dirty="0"/>
          </a:p>
        </p:txBody>
      </p:sp>
      <p:sp>
        <p:nvSpPr>
          <p:cNvPr id="7" name="text-85"/>
          <p:cNvSpPr txBox="1"/>
          <p:nvPr/>
        </p:nvSpPr>
        <p:spPr>
          <a:xfrm>
            <a:off x="548640" y="3291840"/>
            <a:ext cx="3108960" cy="777240"/>
          </a:xfrm>
          <a:prstGeom prst="rect">
            <a:avLst/>
          </a:prstGeom>
          <a:noFill/>
          <a:ln/>
        </p:spPr>
        <p:txBody>
          <a:bodyPr wrap="square" lIns="0" tIns="0" rIns="0" bIns="0" rtlCol="0" anchor="b"/>
          <a:lstStyle/>
          <a:p>
            <a:pPr indent="0" marL="0">
              <a:buNone/>
            </a:pPr>
            <a:r>
              <a:rPr lang="en-US" sz="5200" b="1" dirty="0">
                <a:solidFill>
                  <a:schemeClr val="accent1"/>
                </a:solidFill>
                <a:latin typeface="Cambria" pitchFamily="34" charset="0"/>
                <a:ea typeface="Cambria" pitchFamily="34" charset="-122"/>
                <a:cs typeface="Cambria" pitchFamily="34" charset="-120"/>
              </a:rPr>
              <a:t>707</a:t>
            </a:r>
            <a:endParaRPr lang="en-US" sz="5200" dirty="0"/>
          </a:p>
        </p:txBody>
      </p:sp>
      <p:sp>
        <p:nvSpPr>
          <p:cNvPr id="8" name="text-86"/>
          <p:cNvSpPr txBox="1"/>
          <p:nvPr/>
        </p:nvSpPr>
        <p:spPr>
          <a:xfrm>
            <a:off x="548640" y="4069080"/>
            <a:ext cx="3108960" cy="320040"/>
          </a:xfrm>
          <a:prstGeom prst="rect">
            <a:avLst/>
          </a:prstGeom>
          <a:noFill/>
          <a:ln/>
        </p:spPr>
        <p:txBody>
          <a:bodyPr wrap="square" lIns="0" tIns="0" rIns="0" bIns="0" rtlCol="0" anchor="t"/>
          <a:lstStyle/>
          <a:p>
            <a:pPr indent="0" marL="0">
              <a:buNone/>
            </a:pPr>
            <a:r>
              <a:rPr lang="en-US" sz="1500" dirty="0">
                <a:solidFill>
                  <a:schemeClr val="tx2"/>
                </a:solidFill>
              </a:rPr>
              <a:t>cases those posts cover</a:t>
            </a:r>
            <a:endParaRPr lang="en-US" sz="1500" dirty="0"/>
          </a:p>
        </p:txBody>
      </p:sp>
      <p:graphicFrame>
        <p:nvGraphicFramePr>
          <p:cNvPr id="9" name="runnable-chart-87" descr=""/>
          <p:cNvGraphicFramePr/>
          <p:nvPr/>
        </p:nvGraphicFramePr>
        <p:xfrm>
          <a:off x="3840480" y="1965960"/>
          <a:ext cx="4206240" cy="2651760"/>
        </p:xfrm>
        <a:graphic xmlns:a="http://schemas.openxmlformats.org/drawingml/2006/main">
          <a:graphicData uri="http://schemas.openxmlformats.org/drawingml/2006/chart">
            <c:chart xmlns:c="http://schemas.openxmlformats.org/drawingml/2006/chart" r:id="rId1"/>
          </a:graphicData>
        </a:graphic>
      </p:graphicFrame>
      <p:sp>
        <p:nvSpPr>
          <p:cNvPr id="10" name="panel-88"/>
          <p:cNvSpPr/>
          <p:nvPr/>
        </p:nvSpPr>
        <p:spPr>
          <a:xfrm>
            <a:off x="8412480" y="1965960"/>
            <a:ext cx="3227832" cy="2651760"/>
          </a:xfrm>
          <a:prstGeom prst="roundRect">
            <a:avLst>
              <a:gd name="adj" fmla="val 3448"/>
            </a:avLst>
          </a:prstGeom>
          <a:solidFill>
            <a:schemeClr val="bg1"/>
          </a:solidFill>
          <a:ln w="19050">
            <a:solidFill>
              <a:schemeClr val="accent5"/>
            </a:solidFill>
            <a:prstDash val="solid"/>
          </a:ln>
        </p:spPr>
      </p:sp>
      <p:pic>
        <p:nvPicPr>
          <p:cNvPr id="11" name="icon-x-89" descr="preencoded.png">    </p:cNvPr>
          <p:cNvPicPr>
            <a:picLocks noChangeAspect="1"/>
          </p:cNvPicPr>
          <p:nvPr/>
        </p:nvPicPr>
        <p:blipFill>
          <a:blip r:embed="rId2"/>
          <a:stretch>
            <a:fillRect/>
          </a:stretch>
        </p:blipFill>
        <p:spPr>
          <a:xfrm>
            <a:off x="8641080" y="2194560"/>
            <a:ext cx="411480" cy="411480"/>
          </a:xfrm>
          <a:prstGeom prst="rect">
            <a:avLst/>
          </a:prstGeom>
        </p:spPr>
      </p:pic>
      <p:sp>
        <p:nvSpPr>
          <p:cNvPr id="12" name="text-90"/>
          <p:cNvSpPr txBox="1"/>
          <p:nvPr/>
        </p:nvSpPr>
        <p:spPr>
          <a:xfrm>
            <a:off x="8641080" y="2697480"/>
            <a:ext cx="2834640" cy="1188720"/>
          </a:xfrm>
          <a:prstGeom prst="rect">
            <a:avLst/>
          </a:prstGeom>
          <a:noFill/>
          <a:ln/>
        </p:spPr>
        <p:txBody>
          <a:bodyPr wrap="square" lIns="0" tIns="0" rIns="0" bIns="0" rtlCol="0" anchor="t"/>
          <a:lstStyle/>
          <a:p>
            <a:pPr indent="0" marL="0">
              <a:buNone/>
            </a:pPr>
            <a:r>
              <a:rPr lang="en-US" sz="1800" b="1" dirty="0">
                <a:solidFill>
                  <a:schemeClr val="accent5"/>
                </a:solidFill>
              </a:rPr>
              <a:t>Tolerance and manufacturability: not tested on physical parts</a:t>
            </a:r>
            <a:endParaRPr lang="en-US" sz="1800" dirty="0"/>
          </a:p>
        </p:txBody>
      </p:sp>
      <p:sp>
        <p:nvSpPr>
          <p:cNvPr id="13" name="text-91"/>
          <p:cNvSpPr txBox="1"/>
          <p:nvPr/>
        </p:nvSpPr>
        <p:spPr>
          <a:xfrm>
            <a:off x="8641080" y="3794760"/>
            <a:ext cx="2834640" cy="548640"/>
          </a:xfrm>
          <a:prstGeom prst="rect">
            <a:avLst/>
          </a:prstGeom>
          <a:noFill/>
          <a:ln/>
        </p:spPr>
        <p:txBody>
          <a:bodyPr wrap="square" lIns="0" tIns="0" rIns="0" bIns="0" rtlCol="0" anchor="t"/>
          <a:lstStyle/>
          <a:p>
            <a:pPr indent="0" marL="0">
              <a:buNone/>
            </a:pPr>
            <a:r>
              <a:rPr lang="en-US" sz="1300" dirty="0">
                <a:solidFill>
                  <a:schemeClr val="tx2"/>
                </a:solidFill>
              </a:rPr>
              <a:t>in the CAD evidence MIT-CDFG summarizes</a:t>
            </a:r>
            <a:endParaRPr lang="en-US" sz="1300" dirty="0"/>
          </a:p>
        </p:txBody>
      </p:sp>
      <p:sp>
        <p:nvSpPr>
          <p:cNvPr id="14" name="text-92"/>
          <p:cNvSpPr txBox="1"/>
          <p:nvPr/>
        </p:nvSpPr>
        <p:spPr>
          <a:xfrm>
            <a:off x="548640" y="5029200"/>
            <a:ext cx="11094415" cy="457200"/>
          </a:xfrm>
          <a:prstGeom prst="rect">
            <a:avLst/>
          </a:prstGeom>
          <a:noFill/>
          <a:ln/>
        </p:spPr>
        <p:txBody>
          <a:bodyPr wrap="square" lIns="0" tIns="0" rIns="0" bIns="0" rtlCol="0" anchor="ctr"/>
          <a:lstStyle/>
          <a:p>
            <a:pPr indent="0" marL="0">
              <a:buNone/>
            </a:pPr>
            <a:r>
              <a:rPr lang="en-US" sz="1600" dirty="0">
                <a:solidFill>
                  <a:schemeClr val="tx1"/>
                </a:solidFill>
              </a:rPr>
              <a:t>MIT-CDFG says most listed capabilities are demonstrations rather than independent reproductions.</a:t>
            </a:r>
            <a:endParaRPr lang="en-US" sz="1600" dirty="0"/>
          </a:p>
        </p:txBody>
      </p:sp>
      <p:sp>
        <p:nvSpPr>
          <p:cNvPr id="15" name="text-93"/>
          <p:cNvSpPr txBox="1"/>
          <p:nvPr/>
        </p:nvSpPr>
        <p:spPr>
          <a:xfrm>
            <a:off x="548640" y="5998464"/>
            <a:ext cx="11094415" cy="310896"/>
          </a:xfrm>
          <a:prstGeom prst="rect">
            <a:avLst/>
          </a:prstGeom>
          <a:noFill/>
          <a:ln/>
        </p:spPr>
        <p:txBody>
          <a:bodyPr wrap="square" lIns="0" tIns="0" rIns="0" bIns="0" rtlCol="0" anchor="ctr"/>
          <a:lstStyle/>
          <a:p>
            <a:pPr indent="0" marL="0">
              <a:buNone/>
            </a:pPr>
            <a:r>
              <a:rPr lang="en-US" sz="1100" dirty="0">
                <a:solidFill>
                  <a:schemeClr val="tx2"/>
                </a:solidFill>
              </a:rPr>
              <a:t>Source: MIT-CDFG, “On the Opportunities and Risks of Frontier Models for 3D Modeling, Computational Design and Robotics,” Sept. 22, 2026</a:t>
            </a:r>
            <a:endParaRPr lang="en-US" sz="11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6</a:t>
            </a:fld>
            <a:endParaRPr lang="en-US"/>
          </a:p>
        </p:txBody>
      </p:sp>
    </p:spTree>
  </p:cSld>
  <p:clrMapOvr>
    <a:masterClrMapping/>
  </p:clrMapOvr>
  <p:transition spd="med" advClick="1" advTm="33050">
    <p:fade/>
  </p:transition>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4415" cy="777240"/>
          </a:xfrm>
          <a:prstGeom prst="rect">
            <a:avLst/>
          </a:prstGeom>
          <a:noFill/>
          <a:ln/>
        </p:spPr>
        <p:txBody>
          <a:bodyPr wrap="square" lIns="0" tIns="0" rIns="0" bIns="0" rtlCol="0" anchor="ctr"/>
          <a:lstStyle/>
          <a:p>
            <a:pPr algn="l" indent="0" marL="0">
              <a:buNone/>
            </a:pPr>
            <a:r>
              <a:rPr lang="en-US" sz="3200" b="1" dirty="0">
                <a:solidFill>
                  <a:schemeClr val="tx1"/>
                </a:solidFill>
              </a:rPr>
              <a:t>One score can hide different failures</a:t>
            </a:r>
            <a:endParaRPr lang="en-US" sz="3200" dirty="0"/>
          </a:p>
        </p:txBody>
      </p:sp>
      <p:sp>
        <p:nvSpPr>
          <p:cNvPr id="3" name="evidence-tag-94"/>
          <p:cNvSpPr txBox="1"/>
          <p:nvPr/>
        </p:nvSpPr>
        <p:spPr>
          <a:xfrm>
            <a:off x="548640" y="1463040"/>
            <a:ext cx="2264054" cy="256032"/>
          </a:xfrm>
          <a:prstGeom prst="roundRect">
            <a:avLst>
              <a:gd name="adj" fmla="val 46429"/>
            </a:avLst>
          </a:prstGeom>
          <a:solidFill>
            <a:schemeClr val="bg1"/>
          </a:solidFill>
          <a:ln w="15875">
            <a:solidFill>
              <a:schemeClr val="accent6"/>
            </a:solidFill>
            <a:prstDash val="dash"/>
          </a:ln>
        </p:spPr>
        <p:txBody>
          <a:bodyPr wrap="square" lIns="0" tIns="0" rIns="0" bIns="0" rtlCol="0" anchor="ctr"/>
          <a:lstStyle/>
          <a:p>
            <a:pPr algn="ctr" indent="0" marL="0">
              <a:buNone/>
            </a:pPr>
            <a:r>
              <a:rPr lang="en-US" sz="1000" b="1" spc="100" kern="0" dirty="0">
                <a:solidFill>
                  <a:schemeClr val="accent6"/>
                </a:solidFill>
              </a:rPr>
              <a:t>UNVERIFIED · TRANSCRIPT</a:t>
            </a:r>
            <a:endParaRPr lang="en-US" sz="1000" dirty="0"/>
          </a:p>
        </p:txBody>
      </p:sp>
      <p:sp>
        <p:nvSpPr>
          <p:cNvPr id="4" name="text-95"/>
          <p:cNvSpPr txBox="1"/>
          <p:nvPr/>
        </p:nvSpPr>
        <p:spPr>
          <a:xfrm>
            <a:off x="2949854" y="1435608"/>
            <a:ext cx="3999586" cy="310896"/>
          </a:xfrm>
          <a:prstGeom prst="rect">
            <a:avLst/>
          </a:prstGeom>
          <a:noFill/>
          <a:ln/>
        </p:spPr>
        <p:txBody>
          <a:bodyPr wrap="square" lIns="0" tIns="0" rIns="0" bIns="0" rtlCol="0" anchor="ctr"/>
          <a:lstStyle/>
          <a:p>
            <a:pPr indent="0" marL="0">
              <a:buNone/>
            </a:pPr>
            <a:r>
              <a:rPr lang="en-US" sz="1400" dirty="0">
                <a:solidFill>
                  <a:schemeClr val="tx2"/>
                </a:solidFill>
              </a:rPr>
              <a:t>Podcast source claims from automatic transcripts</a:t>
            </a:r>
            <a:endParaRPr lang="en-US" sz="1400" dirty="0"/>
          </a:p>
        </p:txBody>
      </p:sp>
      <p:sp>
        <p:nvSpPr>
          <p:cNvPr id="5" name="text-96"/>
          <p:cNvSpPr txBox="1"/>
          <p:nvPr/>
        </p:nvSpPr>
        <p:spPr>
          <a:xfrm>
            <a:off x="548640" y="1874520"/>
            <a:ext cx="5029200" cy="320040"/>
          </a:xfrm>
          <a:prstGeom prst="rect">
            <a:avLst/>
          </a:prstGeom>
          <a:noFill/>
          <a:ln/>
        </p:spPr>
        <p:txBody>
          <a:bodyPr wrap="square" lIns="0" tIns="0" rIns="0" bIns="0" rtlCol="0" anchor="t"/>
          <a:lstStyle/>
          <a:p>
            <a:pPr indent="0" marL="0">
              <a:buNone/>
            </a:pPr>
            <a:r>
              <a:rPr lang="en-US" sz="1500" b="1" dirty="0">
                <a:solidFill>
                  <a:schemeClr val="tx1"/>
                </a:solidFill>
              </a:rPr>
              <a:t>5 frontier models, 84 Robot World tasks</a:t>
            </a:r>
            <a:endParaRPr lang="en-US" sz="1500" dirty="0"/>
          </a:p>
        </p:txBody>
      </p:sp>
      <p:sp>
        <p:nvSpPr>
          <p:cNvPr id="6" name="task-97"/>
          <p:cNvSpPr/>
          <p:nvPr/>
        </p:nvSpPr>
        <p:spPr>
          <a:xfrm>
            <a:off x="548640" y="2286000"/>
            <a:ext cx="310896" cy="310896"/>
          </a:xfrm>
          <a:prstGeom prst="rect">
            <a:avLst/>
          </a:prstGeom>
          <a:solidFill>
            <a:schemeClr val="accent6"/>
          </a:solidFill>
          <a:ln w="15875">
            <a:solidFill>
              <a:schemeClr val="accent6"/>
            </a:solidFill>
            <a:prstDash val="solid"/>
          </a:ln>
        </p:spPr>
      </p:sp>
      <p:sp>
        <p:nvSpPr>
          <p:cNvPr id="7" name="task-98"/>
          <p:cNvSpPr/>
          <p:nvPr/>
        </p:nvSpPr>
        <p:spPr>
          <a:xfrm>
            <a:off x="941832" y="2286000"/>
            <a:ext cx="310896" cy="310896"/>
          </a:xfrm>
          <a:prstGeom prst="rect">
            <a:avLst/>
          </a:prstGeom>
          <a:solidFill>
            <a:schemeClr val="accent6"/>
          </a:solidFill>
          <a:ln w="15875">
            <a:solidFill>
              <a:schemeClr val="accent6"/>
            </a:solidFill>
            <a:prstDash val="solid"/>
          </a:ln>
        </p:spPr>
      </p:sp>
      <p:sp>
        <p:nvSpPr>
          <p:cNvPr id="8" name="task-99"/>
          <p:cNvSpPr/>
          <p:nvPr/>
        </p:nvSpPr>
        <p:spPr>
          <a:xfrm>
            <a:off x="1335024" y="2286000"/>
            <a:ext cx="310896" cy="310896"/>
          </a:xfrm>
          <a:prstGeom prst="rect">
            <a:avLst/>
          </a:prstGeom>
          <a:solidFill>
            <a:schemeClr val="accent6"/>
          </a:solidFill>
          <a:ln w="15875">
            <a:solidFill>
              <a:schemeClr val="accent6"/>
            </a:solidFill>
            <a:prstDash val="solid"/>
          </a:ln>
        </p:spPr>
      </p:sp>
      <p:sp>
        <p:nvSpPr>
          <p:cNvPr id="9" name="task-100"/>
          <p:cNvSpPr/>
          <p:nvPr/>
        </p:nvSpPr>
        <p:spPr>
          <a:xfrm>
            <a:off x="1728216" y="2286000"/>
            <a:ext cx="310896" cy="310896"/>
          </a:xfrm>
          <a:prstGeom prst="rect">
            <a:avLst/>
          </a:prstGeom>
          <a:solidFill>
            <a:schemeClr val="accent6"/>
          </a:solidFill>
          <a:ln w="15875">
            <a:solidFill>
              <a:schemeClr val="accent6"/>
            </a:solidFill>
            <a:prstDash val="solid"/>
          </a:ln>
        </p:spPr>
      </p:sp>
      <p:sp>
        <p:nvSpPr>
          <p:cNvPr id="10" name="task-101"/>
          <p:cNvSpPr/>
          <p:nvPr/>
        </p:nvSpPr>
        <p:spPr>
          <a:xfrm>
            <a:off x="2121408" y="2286000"/>
            <a:ext cx="310896" cy="310896"/>
          </a:xfrm>
          <a:prstGeom prst="rect">
            <a:avLst/>
          </a:prstGeom>
          <a:solidFill>
            <a:schemeClr val="accent6"/>
          </a:solidFill>
          <a:ln w="15875">
            <a:solidFill>
              <a:schemeClr val="accent6"/>
            </a:solidFill>
            <a:prstDash val="solid"/>
          </a:ln>
        </p:spPr>
      </p:sp>
      <p:sp>
        <p:nvSpPr>
          <p:cNvPr id="11" name="task-102"/>
          <p:cNvSpPr/>
          <p:nvPr/>
        </p:nvSpPr>
        <p:spPr>
          <a:xfrm>
            <a:off x="2514600" y="2286000"/>
            <a:ext cx="310896" cy="310896"/>
          </a:xfrm>
          <a:prstGeom prst="rect">
            <a:avLst/>
          </a:prstGeom>
          <a:solidFill>
            <a:schemeClr val="accent6"/>
          </a:solidFill>
          <a:ln w="15875">
            <a:solidFill>
              <a:schemeClr val="accent6"/>
            </a:solidFill>
            <a:prstDash val="solid"/>
          </a:ln>
        </p:spPr>
      </p:sp>
      <p:sp>
        <p:nvSpPr>
          <p:cNvPr id="12" name="task-103"/>
          <p:cNvSpPr/>
          <p:nvPr/>
        </p:nvSpPr>
        <p:spPr>
          <a:xfrm>
            <a:off x="2907792" y="2286000"/>
            <a:ext cx="310896" cy="310896"/>
          </a:xfrm>
          <a:prstGeom prst="rect">
            <a:avLst/>
          </a:prstGeom>
          <a:solidFill>
            <a:schemeClr val="accent6"/>
          </a:solidFill>
          <a:ln w="15875">
            <a:solidFill>
              <a:schemeClr val="accent6"/>
            </a:solidFill>
            <a:prstDash val="solid"/>
          </a:ln>
        </p:spPr>
      </p:sp>
      <p:sp>
        <p:nvSpPr>
          <p:cNvPr id="13" name="task-104"/>
          <p:cNvSpPr/>
          <p:nvPr/>
        </p:nvSpPr>
        <p:spPr>
          <a:xfrm>
            <a:off x="3300984" y="2286000"/>
            <a:ext cx="310896" cy="310896"/>
          </a:xfrm>
          <a:prstGeom prst="rect">
            <a:avLst/>
          </a:prstGeom>
          <a:solidFill>
            <a:schemeClr val="accent6"/>
          </a:solidFill>
          <a:ln w="15875">
            <a:solidFill>
              <a:schemeClr val="accent6"/>
            </a:solidFill>
            <a:prstDash val="solid"/>
          </a:ln>
        </p:spPr>
      </p:sp>
      <p:sp>
        <p:nvSpPr>
          <p:cNvPr id="14" name="task-105"/>
          <p:cNvSpPr/>
          <p:nvPr/>
        </p:nvSpPr>
        <p:spPr>
          <a:xfrm>
            <a:off x="3694176" y="2286000"/>
            <a:ext cx="310896" cy="310896"/>
          </a:xfrm>
          <a:prstGeom prst="rect">
            <a:avLst/>
          </a:prstGeom>
          <a:solidFill>
            <a:schemeClr val="accent6"/>
          </a:solidFill>
          <a:ln w="15875">
            <a:solidFill>
              <a:schemeClr val="accent6"/>
            </a:solidFill>
            <a:prstDash val="solid"/>
          </a:ln>
        </p:spPr>
      </p:sp>
      <p:sp>
        <p:nvSpPr>
          <p:cNvPr id="15" name="task-106"/>
          <p:cNvSpPr/>
          <p:nvPr/>
        </p:nvSpPr>
        <p:spPr>
          <a:xfrm>
            <a:off x="4087368" y="2286000"/>
            <a:ext cx="310896" cy="310896"/>
          </a:xfrm>
          <a:prstGeom prst="rect">
            <a:avLst/>
          </a:prstGeom>
          <a:solidFill>
            <a:schemeClr val="accent6"/>
          </a:solidFill>
          <a:ln w="15875">
            <a:solidFill>
              <a:schemeClr val="accent6"/>
            </a:solidFill>
            <a:prstDash val="solid"/>
          </a:ln>
        </p:spPr>
      </p:sp>
      <p:sp>
        <p:nvSpPr>
          <p:cNvPr id="16" name="task-107"/>
          <p:cNvSpPr/>
          <p:nvPr/>
        </p:nvSpPr>
        <p:spPr>
          <a:xfrm>
            <a:off x="4480560" y="2286000"/>
            <a:ext cx="310896" cy="310896"/>
          </a:xfrm>
          <a:prstGeom prst="rect">
            <a:avLst/>
          </a:prstGeom>
          <a:solidFill>
            <a:schemeClr val="accent6"/>
          </a:solidFill>
          <a:ln w="15875">
            <a:solidFill>
              <a:schemeClr val="accent6"/>
            </a:solidFill>
            <a:prstDash val="solid"/>
          </a:ln>
        </p:spPr>
      </p:sp>
      <p:sp>
        <p:nvSpPr>
          <p:cNvPr id="17" name="task-108"/>
          <p:cNvSpPr/>
          <p:nvPr/>
        </p:nvSpPr>
        <p:spPr>
          <a:xfrm>
            <a:off x="4873752" y="2286000"/>
            <a:ext cx="310896" cy="310896"/>
          </a:xfrm>
          <a:prstGeom prst="rect">
            <a:avLst/>
          </a:prstGeom>
          <a:solidFill>
            <a:schemeClr val="accent6"/>
          </a:solidFill>
          <a:ln w="15875">
            <a:solidFill>
              <a:schemeClr val="accent6"/>
            </a:solidFill>
            <a:prstDash val="solid"/>
          </a:ln>
        </p:spPr>
      </p:sp>
      <p:sp>
        <p:nvSpPr>
          <p:cNvPr id="18" name="task-109"/>
          <p:cNvSpPr/>
          <p:nvPr/>
        </p:nvSpPr>
        <p:spPr>
          <a:xfrm>
            <a:off x="548640" y="2679192"/>
            <a:ext cx="310896" cy="310896"/>
          </a:xfrm>
          <a:prstGeom prst="rect">
            <a:avLst/>
          </a:prstGeom>
          <a:solidFill>
            <a:schemeClr val="accent6"/>
          </a:solidFill>
          <a:ln w="15875">
            <a:solidFill>
              <a:schemeClr val="accent6"/>
            </a:solidFill>
            <a:prstDash val="solid"/>
          </a:ln>
        </p:spPr>
      </p:sp>
      <p:sp>
        <p:nvSpPr>
          <p:cNvPr id="19" name="task-110"/>
          <p:cNvSpPr/>
          <p:nvPr/>
        </p:nvSpPr>
        <p:spPr>
          <a:xfrm>
            <a:off x="941832" y="2679192"/>
            <a:ext cx="310896" cy="310896"/>
          </a:xfrm>
          <a:prstGeom prst="rect">
            <a:avLst/>
          </a:prstGeom>
          <a:solidFill>
            <a:schemeClr val="accent6"/>
          </a:solidFill>
          <a:ln w="15875">
            <a:solidFill>
              <a:schemeClr val="accent6"/>
            </a:solidFill>
            <a:prstDash val="solid"/>
          </a:ln>
        </p:spPr>
      </p:sp>
      <p:sp>
        <p:nvSpPr>
          <p:cNvPr id="20" name="task-111"/>
          <p:cNvSpPr/>
          <p:nvPr/>
        </p:nvSpPr>
        <p:spPr>
          <a:xfrm>
            <a:off x="1335024" y="2679192"/>
            <a:ext cx="310896" cy="310896"/>
          </a:xfrm>
          <a:prstGeom prst="rect">
            <a:avLst/>
          </a:prstGeom>
          <a:solidFill>
            <a:schemeClr val="accent6"/>
          </a:solidFill>
          <a:ln w="15875">
            <a:solidFill>
              <a:schemeClr val="accent6"/>
            </a:solidFill>
            <a:prstDash val="solid"/>
          </a:ln>
        </p:spPr>
      </p:sp>
      <p:sp>
        <p:nvSpPr>
          <p:cNvPr id="21" name="task-112"/>
          <p:cNvSpPr/>
          <p:nvPr/>
        </p:nvSpPr>
        <p:spPr>
          <a:xfrm>
            <a:off x="1728216" y="2679192"/>
            <a:ext cx="310896" cy="310896"/>
          </a:xfrm>
          <a:prstGeom prst="rect">
            <a:avLst/>
          </a:prstGeom>
          <a:solidFill>
            <a:schemeClr val="accent6"/>
          </a:solidFill>
          <a:ln w="15875">
            <a:solidFill>
              <a:schemeClr val="accent6"/>
            </a:solidFill>
            <a:prstDash val="solid"/>
          </a:ln>
        </p:spPr>
      </p:sp>
      <p:sp>
        <p:nvSpPr>
          <p:cNvPr id="22" name="task-113"/>
          <p:cNvSpPr/>
          <p:nvPr/>
        </p:nvSpPr>
        <p:spPr>
          <a:xfrm>
            <a:off x="2121408" y="2679192"/>
            <a:ext cx="310896" cy="310896"/>
          </a:xfrm>
          <a:prstGeom prst="rect">
            <a:avLst/>
          </a:prstGeom>
          <a:solidFill>
            <a:schemeClr val="accent6"/>
          </a:solidFill>
          <a:ln w="15875">
            <a:solidFill>
              <a:schemeClr val="accent6"/>
            </a:solidFill>
            <a:prstDash val="solid"/>
          </a:ln>
        </p:spPr>
      </p:sp>
      <p:sp>
        <p:nvSpPr>
          <p:cNvPr id="23" name="task-114"/>
          <p:cNvSpPr/>
          <p:nvPr/>
        </p:nvSpPr>
        <p:spPr>
          <a:xfrm>
            <a:off x="2514600" y="2679192"/>
            <a:ext cx="310896" cy="310896"/>
          </a:xfrm>
          <a:prstGeom prst="rect">
            <a:avLst/>
          </a:prstGeom>
          <a:solidFill>
            <a:schemeClr val="accent6"/>
          </a:solidFill>
          <a:ln w="15875">
            <a:solidFill>
              <a:schemeClr val="accent6"/>
            </a:solidFill>
            <a:prstDash val="solid"/>
          </a:ln>
        </p:spPr>
      </p:sp>
      <p:sp>
        <p:nvSpPr>
          <p:cNvPr id="24" name="task-115"/>
          <p:cNvSpPr/>
          <p:nvPr/>
        </p:nvSpPr>
        <p:spPr>
          <a:xfrm>
            <a:off x="2907792" y="2679192"/>
            <a:ext cx="310896" cy="310896"/>
          </a:xfrm>
          <a:prstGeom prst="rect">
            <a:avLst/>
          </a:prstGeom>
          <a:solidFill>
            <a:schemeClr val="accent6"/>
          </a:solidFill>
          <a:ln w="15875">
            <a:solidFill>
              <a:schemeClr val="accent6"/>
            </a:solidFill>
            <a:prstDash val="solid"/>
          </a:ln>
        </p:spPr>
      </p:sp>
      <p:sp>
        <p:nvSpPr>
          <p:cNvPr id="25" name="task-116"/>
          <p:cNvSpPr/>
          <p:nvPr/>
        </p:nvSpPr>
        <p:spPr>
          <a:xfrm>
            <a:off x="3300984" y="2679192"/>
            <a:ext cx="310896" cy="310896"/>
          </a:xfrm>
          <a:prstGeom prst="rect">
            <a:avLst/>
          </a:prstGeom>
          <a:solidFill>
            <a:schemeClr val="accent6"/>
          </a:solidFill>
          <a:ln w="15875">
            <a:solidFill>
              <a:schemeClr val="accent6"/>
            </a:solidFill>
            <a:prstDash val="solid"/>
          </a:ln>
        </p:spPr>
      </p:sp>
      <p:sp>
        <p:nvSpPr>
          <p:cNvPr id="26" name="task-117"/>
          <p:cNvSpPr/>
          <p:nvPr/>
        </p:nvSpPr>
        <p:spPr>
          <a:xfrm>
            <a:off x="3694176" y="2679192"/>
            <a:ext cx="310896" cy="310896"/>
          </a:xfrm>
          <a:prstGeom prst="rect">
            <a:avLst/>
          </a:prstGeom>
          <a:solidFill>
            <a:schemeClr val="accent6"/>
          </a:solidFill>
          <a:ln w="15875">
            <a:solidFill>
              <a:schemeClr val="accent6"/>
            </a:solidFill>
            <a:prstDash val="solid"/>
          </a:ln>
        </p:spPr>
      </p:sp>
      <p:sp>
        <p:nvSpPr>
          <p:cNvPr id="27" name="task-118"/>
          <p:cNvSpPr/>
          <p:nvPr/>
        </p:nvSpPr>
        <p:spPr>
          <a:xfrm>
            <a:off x="4087368" y="2679192"/>
            <a:ext cx="310896" cy="310896"/>
          </a:xfrm>
          <a:prstGeom prst="rect">
            <a:avLst/>
          </a:prstGeom>
          <a:solidFill>
            <a:schemeClr val="accent6"/>
          </a:solidFill>
          <a:ln w="15875">
            <a:solidFill>
              <a:schemeClr val="accent6"/>
            </a:solidFill>
            <a:prstDash val="solid"/>
          </a:ln>
        </p:spPr>
      </p:sp>
      <p:sp>
        <p:nvSpPr>
          <p:cNvPr id="28" name="task-119"/>
          <p:cNvSpPr/>
          <p:nvPr/>
        </p:nvSpPr>
        <p:spPr>
          <a:xfrm>
            <a:off x="4480560" y="2679192"/>
            <a:ext cx="310896" cy="310896"/>
          </a:xfrm>
          <a:prstGeom prst="rect">
            <a:avLst/>
          </a:prstGeom>
          <a:solidFill>
            <a:schemeClr val="accent6"/>
          </a:solidFill>
          <a:ln w="15875">
            <a:solidFill>
              <a:schemeClr val="accent6"/>
            </a:solidFill>
            <a:prstDash val="solid"/>
          </a:ln>
        </p:spPr>
      </p:sp>
      <p:sp>
        <p:nvSpPr>
          <p:cNvPr id="29" name="task-120"/>
          <p:cNvSpPr/>
          <p:nvPr/>
        </p:nvSpPr>
        <p:spPr>
          <a:xfrm>
            <a:off x="4873752" y="2679192"/>
            <a:ext cx="310896" cy="310896"/>
          </a:xfrm>
          <a:prstGeom prst="rect">
            <a:avLst/>
          </a:prstGeom>
          <a:solidFill>
            <a:schemeClr val="accent6"/>
          </a:solidFill>
          <a:ln w="15875">
            <a:solidFill>
              <a:schemeClr val="accent6"/>
            </a:solidFill>
            <a:prstDash val="solid"/>
          </a:ln>
        </p:spPr>
      </p:sp>
      <p:sp>
        <p:nvSpPr>
          <p:cNvPr id="30" name="task-121"/>
          <p:cNvSpPr/>
          <p:nvPr/>
        </p:nvSpPr>
        <p:spPr>
          <a:xfrm>
            <a:off x="548640" y="3072384"/>
            <a:ext cx="310896" cy="310896"/>
          </a:xfrm>
          <a:prstGeom prst="rect">
            <a:avLst/>
          </a:prstGeom>
          <a:solidFill>
            <a:schemeClr val="accent6"/>
          </a:solidFill>
          <a:ln w="15875">
            <a:solidFill>
              <a:schemeClr val="accent6"/>
            </a:solidFill>
            <a:prstDash val="solid"/>
          </a:ln>
        </p:spPr>
      </p:sp>
      <p:sp>
        <p:nvSpPr>
          <p:cNvPr id="31" name="task-122"/>
          <p:cNvSpPr/>
          <p:nvPr/>
        </p:nvSpPr>
        <p:spPr>
          <a:xfrm>
            <a:off x="941832" y="3072384"/>
            <a:ext cx="310896" cy="310896"/>
          </a:xfrm>
          <a:prstGeom prst="rect">
            <a:avLst/>
          </a:prstGeom>
          <a:solidFill>
            <a:schemeClr val="accent6"/>
          </a:solidFill>
          <a:ln w="15875">
            <a:solidFill>
              <a:schemeClr val="accent6"/>
            </a:solidFill>
            <a:prstDash val="solid"/>
          </a:ln>
        </p:spPr>
      </p:sp>
      <p:sp>
        <p:nvSpPr>
          <p:cNvPr id="32" name="task-123"/>
          <p:cNvSpPr/>
          <p:nvPr/>
        </p:nvSpPr>
        <p:spPr>
          <a:xfrm>
            <a:off x="1335024" y="3072384"/>
            <a:ext cx="310896" cy="310896"/>
          </a:xfrm>
          <a:prstGeom prst="rect">
            <a:avLst/>
          </a:prstGeom>
          <a:solidFill>
            <a:schemeClr val="accent6"/>
          </a:solidFill>
          <a:ln w="15875">
            <a:solidFill>
              <a:schemeClr val="accent6"/>
            </a:solidFill>
            <a:prstDash val="solid"/>
          </a:ln>
        </p:spPr>
      </p:sp>
      <p:sp>
        <p:nvSpPr>
          <p:cNvPr id="33" name="task-124"/>
          <p:cNvSpPr/>
          <p:nvPr/>
        </p:nvSpPr>
        <p:spPr>
          <a:xfrm>
            <a:off x="1728216" y="3072384"/>
            <a:ext cx="310896" cy="310896"/>
          </a:xfrm>
          <a:prstGeom prst="rect">
            <a:avLst/>
          </a:prstGeom>
          <a:solidFill>
            <a:schemeClr val="accent6"/>
          </a:solidFill>
          <a:ln w="15875">
            <a:solidFill>
              <a:schemeClr val="accent6"/>
            </a:solidFill>
            <a:prstDash val="solid"/>
          </a:ln>
        </p:spPr>
      </p:sp>
      <p:sp>
        <p:nvSpPr>
          <p:cNvPr id="34" name="task-125"/>
          <p:cNvSpPr/>
          <p:nvPr/>
        </p:nvSpPr>
        <p:spPr>
          <a:xfrm>
            <a:off x="2121408" y="3072384"/>
            <a:ext cx="310896" cy="310896"/>
          </a:xfrm>
          <a:prstGeom prst="rect">
            <a:avLst/>
          </a:prstGeom>
          <a:solidFill>
            <a:schemeClr val="accent6"/>
          </a:solidFill>
          <a:ln w="15875">
            <a:solidFill>
              <a:schemeClr val="accent6"/>
            </a:solidFill>
            <a:prstDash val="solid"/>
          </a:ln>
        </p:spPr>
      </p:sp>
      <p:sp>
        <p:nvSpPr>
          <p:cNvPr id="35" name="task-126"/>
          <p:cNvSpPr/>
          <p:nvPr/>
        </p:nvSpPr>
        <p:spPr>
          <a:xfrm>
            <a:off x="2514600" y="3072384"/>
            <a:ext cx="310896" cy="310896"/>
          </a:xfrm>
          <a:prstGeom prst="rect">
            <a:avLst/>
          </a:prstGeom>
          <a:solidFill>
            <a:schemeClr val="accent6"/>
          </a:solidFill>
          <a:ln w="15875">
            <a:solidFill>
              <a:schemeClr val="accent6"/>
            </a:solidFill>
            <a:prstDash val="solid"/>
          </a:ln>
        </p:spPr>
      </p:sp>
      <p:sp>
        <p:nvSpPr>
          <p:cNvPr id="36" name="task-127"/>
          <p:cNvSpPr/>
          <p:nvPr/>
        </p:nvSpPr>
        <p:spPr>
          <a:xfrm>
            <a:off x="2907792" y="3072384"/>
            <a:ext cx="310896" cy="310896"/>
          </a:xfrm>
          <a:prstGeom prst="rect">
            <a:avLst/>
          </a:prstGeom>
          <a:solidFill>
            <a:schemeClr val="accent6"/>
          </a:solidFill>
          <a:ln w="15875">
            <a:solidFill>
              <a:schemeClr val="accent6"/>
            </a:solidFill>
            <a:prstDash val="solid"/>
          </a:ln>
        </p:spPr>
      </p:sp>
      <p:sp>
        <p:nvSpPr>
          <p:cNvPr id="37" name="task-128"/>
          <p:cNvSpPr/>
          <p:nvPr/>
        </p:nvSpPr>
        <p:spPr>
          <a:xfrm>
            <a:off x="3300984" y="3072384"/>
            <a:ext cx="310896" cy="310896"/>
          </a:xfrm>
          <a:prstGeom prst="rect">
            <a:avLst/>
          </a:prstGeom>
          <a:solidFill>
            <a:schemeClr val="accent6"/>
          </a:solidFill>
          <a:ln w="15875">
            <a:solidFill>
              <a:schemeClr val="accent6"/>
            </a:solidFill>
            <a:prstDash val="solid"/>
          </a:ln>
        </p:spPr>
      </p:sp>
      <p:sp>
        <p:nvSpPr>
          <p:cNvPr id="38" name="task-129"/>
          <p:cNvSpPr/>
          <p:nvPr/>
        </p:nvSpPr>
        <p:spPr>
          <a:xfrm>
            <a:off x="3694176" y="3072384"/>
            <a:ext cx="310896" cy="310896"/>
          </a:xfrm>
          <a:prstGeom prst="rect">
            <a:avLst/>
          </a:prstGeom>
          <a:solidFill>
            <a:schemeClr val="accent6"/>
          </a:solidFill>
          <a:ln w="15875">
            <a:solidFill>
              <a:schemeClr val="accent6"/>
            </a:solidFill>
            <a:prstDash val="solid"/>
          </a:ln>
        </p:spPr>
      </p:sp>
      <p:sp>
        <p:nvSpPr>
          <p:cNvPr id="39" name="task-130"/>
          <p:cNvSpPr/>
          <p:nvPr/>
        </p:nvSpPr>
        <p:spPr>
          <a:xfrm>
            <a:off x="4087368" y="3072384"/>
            <a:ext cx="310896" cy="310896"/>
          </a:xfrm>
          <a:prstGeom prst="rect">
            <a:avLst/>
          </a:prstGeom>
          <a:solidFill>
            <a:schemeClr val="accent6"/>
          </a:solidFill>
          <a:ln w="15875">
            <a:solidFill>
              <a:schemeClr val="accent6"/>
            </a:solidFill>
            <a:prstDash val="solid"/>
          </a:ln>
        </p:spPr>
      </p:sp>
      <p:sp>
        <p:nvSpPr>
          <p:cNvPr id="40" name="task-131"/>
          <p:cNvSpPr/>
          <p:nvPr/>
        </p:nvSpPr>
        <p:spPr>
          <a:xfrm>
            <a:off x="4480560" y="3072384"/>
            <a:ext cx="310896" cy="310896"/>
          </a:xfrm>
          <a:prstGeom prst="rect">
            <a:avLst/>
          </a:prstGeom>
          <a:solidFill>
            <a:schemeClr val="accent6"/>
          </a:solidFill>
          <a:ln w="15875">
            <a:solidFill>
              <a:schemeClr val="accent6"/>
            </a:solidFill>
            <a:prstDash val="solid"/>
          </a:ln>
        </p:spPr>
      </p:sp>
      <p:sp>
        <p:nvSpPr>
          <p:cNvPr id="41" name="task-132"/>
          <p:cNvSpPr/>
          <p:nvPr/>
        </p:nvSpPr>
        <p:spPr>
          <a:xfrm>
            <a:off x="4873752" y="3072384"/>
            <a:ext cx="310896" cy="310896"/>
          </a:xfrm>
          <a:prstGeom prst="rect">
            <a:avLst/>
          </a:prstGeom>
          <a:solidFill>
            <a:schemeClr val="accent6"/>
          </a:solidFill>
          <a:ln w="15875">
            <a:solidFill>
              <a:schemeClr val="accent6"/>
            </a:solidFill>
            <a:prstDash val="solid"/>
          </a:ln>
        </p:spPr>
      </p:sp>
      <p:sp>
        <p:nvSpPr>
          <p:cNvPr id="42" name="task-133"/>
          <p:cNvSpPr/>
          <p:nvPr/>
        </p:nvSpPr>
        <p:spPr>
          <a:xfrm>
            <a:off x="548640" y="3465576"/>
            <a:ext cx="310896" cy="310896"/>
          </a:xfrm>
          <a:prstGeom prst="rect">
            <a:avLst/>
          </a:prstGeom>
          <a:solidFill>
            <a:schemeClr val="accent6"/>
          </a:solidFill>
          <a:ln w="15875">
            <a:solidFill>
              <a:schemeClr val="accent6"/>
            </a:solidFill>
            <a:prstDash val="solid"/>
          </a:ln>
        </p:spPr>
      </p:sp>
      <p:sp>
        <p:nvSpPr>
          <p:cNvPr id="43" name="task-134"/>
          <p:cNvSpPr/>
          <p:nvPr/>
        </p:nvSpPr>
        <p:spPr>
          <a:xfrm>
            <a:off x="941832" y="3465576"/>
            <a:ext cx="310896" cy="310896"/>
          </a:xfrm>
          <a:prstGeom prst="rect">
            <a:avLst/>
          </a:prstGeom>
          <a:solidFill>
            <a:schemeClr val="accent6"/>
          </a:solidFill>
          <a:ln w="15875">
            <a:solidFill>
              <a:schemeClr val="accent6"/>
            </a:solidFill>
            <a:prstDash val="solid"/>
          </a:ln>
        </p:spPr>
      </p:sp>
      <p:sp>
        <p:nvSpPr>
          <p:cNvPr id="44" name="task-135"/>
          <p:cNvSpPr/>
          <p:nvPr/>
        </p:nvSpPr>
        <p:spPr>
          <a:xfrm>
            <a:off x="1335024" y="3465576"/>
            <a:ext cx="310896" cy="310896"/>
          </a:xfrm>
          <a:prstGeom prst="rect">
            <a:avLst/>
          </a:prstGeom>
          <a:solidFill>
            <a:schemeClr val="accent6"/>
          </a:solidFill>
          <a:ln w="15875">
            <a:solidFill>
              <a:schemeClr val="accent6"/>
            </a:solidFill>
            <a:prstDash val="solid"/>
          </a:ln>
        </p:spPr>
      </p:sp>
      <p:sp>
        <p:nvSpPr>
          <p:cNvPr id="45" name="task-136"/>
          <p:cNvSpPr/>
          <p:nvPr/>
        </p:nvSpPr>
        <p:spPr>
          <a:xfrm>
            <a:off x="1728216" y="3465576"/>
            <a:ext cx="310896" cy="310896"/>
          </a:xfrm>
          <a:prstGeom prst="rect">
            <a:avLst/>
          </a:prstGeom>
          <a:solidFill>
            <a:schemeClr val="accent6"/>
          </a:solidFill>
          <a:ln w="15875">
            <a:solidFill>
              <a:schemeClr val="accent6"/>
            </a:solidFill>
            <a:prstDash val="solid"/>
          </a:ln>
        </p:spPr>
      </p:sp>
      <p:sp>
        <p:nvSpPr>
          <p:cNvPr id="46" name="task-137"/>
          <p:cNvSpPr/>
          <p:nvPr/>
        </p:nvSpPr>
        <p:spPr>
          <a:xfrm>
            <a:off x="2121408" y="3465576"/>
            <a:ext cx="310896" cy="310896"/>
          </a:xfrm>
          <a:prstGeom prst="rect">
            <a:avLst/>
          </a:prstGeom>
          <a:solidFill>
            <a:schemeClr val="accent6"/>
          </a:solidFill>
          <a:ln w="15875">
            <a:solidFill>
              <a:schemeClr val="accent6"/>
            </a:solidFill>
            <a:prstDash val="solid"/>
          </a:ln>
        </p:spPr>
      </p:sp>
      <p:sp>
        <p:nvSpPr>
          <p:cNvPr id="47" name="task-138"/>
          <p:cNvSpPr/>
          <p:nvPr/>
        </p:nvSpPr>
        <p:spPr>
          <a:xfrm>
            <a:off x="2514600" y="3465576"/>
            <a:ext cx="310896" cy="310896"/>
          </a:xfrm>
          <a:prstGeom prst="rect">
            <a:avLst/>
          </a:prstGeom>
          <a:solidFill>
            <a:schemeClr val="accent6"/>
          </a:solidFill>
          <a:ln w="15875">
            <a:solidFill>
              <a:schemeClr val="accent6"/>
            </a:solidFill>
            <a:prstDash val="solid"/>
          </a:ln>
        </p:spPr>
      </p:sp>
      <p:sp>
        <p:nvSpPr>
          <p:cNvPr id="48" name="task-139"/>
          <p:cNvSpPr/>
          <p:nvPr/>
        </p:nvSpPr>
        <p:spPr>
          <a:xfrm>
            <a:off x="2907792" y="3465576"/>
            <a:ext cx="310896" cy="310896"/>
          </a:xfrm>
          <a:prstGeom prst="rect">
            <a:avLst/>
          </a:prstGeom>
          <a:solidFill>
            <a:schemeClr val="accent6"/>
          </a:solidFill>
          <a:ln w="15875">
            <a:solidFill>
              <a:schemeClr val="accent6"/>
            </a:solidFill>
            <a:prstDash val="solid"/>
          </a:ln>
        </p:spPr>
      </p:sp>
      <p:sp>
        <p:nvSpPr>
          <p:cNvPr id="49" name="task-140"/>
          <p:cNvSpPr/>
          <p:nvPr/>
        </p:nvSpPr>
        <p:spPr>
          <a:xfrm>
            <a:off x="3300984" y="3465576"/>
            <a:ext cx="310896" cy="310896"/>
          </a:xfrm>
          <a:prstGeom prst="rect">
            <a:avLst/>
          </a:prstGeom>
          <a:solidFill>
            <a:schemeClr val="accent6"/>
          </a:solidFill>
          <a:ln w="15875">
            <a:solidFill>
              <a:schemeClr val="accent6"/>
            </a:solidFill>
            <a:prstDash val="solid"/>
          </a:ln>
        </p:spPr>
      </p:sp>
      <p:sp>
        <p:nvSpPr>
          <p:cNvPr id="50" name="task-141"/>
          <p:cNvSpPr/>
          <p:nvPr/>
        </p:nvSpPr>
        <p:spPr>
          <a:xfrm>
            <a:off x="3694176" y="3465576"/>
            <a:ext cx="310896" cy="310896"/>
          </a:xfrm>
          <a:prstGeom prst="rect">
            <a:avLst/>
          </a:prstGeom>
          <a:solidFill>
            <a:schemeClr val="accent6"/>
          </a:solidFill>
          <a:ln w="15875">
            <a:solidFill>
              <a:schemeClr val="accent6"/>
            </a:solidFill>
            <a:prstDash val="solid"/>
          </a:ln>
        </p:spPr>
      </p:sp>
      <p:sp>
        <p:nvSpPr>
          <p:cNvPr id="51" name="task-142"/>
          <p:cNvSpPr/>
          <p:nvPr/>
        </p:nvSpPr>
        <p:spPr>
          <a:xfrm>
            <a:off x="4087368" y="3465576"/>
            <a:ext cx="310896" cy="310896"/>
          </a:xfrm>
          <a:prstGeom prst="rect">
            <a:avLst/>
          </a:prstGeom>
          <a:solidFill>
            <a:schemeClr val="accent6"/>
          </a:solidFill>
          <a:ln w="15875">
            <a:solidFill>
              <a:schemeClr val="accent6"/>
            </a:solidFill>
            <a:prstDash val="solid"/>
          </a:ln>
        </p:spPr>
      </p:sp>
      <p:sp>
        <p:nvSpPr>
          <p:cNvPr id="52" name="task-143"/>
          <p:cNvSpPr/>
          <p:nvPr/>
        </p:nvSpPr>
        <p:spPr>
          <a:xfrm>
            <a:off x="4480560" y="3465576"/>
            <a:ext cx="310896" cy="310896"/>
          </a:xfrm>
          <a:prstGeom prst="rect">
            <a:avLst/>
          </a:prstGeom>
          <a:solidFill>
            <a:schemeClr val="accent6"/>
          </a:solidFill>
          <a:ln w="15875">
            <a:solidFill>
              <a:schemeClr val="accent6"/>
            </a:solidFill>
            <a:prstDash val="solid"/>
          </a:ln>
        </p:spPr>
      </p:sp>
      <p:sp>
        <p:nvSpPr>
          <p:cNvPr id="53" name="task-144"/>
          <p:cNvSpPr/>
          <p:nvPr/>
        </p:nvSpPr>
        <p:spPr>
          <a:xfrm>
            <a:off x="4873752" y="3465576"/>
            <a:ext cx="310896" cy="310896"/>
          </a:xfrm>
          <a:prstGeom prst="rect">
            <a:avLst/>
          </a:prstGeom>
          <a:solidFill>
            <a:schemeClr val="accent6"/>
          </a:solidFill>
          <a:ln w="15875">
            <a:solidFill>
              <a:schemeClr val="accent6"/>
            </a:solidFill>
            <a:prstDash val="solid"/>
          </a:ln>
        </p:spPr>
      </p:sp>
      <p:sp>
        <p:nvSpPr>
          <p:cNvPr id="54" name="task-145"/>
          <p:cNvSpPr/>
          <p:nvPr/>
        </p:nvSpPr>
        <p:spPr>
          <a:xfrm>
            <a:off x="548640" y="3858768"/>
            <a:ext cx="310896" cy="310896"/>
          </a:xfrm>
          <a:prstGeom prst="rect">
            <a:avLst/>
          </a:prstGeom>
          <a:solidFill>
            <a:schemeClr val="accent6"/>
          </a:solidFill>
          <a:ln w="15875">
            <a:solidFill>
              <a:schemeClr val="accent6"/>
            </a:solidFill>
            <a:prstDash val="solid"/>
          </a:ln>
        </p:spPr>
      </p:sp>
      <p:sp>
        <p:nvSpPr>
          <p:cNvPr id="55" name="task-146"/>
          <p:cNvSpPr/>
          <p:nvPr/>
        </p:nvSpPr>
        <p:spPr>
          <a:xfrm>
            <a:off x="941832" y="3858768"/>
            <a:ext cx="310896" cy="310896"/>
          </a:xfrm>
          <a:prstGeom prst="rect">
            <a:avLst/>
          </a:prstGeom>
          <a:solidFill>
            <a:schemeClr val="accent6"/>
          </a:solidFill>
          <a:ln w="15875">
            <a:solidFill>
              <a:schemeClr val="accent6"/>
            </a:solidFill>
            <a:prstDash val="solid"/>
          </a:ln>
        </p:spPr>
      </p:sp>
      <p:sp>
        <p:nvSpPr>
          <p:cNvPr id="56" name="task-147"/>
          <p:cNvSpPr/>
          <p:nvPr/>
        </p:nvSpPr>
        <p:spPr>
          <a:xfrm>
            <a:off x="1335024" y="3858768"/>
            <a:ext cx="310896" cy="310896"/>
          </a:xfrm>
          <a:prstGeom prst="rect">
            <a:avLst/>
          </a:prstGeom>
          <a:solidFill>
            <a:schemeClr val="accent6"/>
          </a:solidFill>
          <a:ln w="15875">
            <a:solidFill>
              <a:schemeClr val="accent6"/>
            </a:solidFill>
            <a:prstDash val="solid"/>
          </a:ln>
        </p:spPr>
      </p:sp>
      <p:sp>
        <p:nvSpPr>
          <p:cNvPr id="57" name="task-148"/>
          <p:cNvSpPr/>
          <p:nvPr/>
        </p:nvSpPr>
        <p:spPr>
          <a:xfrm>
            <a:off x="1728216" y="3858768"/>
            <a:ext cx="310896" cy="310896"/>
          </a:xfrm>
          <a:prstGeom prst="rect">
            <a:avLst/>
          </a:prstGeom>
          <a:solidFill>
            <a:schemeClr val="accent6"/>
          </a:solidFill>
          <a:ln w="15875">
            <a:solidFill>
              <a:schemeClr val="accent6"/>
            </a:solidFill>
            <a:prstDash val="solid"/>
          </a:ln>
        </p:spPr>
      </p:sp>
      <p:sp>
        <p:nvSpPr>
          <p:cNvPr id="58" name="task-149"/>
          <p:cNvSpPr/>
          <p:nvPr/>
        </p:nvSpPr>
        <p:spPr>
          <a:xfrm>
            <a:off x="2121408" y="3858768"/>
            <a:ext cx="310896" cy="310896"/>
          </a:xfrm>
          <a:prstGeom prst="rect">
            <a:avLst/>
          </a:prstGeom>
          <a:solidFill>
            <a:schemeClr val="accent6"/>
          </a:solidFill>
          <a:ln w="15875">
            <a:solidFill>
              <a:schemeClr val="accent6"/>
            </a:solidFill>
            <a:prstDash val="solid"/>
          </a:ln>
        </p:spPr>
      </p:sp>
      <p:sp>
        <p:nvSpPr>
          <p:cNvPr id="59" name="task-150"/>
          <p:cNvSpPr/>
          <p:nvPr/>
        </p:nvSpPr>
        <p:spPr>
          <a:xfrm>
            <a:off x="2514600" y="3858768"/>
            <a:ext cx="310896" cy="310896"/>
          </a:xfrm>
          <a:prstGeom prst="rect">
            <a:avLst/>
          </a:prstGeom>
          <a:solidFill>
            <a:schemeClr val="accent6"/>
          </a:solidFill>
          <a:ln w="15875">
            <a:solidFill>
              <a:schemeClr val="accent6"/>
            </a:solidFill>
            <a:prstDash val="solid"/>
          </a:ln>
        </p:spPr>
      </p:sp>
      <p:sp>
        <p:nvSpPr>
          <p:cNvPr id="60" name="task-151"/>
          <p:cNvSpPr/>
          <p:nvPr/>
        </p:nvSpPr>
        <p:spPr>
          <a:xfrm>
            <a:off x="2907792" y="3858768"/>
            <a:ext cx="310896" cy="310896"/>
          </a:xfrm>
          <a:prstGeom prst="rect">
            <a:avLst/>
          </a:prstGeom>
          <a:solidFill>
            <a:schemeClr val="accent6"/>
          </a:solidFill>
          <a:ln w="15875">
            <a:solidFill>
              <a:schemeClr val="accent6"/>
            </a:solidFill>
            <a:prstDash val="solid"/>
          </a:ln>
        </p:spPr>
      </p:sp>
      <p:sp>
        <p:nvSpPr>
          <p:cNvPr id="61" name="task-152"/>
          <p:cNvSpPr/>
          <p:nvPr/>
        </p:nvSpPr>
        <p:spPr>
          <a:xfrm>
            <a:off x="3300984" y="3858768"/>
            <a:ext cx="310896" cy="310896"/>
          </a:xfrm>
          <a:prstGeom prst="rect">
            <a:avLst/>
          </a:prstGeom>
          <a:solidFill>
            <a:schemeClr val="accent6"/>
          </a:solidFill>
          <a:ln w="15875">
            <a:solidFill>
              <a:schemeClr val="accent6"/>
            </a:solidFill>
            <a:prstDash val="solid"/>
          </a:ln>
        </p:spPr>
      </p:sp>
      <p:sp>
        <p:nvSpPr>
          <p:cNvPr id="62" name="task-153"/>
          <p:cNvSpPr/>
          <p:nvPr/>
        </p:nvSpPr>
        <p:spPr>
          <a:xfrm>
            <a:off x="3694176" y="3858768"/>
            <a:ext cx="310896" cy="310896"/>
          </a:xfrm>
          <a:prstGeom prst="rect">
            <a:avLst/>
          </a:prstGeom>
          <a:solidFill>
            <a:schemeClr val="accent6"/>
          </a:solidFill>
          <a:ln w="15875">
            <a:solidFill>
              <a:schemeClr val="accent6"/>
            </a:solidFill>
            <a:prstDash val="solid"/>
          </a:ln>
        </p:spPr>
      </p:sp>
      <p:sp>
        <p:nvSpPr>
          <p:cNvPr id="63" name="task-154"/>
          <p:cNvSpPr/>
          <p:nvPr/>
        </p:nvSpPr>
        <p:spPr>
          <a:xfrm>
            <a:off x="4087368" y="3858768"/>
            <a:ext cx="310896" cy="310896"/>
          </a:xfrm>
          <a:prstGeom prst="rect">
            <a:avLst/>
          </a:prstGeom>
          <a:solidFill>
            <a:schemeClr val="accent6"/>
          </a:solidFill>
          <a:ln w="15875">
            <a:solidFill>
              <a:schemeClr val="accent6"/>
            </a:solidFill>
            <a:prstDash val="solid"/>
          </a:ln>
        </p:spPr>
      </p:sp>
      <p:sp>
        <p:nvSpPr>
          <p:cNvPr id="64" name="task-155"/>
          <p:cNvSpPr/>
          <p:nvPr/>
        </p:nvSpPr>
        <p:spPr>
          <a:xfrm>
            <a:off x="4480560" y="3858768"/>
            <a:ext cx="310896" cy="310896"/>
          </a:xfrm>
          <a:prstGeom prst="rect">
            <a:avLst/>
          </a:prstGeom>
          <a:solidFill>
            <a:schemeClr val="accent6"/>
          </a:solidFill>
          <a:ln w="15875">
            <a:solidFill>
              <a:schemeClr val="accent6"/>
            </a:solidFill>
            <a:prstDash val="solid"/>
          </a:ln>
        </p:spPr>
      </p:sp>
      <p:sp>
        <p:nvSpPr>
          <p:cNvPr id="65" name="task-156"/>
          <p:cNvSpPr/>
          <p:nvPr/>
        </p:nvSpPr>
        <p:spPr>
          <a:xfrm>
            <a:off x="4873752" y="3858768"/>
            <a:ext cx="310896" cy="310896"/>
          </a:xfrm>
          <a:prstGeom prst="rect">
            <a:avLst/>
          </a:prstGeom>
          <a:solidFill>
            <a:schemeClr val="accent6"/>
          </a:solidFill>
          <a:ln w="15875">
            <a:solidFill>
              <a:schemeClr val="accent6"/>
            </a:solidFill>
            <a:prstDash val="solid"/>
          </a:ln>
        </p:spPr>
      </p:sp>
      <p:sp>
        <p:nvSpPr>
          <p:cNvPr id="66" name="task-157"/>
          <p:cNvSpPr/>
          <p:nvPr/>
        </p:nvSpPr>
        <p:spPr>
          <a:xfrm>
            <a:off x="548640" y="4251960"/>
            <a:ext cx="310896" cy="310896"/>
          </a:xfrm>
          <a:prstGeom prst="rect">
            <a:avLst/>
          </a:prstGeom>
          <a:solidFill>
            <a:schemeClr val="accent6"/>
          </a:solidFill>
          <a:ln w="15875">
            <a:solidFill>
              <a:schemeClr val="accent6"/>
            </a:solidFill>
            <a:prstDash val="solid"/>
          </a:ln>
        </p:spPr>
      </p:sp>
      <p:sp>
        <p:nvSpPr>
          <p:cNvPr id="67" name="task-158"/>
          <p:cNvSpPr/>
          <p:nvPr/>
        </p:nvSpPr>
        <p:spPr>
          <a:xfrm>
            <a:off x="941832" y="4251960"/>
            <a:ext cx="310896" cy="310896"/>
          </a:xfrm>
          <a:prstGeom prst="rect">
            <a:avLst/>
          </a:prstGeom>
          <a:solidFill>
            <a:schemeClr val="accent6"/>
          </a:solidFill>
          <a:ln w="15875">
            <a:solidFill>
              <a:schemeClr val="accent6"/>
            </a:solidFill>
            <a:prstDash val="solid"/>
          </a:ln>
        </p:spPr>
      </p:sp>
      <p:sp>
        <p:nvSpPr>
          <p:cNvPr id="68" name="task-159"/>
          <p:cNvSpPr/>
          <p:nvPr/>
        </p:nvSpPr>
        <p:spPr>
          <a:xfrm>
            <a:off x="1335024" y="4251960"/>
            <a:ext cx="310896" cy="310896"/>
          </a:xfrm>
          <a:prstGeom prst="rect">
            <a:avLst/>
          </a:prstGeom>
          <a:solidFill>
            <a:schemeClr val="accent6"/>
          </a:solidFill>
          <a:ln w="15875">
            <a:solidFill>
              <a:schemeClr val="accent6"/>
            </a:solidFill>
            <a:prstDash val="solid"/>
          </a:ln>
        </p:spPr>
      </p:sp>
      <p:sp>
        <p:nvSpPr>
          <p:cNvPr id="69" name="task-160"/>
          <p:cNvSpPr/>
          <p:nvPr/>
        </p:nvSpPr>
        <p:spPr>
          <a:xfrm>
            <a:off x="1728216" y="4251960"/>
            <a:ext cx="310896" cy="310896"/>
          </a:xfrm>
          <a:prstGeom prst="rect">
            <a:avLst/>
          </a:prstGeom>
          <a:solidFill>
            <a:schemeClr val="bg1"/>
          </a:solidFill>
          <a:ln w="15875">
            <a:solidFill>
              <a:schemeClr val="accent1"/>
            </a:solidFill>
            <a:prstDash val="solid"/>
          </a:ln>
        </p:spPr>
      </p:sp>
      <p:sp>
        <p:nvSpPr>
          <p:cNvPr id="70" name="task-161"/>
          <p:cNvSpPr/>
          <p:nvPr/>
        </p:nvSpPr>
        <p:spPr>
          <a:xfrm>
            <a:off x="2121408" y="4251960"/>
            <a:ext cx="310896" cy="310896"/>
          </a:xfrm>
          <a:prstGeom prst="rect">
            <a:avLst/>
          </a:prstGeom>
          <a:solidFill>
            <a:schemeClr val="bg1"/>
          </a:solidFill>
          <a:ln w="15875">
            <a:solidFill>
              <a:schemeClr val="accent1"/>
            </a:solidFill>
            <a:prstDash val="solid"/>
          </a:ln>
        </p:spPr>
      </p:sp>
      <p:sp>
        <p:nvSpPr>
          <p:cNvPr id="71" name="task-162"/>
          <p:cNvSpPr/>
          <p:nvPr/>
        </p:nvSpPr>
        <p:spPr>
          <a:xfrm>
            <a:off x="2514600" y="4251960"/>
            <a:ext cx="310896" cy="310896"/>
          </a:xfrm>
          <a:prstGeom prst="rect">
            <a:avLst/>
          </a:prstGeom>
          <a:solidFill>
            <a:schemeClr val="bg1"/>
          </a:solidFill>
          <a:ln w="15875">
            <a:solidFill>
              <a:schemeClr val="accent1"/>
            </a:solidFill>
            <a:prstDash val="solid"/>
          </a:ln>
        </p:spPr>
      </p:sp>
      <p:sp>
        <p:nvSpPr>
          <p:cNvPr id="72" name="task-163"/>
          <p:cNvSpPr/>
          <p:nvPr/>
        </p:nvSpPr>
        <p:spPr>
          <a:xfrm>
            <a:off x="2907792" y="4251960"/>
            <a:ext cx="310896" cy="310896"/>
          </a:xfrm>
          <a:prstGeom prst="rect">
            <a:avLst/>
          </a:prstGeom>
          <a:solidFill>
            <a:schemeClr val="bg1"/>
          </a:solidFill>
          <a:ln w="15875">
            <a:solidFill>
              <a:schemeClr val="accent1"/>
            </a:solidFill>
            <a:prstDash val="solid"/>
          </a:ln>
        </p:spPr>
      </p:sp>
      <p:sp>
        <p:nvSpPr>
          <p:cNvPr id="73" name="task-164"/>
          <p:cNvSpPr/>
          <p:nvPr/>
        </p:nvSpPr>
        <p:spPr>
          <a:xfrm>
            <a:off x="3300984" y="4251960"/>
            <a:ext cx="310896" cy="310896"/>
          </a:xfrm>
          <a:prstGeom prst="rect">
            <a:avLst/>
          </a:prstGeom>
          <a:solidFill>
            <a:schemeClr val="bg1"/>
          </a:solidFill>
          <a:ln w="15875">
            <a:solidFill>
              <a:schemeClr val="accent1"/>
            </a:solidFill>
            <a:prstDash val="solid"/>
          </a:ln>
        </p:spPr>
      </p:sp>
      <p:sp>
        <p:nvSpPr>
          <p:cNvPr id="74" name="task-165"/>
          <p:cNvSpPr/>
          <p:nvPr/>
        </p:nvSpPr>
        <p:spPr>
          <a:xfrm>
            <a:off x="3694176" y="4251960"/>
            <a:ext cx="310896" cy="310896"/>
          </a:xfrm>
          <a:prstGeom prst="rect">
            <a:avLst/>
          </a:prstGeom>
          <a:solidFill>
            <a:schemeClr val="bg1"/>
          </a:solidFill>
          <a:ln w="15875">
            <a:solidFill>
              <a:schemeClr val="accent1"/>
            </a:solidFill>
            <a:prstDash val="solid"/>
          </a:ln>
        </p:spPr>
      </p:sp>
      <p:sp>
        <p:nvSpPr>
          <p:cNvPr id="75" name="task-166"/>
          <p:cNvSpPr/>
          <p:nvPr/>
        </p:nvSpPr>
        <p:spPr>
          <a:xfrm>
            <a:off x="4087368" y="4251960"/>
            <a:ext cx="310896" cy="310896"/>
          </a:xfrm>
          <a:prstGeom prst="rect">
            <a:avLst/>
          </a:prstGeom>
          <a:solidFill>
            <a:schemeClr val="bg1"/>
          </a:solidFill>
          <a:ln w="15875">
            <a:solidFill>
              <a:schemeClr val="accent1"/>
            </a:solidFill>
            <a:prstDash val="solid"/>
          </a:ln>
        </p:spPr>
      </p:sp>
      <p:sp>
        <p:nvSpPr>
          <p:cNvPr id="76" name="task-167"/>
          <p:cNvSpPr/>
          <p:nvPr/>
        </p:nvSpPr>
        <p:spPr>
          <a:xfrm>
            <a:off x="4480560" y="4251960"/>
            <a:ext cx="310896" cy="310896"/>
          </a:xfrm>
          <a:prstGeom prst="rect">
            <a:avLst/>
          </a:prstGeom>
          <a:solidFill>
            <a:schemeClr val="bg1"/>
          </a:solidFill>
          <a:ln w="15875">
            <a:solidFill>
              <a:schemeClr val="accent1"/>
            </a:solidFill>
            <a:prstDash val="solid"/>
          </a:ln>
        </p:spPr>
      </p:sp>
      <p:sp>
        <p:nvSpPr>
          <p:cNvPr id="77" name="task-168"/>
          <p:cNvSpPr/>
          <p:nvPr/>
        </p:nvSpPr>
        <p:spPr>
          <a:xfrm>
            <a:off x="4873752" y="4251960"/>
            <a:ext cx="310896" cy="310896"/>
          </a:xfrm>
          <a:prstGeom prst="rect">
            <a:avLst/>
          </a:prstGeom>
          <a:solidFill>
            <a:schemeClr val="bg1"/>
          </a:solidFill>
          <a:ln w="15875">
            <a:solidFill>
              <a:schemeClr val="accent1"/>
            </a:solidFill>
            <a:prstDash val="solid"/>
          </a:ln>
        </p:spPr>
      </p:sp>
      <p:sp>
        <p:nvSpPr>
          <p:cNvPr id="78" name="task-169"/>
          <p:cNvSpPr/>
          <p:nvPr/>
        </p:nvSpPr>
        <p:spPr>
          <a:xfrm>
            <a:off x="548640" y="4645152"/>
            <a:ext cx="310896" cy="310896"/>
          </a:xfrm>
          <a:prstGeom prst="rect">
            <a:avLst/>
          </a:prstGeom>
          <a:solidFill>
            <a:schemeClr val="bg1"/>
          </a:solidFill>
          <a:ln w="15875">
            <a:solidFill>
              <a:schemeClr val="accent1"/>
            </a:solidFill>
            <a:prstDash val="solid"/>
          </a:ln>
        </p:spPr>
      </p:sp>
      <p:sp>
        <p:nvSpPr>
          <p:cNvPr id="79" name="task-170"/>
          <p:cNvSpPr/>
          <p:nvPr/>
        </p:nvSpPr>
        <p:spPr>
          <a:xfrm>
            <a:off x="941832" y="4645152"/>
            <a:ext cx="310896" cy="310896"/>
          </a:xfrm>
          <a:prstGeom prst="rect">
            <a:avLst/>
          </a:prstGeom>
          <a:solidFill>
            <a:schemeClr val="bg1"/>
          </a:solidFill>
          <a:ln w="15875">
            <a:solidFill>
              <a:schemeClr val="accent1"/>
            </a:solidFill>
            <a:prstDash val="solid"/>
          </a:ln>
        </p:spPr>
      </p:sp>
      <p:sp>
        <p:nvSpPr>
          <p:cNvPr id="80" name="task-171"/>
          <p:cNvSpPr/>
          <p:nvPr/>
        </p:nvSpPr>
        <p:spPr>
          <a:xfrm>
            <a:off x="1335024" y="4645152"/>
            <a:ext cx="310896" cy="310896"/>
          </a:xfrm>
          <a:prstGeom prst="rect">
            <a:avLst/>
          </a:prstGeom>
          <a:solidFill>
            <a:schemeClr val="bg1"/>
          </a:solidFill>
          <a:ln w="15875">
            <a:solidFill>
              <a:schemeClr val="accent1"/>
            </a:solidFill>
            <a:prstDash val="solid"/>
          </a:ln>
        </p:spPr>
      </p:sp>
      <p:sp>
        <p:nvSpPr>
          <p:cNvPr id="81" name="task-172"/>
          <p:cNvSpPr/>
          <p:nvPr/>
        </p:nvSpPr>
        <p:spPr>
          <a:xfrm>
            <a:off x="1728216" y="4645152"/>
            <a:ext cx="310896" cy="310896"/>
          </a:xfrm>
          <a:prstGeom prst="rect">
            <a:avLst/>
          </a:prstGeom>
          <a:solidFill>
            <a:schemeClr val="bg1"/>
          </a:solidFill>
          <a:ln w="15875">
            <a:solidFill>
              <a:schemeClr val="accent1"/>
            </a:solidFill>
            <a:prstDash val="solid"/>
          </a:ln>
        </p:spPr>
      </p:sp>
      <p:sp>
        <p:nvSpPr>
          <p:cNvPr id="82" name="task-173"/>
          <p:cNvSpPr/>
          <p:nvPr/>
        </p:nvSpPr>
        <p:spPr>
          <a:xfrm>
            <a:off x="2121408" y="4645152"/>
            <a:ext cx="310896" cy="310896"/>
          </a:xfrm>
          <a:prstGeom prst="rect">
            <a:avLst/>
          </a:prstGeom>
          <a:solidFill>
            <a:schemeClr val="bg1"/>
          </a:solidFill>
          <a:ln w="15875">
            <a:solidFill>
              <a:schemeClr val="accent1"/>
            </a:solidFill>
            <a:prstDash val="solid"/>
          </a:ln>
        </p:spPr>
      </p:sp>
      <p:sp>
        <p:nvSpPr>
          <p:cNvPr id="83" name="task-174"/>
          <p:cNvSpPr/>
          <p:nvPr/>
        </p:nvSpPr>
        <p:spPr>
          <a:xfrm>
            <a:off x="2514600" y="4645152"/>
            <a:ext cx="310896" cy="310896"/>
          </a:xfrm>
          <a:prstGeom prst="rect">
            <a:avLst/>
          </a:prstGeom>
          <a:solidFill>
            <a:schemeClr val="bg1"/>
          </a:solidFill>
          <a:ln w="15875">
            <a:solidFill>
              <a:schemeClr val="accent1"/>
            </a:solidFill>
            <a:prstDash val="solid"/>
          </a:ln>
        </p:spPr>
      </p:sp>
      <p:sp>
        <p:nvSpPr>
          <p:cNvPr id="84" name="task-175"/>
          <p:cNvSpPr/>
          <p:nvPr/>
        </p:nvSpPr>
        <p:spPr>
          <a:xfrm>
            <a:off x="2907792" y="4645152"/>
            <a:ext cx="310896" cy="310896"/>
          </a:xfrm>
          <a:prstGeom prst="rect">
            <a:avLst/>
          </a:prstGeom>
          <a:solidFill>
            <a:schemeClr val="bg1"/>
          </a:solidFill>
          <a:ln w="15875">
            <a:solidFill>
              <a:schemeClr val="accent1"/>
            </a:solidFill>
            <a:prstDash val="solid"/>
          </a:ln>
        </p:spPr>
      </p:sp>
      <p:sp>
        <p:nvSpPr>
          <p:cNvPr id="85" name="task-176"/>
          <p:cNvSpPr/>
          <p:nvPr/>
        </p:nvSpPr>
        <p:spPr>
          <a:xfrm>
            <a:off x="3300984" y="4645152"/>
            <a:ext cx="310896" cy="310896"/>
          </a:xfrm>
          <a:prstGeom prst="rect">
            <a:avLst/>
          </a:prstGeom>
          <a:solidFill>
            <a:schemeClr val="bg1"/>
          </a:solidFill>
          <a:ln w="15875">
            <a:solidFill>
              <a:schemeClr val="accent1"/>
            </a:solidFill>
            <a:prstDash val="solid"/>
          </a:ln>
        </p:spPr>
      </p:sp>
      <p:sp>
        <p:nvSpPr>
          <p:cNvPr id="86" name="task-177"/>
          <p:cNvSpPr/>
          <p:nvPr/>
        </p:nvSpPr>
        <p:spPr>
          <a:xfrm>
            <a:off x="3694176" y="4645152"/>
            <a:ext cx="310896" cy="310896"/>
          </a:xfrm>
          <a:prstGeom prst="rect">
            <a:avLst/>
          </a:prstGeom>
          <a:solidFill>
            <a:schemeClr val="bg1"/>
          </a:solidFill>
          <a:ln w="15875">
            <a:solidFill>
              <a:schemeClr val="accent1"/>
            </a:solidFill>
            <a:prstDash val="solid"/>
          </a:ln>
        </p:spPr>
      </p:sp>
      <p:sp>
        <p:nvSpPr>
          <p:cNvPr id="87" name="task-178"/>
          <p:cNvSpPr/>
          <p:nvPr/>
        </p:nvSpPr>
        <p:spPr>
          <a:xfrm>
            <a:off x="4087368" y="4645152"/>
            <a:ext cx="310896" cy="310896"/>
          </a:xfrm>
          <a:prstGeom prst="rect">
            <a:avLst/>
          </a:prstGeom>
          <a:solidFill>
            <a:schemeClr val="bg1"/>
          </a:solidFill>
          <a:ln w="15875">
            <a:solidFill>
              <a:schemeClr val="accent1"/>
            </a:solidFill>
            <a:prstDash val="solid"/>
          </a:ln>
        </p:spPr>
      </p:sp>
      <p:sp>
        <p:nvSpPr>
          <p:cNvPr id="88" name="task-179"/>
          <p:cNvSpPr/>
          <p:nvPr/>
        </p:nvSpPr>
        <p:spPr>
          <a:xfrm>
            <a:off x="4480560" y="4645152"/>
            <a:ext cx="310896" cy="310896"/>
          </a:xfrm>
          <a:prstGeom prst="rect">
            <a:avLst/>
          </a:prstGeom>
          <a:solidFill>
            <a:schemeClr val="bg1"/>
          </a:solidFill>
          <a:ln w="15875">
            <a:solidFill>
              <a:schemeClr val="accent1"/>
            </a:solidFill>
            <a:prstDash val="solid"/>
          </a:ln>
        </p:spPr>
      </p:sp>
      <p:sp>
        <p:nvSpPr>
          <p:cNvPr id="89" name="task-180"/>
          <p:cNvSpPr/>
          <p:nvPr/>
        </p:nvSpPr>
        <p:spPr>
          <a:xfrm>
            <a:off x="4873752" y="4645152"/>
            <a:ext cx="310896" cy="310896"/>
          </a:xfrm>
          <a:prstGeom prst="rect">
            <a:avLst/>
          </a:prstGeom>
          <a:solidFill>
            <a:schemeClr val="bg1"/>
          </a:solidFill>
          <a:ln w="15875">
            <a:solidFill>
              <a:schemeClr val="accent1"/>
            </a:solidFill>
            <a:prstDash val="solid"/>
          </a:ln>
        </p:spPr>
      </p:sp>
      <p:sp>
        <p:nvSpPr>
          <p:cNvPr id="90" name="key-181"/>
          <p:cNvSpPr/>
          <p:nvPr/>
        </p:nvSpPr>
        <p:spPr>
          <a:xfrm>
            <a:off x="548640" y="5184648"/>
            <a:ext cx="201168" cy="201168"/>
          </a:xfrm>
          <a:prstGeom prst="rect">
            <a:avLst/>
          </a:prstGeom>
          <a:solidFill>
            <a:schemeClr val="accent6"/>
          </a:solidFill>
          <a:ln w="12700">
            <a:solidFill>
              <a:schemeClr val="accent6"/>
            </a:solidFill>
            <a:prstDash val="solid"/>
          </a:ln>
        </p:spPr>
      </p:sp>
      <p:sp>
        <p:nvSpPr>
          <p:cNvPr id="91" name="text-182"/>
          <p:cNvSpPr txBox="1"/>
          <p:nvPr/>
        </p:nvSpPr>
        <p:spPr>
          <a:xfrm>
            <a:off x="841248" y="5129784"/>
            <a:ext cx="2377440" cy="310896"/>
          </a:xfrm>
          <a:prstGeom prst="rect">
            <a:avLst/>
          </a:prstGeom>
          <a:noFill/>
          <a:ln/>
        </p:spPr>
        <p:txBody>
          <a:bodyPr wrap="square" lIns="0" tIns="0" rIns="0" bIns="0" rtlCol="0" anchor="ctr"/>
          <a:lstStyle/>
          <a:p>
            <a:pPr indent="0" marL="0">
              <a:buNone/>
            </a:pPr>
            <a:r>
              <a:rPr lang="en-US" sz="1400" dirty="0">
                <a:solidFill>
                  <a:schemeClr val="tx1"/>
                </a:solidFill>
              </a:rPr>
              <a:t>63 unsolved by any model</a:t>
            </a:r>
            <a:endParaRPr lang="en-US" sz="1400" dirty="0"/>
          </a:p>
        </p:txBody>
      </p:sp>
      <p:sp>
        <p:nvSpPr>
          <p:cNvPr id="92" name="key-183"/>
          <p:cNvSpPr/>
          <p:nvPr/>
        </p:nvSpPr>
        <p:spPr>
          <a:xfrm>
            <a:off x="3200400" y="5184648"/>
            <a:ext cx="201168" cy="201168"/>
          </a:xfrm>
          <a:prstGeom prst="rect">
            <a:avLst/>
          </a:prstGeom>
          <a:solidFill>
            <a:schemeClr val="bg1"/>
          </a:solidFill>
          <a:ln w="15875">
            <a:solidFill>
              <a:schemeClr val="accent1"/>
            </a:solidFill>
            <a:prstDash val="solid"/>
          </a:ln>
        </p:spPr>
      </p:sp>
      <p:sp>
        <p:nvSpPr>
          <p:cNvPr id="93" name="text-184"/>
          <p:cNvSpPr txBox="1"/>
          <p:nvPr/>
        </p:nvSpPr>
        <p:spPr>
          <a:xfrm>
            <a:off x="3493008" y="5129784"/>
            <a:ext cx="2286000" cy="310896"/>
          </a:xfrm>
          <a:prstGeom prst="rect">
            <a:avLst/>
          </a:prstGeom>
          <a:noFill/>
          <a:ln/>
        </p:spPr>
        <p:txBody>
          <a:bodyPr wrap="square" lIns="0" tIns="0" rIns="0" bIns="0" rtlCol="0" anchor="ctr"/>
          <a:lstStyle/>
          <a:p>
            <a:pPr indent="0" marL="0">
              <a:buNone/>
            </a:pPr>
            <a:r>
              <a:rPr lang="en-US" sz="1400" dirty="0">
                <a:solidFill>
                  <a:schemeClr val="tx1"/>
                </a:solidFill>
              </a:rPr>
              <a:t>21 solved by at least one</a:t>
            </a:r>
            <a:endParaRPr lang="en-US" sz="1400" dirty="0"/>
          </a:p>
        </p:txBody>
      </p:sp>
      <p:sp>
        <p:nvSpPr>
          <p:cNvPr id="94" name="text-185"/>
          <p:cNvSpPr txBox="1"/>
          <p:nvPr/>
        </p:nvSpPr>
        <p:spPr>
          <a:xfrm>
            <a:off x="6309360" y="1874520"/>
            <a:ext cx="5303520" cy="320040"/>
          </a:xfrm>
          <a:prstGeom prst="rect">
            <a:avLst/>
          </a:prstGeom>
          <a:noFill/>
          <a:ln/>
        </p:spPr>
        <p:txBody>
          <a:bodyPr wrap="square" lIns="0" tIns="0" rIns="0" bIns="0" rtlCol="0" anchor="t"/>
          <a:lstStyle/>
          <a:p>
            <a:pPr indent="0" marL="0">
              <a:buNone/>
            </a:pPr>
            <a:r>
              <a:rPr lang="en-US" sz="1500" b="1" dirty="0">
                <a:solidFill>
                  <a:schemeClr val="tx1"/>
                </a:solidFill>
              </a:rPr>
              <a:t>The two leading models</a:t>
            </a:r>
            <a:endParaRPr lang="en-US" sz="1500" dirty="0"/>
          </a:p>
        </p:txBody>
      </p:sp>
      <p:sp>
        <p:nvSpPr>
          <p:cNvPr id="95" name="model-a-186"/>
          <p:cNvSpPr/>
          <p:nvPr/>
        </p:nvSpPr>
        <p:spPr>
          <a:xfrm>
            <a:off x="6400800" y="2331720"/>
            <a:ext cx="2743200" cy="2743200"/>
          </a:xfrm>
          <a:prstGeom prst="ellipse">
            <a:avLst/>
          </a:prstGeom>
          <a:solidFill>
            <a:schemeClr val="accent1">
              <a:alpha val="20000"/>
            </a:schemeClr>
          </a:solidFill>
          <a:ln w="19050">
            <a:solidFill>
              <a:schemeClr val="accent1"/>
            </a:solidFill>
            <a:prstDash val="solid"/>
          </a:ln>
        </p:spPr>
      </p:sp>
      <p:sp>
        <p:nvSpPr>
          <p:cNvPr id="96" name="model-b-187"/>
          <p:cNvSpPr/>
          <p:nvPr/>
        </p:nvSpPr>
        <p:spPr>
          <a:xfrm>
            <a:off x="7818120" y="2331720"/>
            <a:ext cx="2743200" cy="2743200"/>
          </a:xfrm>
          <a:prstGeom prst="ellipse">
            <a:avLst/>
          </a:prstGeom>
          <a:solidFill>
            <a:schemeClr val="accent4">
              <a:alpha val="20000"/>
            </a:schemeClr>
          </a:solidFill>
          <a:ln w="19050">
            <a:solidFill>
              <a:schemeClr val="accent4"/>
            </a:solidFill>
            <a:prstDash val="solid"/>
          </a:ln>
        </p:spPr>
      </p:sp>
      <p:sp>
        <p:nvSpPr>
          <p:cNvPr id="97" name="text-188"/>
          <p:cNvSpPr txBox="1"/>
          <p:nvPr/>
        </p:nvSpPr>
        <p:spPr>
          <a:xfrm>
            <a:off x="7818120" y="2880360"/>
            <a:ext cx="1325880" cy="731520"/>
          </a:xfrm>
          <a:prstGeom prst="rect">
            <a:avLst/>
          </a:prstGeom>
          <a:noFill/>
          <a:ln/>
        </p:spPr>
        <p:txBody>
          <a:bodyPr wrap="square" lIns="0" tIns="0" rIns="0" bIns="0" rtlCol="0" anchor="ctr"/>
          <a:lstStyle/>
          <a:p>
            <a:pPr algn="ctr" indent="0" marL="0">
              <a:buNone/>
            </a:pPr>
            <a:r>
              <a:rPr lang="en-US" sz="4000" b="1" dirty="0">
                <a:solidFill>
                  <a:schemeClr val="tx1"/>
                </a:solidFill>
                <a:latin typeface="Cambria" pitchFamily="34" charset="0"/>
                <a:ea typeface="Cambria" pitchFamily="34" charset="-122"/>
                <a:cs typeface="Cambria" pitchFamily="34" charset="-120"/>
              </a:rPr>
              <a:t>8</a:t>
            </a:r>
            <a:endParaRPr lang="en-US" sz="4000" dirty="0"/>
          </a:p>
        </p:txBody>
      </p:sp>
      <p:sp>
        <p:nvSpPr>
          <p:cNvPr id="98" name="text-189"/>
          <p:cNvSpPr txBox="1"/>
          <p:nvPr/>
        </p:nvSpPr>
        <p:spPr>
          <a:xfrm>
            <a:off x="7818120" y="3611880"/>
            <a:ext cx="1325880" cy="457200"/>
          </a:xfrm>
          <a:prstGeom prst="rect">
            <a:avLst/>
          </a:prstGeom>
          <a:noFill/>
          <a:ln/>
        </p:spPr>
        <p:txBody>
          <a:bodyPr wrap="square" lIns="0" tIns="0" rIns="0" bIns="0" rtlCol="0" anchor="t"/>
          <a:lstStyle/>
          <a:p>
            <a:pPr algn="ctr" indent="0" marL="0">
              <a:buNone/>
            </a:pPr>
            <a:r>
              <a:rPr lang="en-US" sz="1200" dirty="0">
                <a:solidFill>
                  <a:schemeClr val="tx1"/>
                </a:solidFill>
              </a:rPr>
              <a:t>shared</a:t>
            </a:r>
            <a:endParaRPr lang="en-US" sz="1200" dirty="0"/>
          </a:p>
          <a:p>
            <a:pPr algn="ctr" indent="0" marL="0">
              <a:buNone/>
            </a:pPr>
            <a:r>
              <a:rPr lang="en-US" sz="1200" dirty="0">
                <a:solidFill>
                  <a:schemeClr val="tx1"/>
                </a:solidFill>
              </a:rPr>
              <a:t>successes</a:t>
            </a:r>
            <a:endParaRPr lang="en-US" sz="1200" dirty="0"/>
          </a:p>
        </p:txBody>
      </p:sp>
      <p:sp>
        <p:nvSpPr>
          <p:cNvPr id="99" name="text-190"/>
          <p:cNvSpPr txBox="1"/>
          <p:nvPr/>
        </p:nvSpPr>
        <p:spPr>
          <a:xfrm>
            <a:off x="6675120" y="3520440"/>
            <a:ext cx="1463040" cy="320040"/>
          </a:xfrm>
          <a:prstGeom prst="rect">
            <a:avLst/>
          </a:prstGeom>
          <a:noFill/>
          <a:ln/>
        </p:spPr>
        <p:txBody>
          <a:bodyPr wrap="square" lIns="0" tIns="0" rIns="0" bIns="0" rtlCol="0" anchor="t"/>
          <a:lstStyle/>
          <a:p>
            <a:pPr indent="0" marL="0">
              <a:buNone/>
            </a:pPr>
            <a:r>
              <a:rPr lang="en-US" sz="1400" dirty="0">
                <a:solidFill>
                  <a:schemeClr val="tx2"/>
                </a:solidFill>
              </a:rPr>
              <a:t>Model A</a:t>
            </a:r>
            <a:endParaRPr lang="en-US" sz="1400" dirty="0"/>
          </a:p>
        </p:txBody>
      </p:sp>
      <p:sp>
        <p:nvSpPr>
          <p:cNvPr id="100" name="text-191"/>
          <p:cNvSpPr txBox="1"/>
          <p:nvPr/>
        </p:nvSpPr>
        <p:spPr>
          <a:xfrm>
            <a:off x="9052560" y="3520440"/>
            <a:ext cx="1280160" cy="320040"/>
          </a:xfrm>
          <a:prstGeom prst="rect">
            <a:avLst/>
          </a:prstGeom>
          <a:noFill/>
          <a:ln/>
        </p:spPr>
        <p:txBody>
          <a:bodyPr wrap="square" lIns="0" tIns="0" rIns="0" bIns="0" rtlCol="0" anchor="t"/>
          <a:lstStyle/>
          <a:p>
            <a:pPr algn="r" indent="0" marL="0">
              <a:buNone/>
            </a:pPr>
            <a:r>
              <a:rPr lang="en-US" sz="1400" dirty="0">
                <a:solidFill>
                  <a:schemeClr val="tx2"/>
                </a:solidFill>
              </a:rPr>
              <a:t>Model B</a:t>
            </a:r>
            <a:endParaRPr lang="en-US" sz="1400" dirty="0"/>
          </a:p>
        </p:txBody>
      </p:sp>
      <p:sp>
        <p:nvSpPr>
          <p:cNvPr id="101" name="text-192"/>
          <p:cNvSpPr txBox="1"/>
          <p:nvPr/>
        </p:nvSpPr>
        <p:spPr>
          <a:xfrm>
            <a:off x="6400800" y="5120640"/>
            <a:ext cx="4160520" cy="274320"/>
          </a:xfrm>
          <a:prstGeom prst="rect">
            <a:avLst/>
          </a:prstGeom>
          <a:noFill/>
          <a:ln/>
        </p:spPr>
        <p:txBody>
          <a:bodyPr wrap="square" lIns="0" tIns="0" rIns="0" bIns="0" rtlCol="0" anchor="t"/>
          <a:lstStyle/>
          <a:p>
            <a:pPr algn="ctr" indent="0" marL="0">
              <a:buNone/>
            </a:pPr>
            <a:r>
              <a:rPr lang="en-US" sz="1200" i="1" dirty="0">
                <a:solidFill>
                  <a:schemeClr val="tx2"/>
                </a:solidFill>
              </a:rPr>
              <a:t>Individual totals not shown</a:t>
            </a:r>
            <a:endParaRPr lang="en-US" sz="1200" dirty="0"/>
          </a:p>
        </p:txBody>
      </p:sp>
      <p:sp>
        <p:nvSpPr>
          <p:cNvPr id="102" name="text-193"/>
          <p:cNvSpPr txBox="1"/>
          <p:nvPr/>
        </p:nvSpPr>
        <p:spPr>
          <a:xfrm>
            <a:off x="548640" y="5440680"/>
            <a:ext cx="11094415" cy="365760"/>
          </a:xfrm>
          <a:prstGeom prst="rect">
            <a:avLst/>
          </a:prstGeom>
          <a:noFill/>
          <a:ln/>
        </p:spPr>
        <p:txBody>
          <a:bodyPr wrap="square" lIns="0" tIns="0" rIns="0" bIns="0" rtlCol="0" anchor="ctr"/>
          <a:lstStyle/>
          <a:p>
            <a:pPr indent="0" marL="0">
              <a:buNone/>
            </a:pPr>
            <a:r>
              <a:rPr lang="en-US" sz="1500" b="1" dirty="0">
                <a:solidFill>
                  <a:schemeClr val="accent6"/>
                </a:solidFill>
              </a:rPr>
              <a:t>Verify these numbers against the audio and the underlying study before publication.</a:t>
            </a:r>
            <a:endParaRPr lang="en-US" sz="1500" dirty="0"/>
          </a:p>
        </p:txBody>
      </p:sp>
      <p:sp>
        <p:nvSpPr>
          <p:cNvPr id="103" name="text-194"/>
          <p:cNvSpPr txBox="1"/>
          <p:nvPr/>
        </p:nvSpPr>
        <p:spPr>
          <a:xfrm>
            <a:off x="548640" y="5998464"/>
            <a:ext cx="11094415" cy="310896"/>
          </a:xfrm>
          <a:prstGeom prst="rect">
            <a:avLst/>
          </a:prstGeom>
          <a:noFill/>
          <a:ln/>
        </p:spPr>
        <p:txBody>
          <a:bodyPr wrap="square" lIns="0" tIns="0" rIns="0" bIns="0" rtlCol="0" anchor="ctr"/>
          <a:lstStyle/>
          <a:p>
            <a:pPr indent="0" marL="0">
              <a:buNone/>
            </a:pPr>
            <a:r>
              <a:rPr lang="en-US" sz="1100" dirty="0">
                <a:solidFill>
                  <a:schemeClr val="tx2"/>
                </a:solidFill>
              </a:rPr>
              <a:t>Source: Physical AI Podcast, “AI Models Fail 63 of 84 Robot Tasks, Waymo Borrows $5B,” Oct. 10, 2026 (00:02:47–00:02:51; 00:03:48–00:03:55)</a:t>
            </a:r>
            <a:endParaRPr lang="en-US" sz="11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7</a:t>
            </a:fld>
            <a:endParaRPr lang="en-US"/>
          </a:p>
        </p:txBody>
      </p:sp>
    </p:spTree>
  </p:cSld>
  <p:clrMapOvr>
    <a:masterClrMapping/>
  </p:clrMapOvr>
  <p:transition spd="med" advClick="1" advTm="35060">
    <p:fade/>
  </p:transition>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4415" cy="777240"/>
          </a:xfrm>
          <a:prstGeom prst="rect">
            <a:avLst/>
          </a:prstGeom>
          <a:noFill/>
          <a:ln/>
        </p:spPr>
        <p:txBody>
          <a:bodyPr wrap="square" lIns="0" tIns="0" rIns="0" bIns="0" rtlCol="0" anchor="ctr"/>
          <a:lstStyle/>
          <a:p>
            <a:pPr algn="l" indent="0" marL="0">
              <a:buNone/>
            </a:pPr>
            <a:r>
              <a:rPr lang="en-US" sz="3200" b="1" dirty="0">
                <a:solidFill>
                  <a:schemeClr val="tx1"/>
                </a:solidFill>
              </a:rPr>
              <a:t>Define the output being tested</a:t>
            </a:r>
            <a:endParaRPr lang="en-US" sz="3200" dirty="0"/>
          </a:p>
        </p:txBody>
      </p:sp>
      <p:sp>
        <p:nvSpPr>
          <p:cNvPr id="3" name="evidence-tag-195"/>
          <p:cNvSpPr txBox="1"/>
          <p:nvPr/>
        </p:nvSpPr>
        <p:spPr>
          <a:xfrm>
            <a:off x="548640" y="1463040"/>
            <a:ext cx="1338682" cy="256032"/>
          </a:xfrm>
          <a:prstGeom prst="roundRect">
            <a:avLst>
              <a:gd name="adj" fmla="val 46429"/>
            </a:avLst>
          </a:prstGeom>
          <a:solidFill>
            <a:schemeClr val="accent3"/>
          </a:solidFill>
          <a:ln w="12700">
            <a:solidFill>
              <a:schemeClr val="accent3"/>
            </a:solidFill>
          </a:ln>
        </p:spPr>
        <p:txBody>
          <a:bodyPr wrap="square" lIns="0" tIns="0" rIns="0" bIns="0" rtlCol="0" anchor="ctr"/>
          <a:lstStyle/>
          <a:p>
            <a:pPr algn="ctr" indent="0" marL="0">
              <a:buNone/>
            </a:pPr>
            <a:r>
              <a:rPr lang="en-US" sz="1000" b="1" spc="100" kern="0" dirty="0">
                <a:solidFill>
                  <a:schemeClr val="bg1"/>
                </a:solidFill>
              </a:rPr>
              <a:t>SOURCE CLAIM</a:t>
            </a:r>
            <a:endParaRPr lang="en-US" sz="1000" dirty="0"/>
          </a:p>
        </p:txBody>
      </p:sp>
      <p:sp>
        <p:nvSpPr>
          <p:cNvPr id="4" name="text-196"/>
          <p:cNvSpPr txBox="1"/>
          <p:nvPr/>
        </p:nvSpPr>
        <p:spPr>
          <a:xfrm>
            <a:off x="2024482" y="1435608"/>
            <a:ext cx="9618574" cy="310896"/>
          </a:xfrm>
          <a:prstGeom prst="rect">
            <a:avLst/>
          </a:prstGeom>
          <a:noFill/>
          <a:ln/>
        </p:spPr>
        <p:txBody>
          <a:bodyPr wrap="square" lIns="0" tIns="0" rIns="0" bIns="0" rtlCol="0" anchor="ctr"/>
          <a:lstStyle/>
          <a:p>
            <a:pPr indent="0" marL="0">
              <a:buNone/>
            </a:pPr>
            <a:r>
              <a:rPr lang="en-US" sz="1400" dirty="0">
                <a:solidFill>
                  <a:schemeClr val="tx2"/>
                </a:solidFill>
              </a:rPr>
              <a:t>NVIDIA's Cosmos Lab vice president, describing world simulation</a:t>
            </a:r>
            <a:endParaRPr lang="en-US" sz="1400" dirty="0"/>
          </a:p>
        </p:txBody>
      </p:sp>
      <p:sp>
        <p:nvSpPr>
          <p:cNvPr id="5" name="panel-197"/>
          <p:cNvSpPr/>
          <p:nvPr/>
        </p:nvSpPr>
        <p:spPr>
          <a:xfrm>
            <a:off x="548640" y="2103120"/>
            <a:ext cx="3291840" cy="2377440"/>
          </a:xfrm>
          <a:prstGeom prst="roundRect">
            <a:avLst>
              <a:gd name="adj" fmla="val 3846"/>
            </a:avLst>
          </a:prstGeom>
          <a:solidFill>
            <a:schemeClr val="bg2"/>
          </a:solidFill>
          <a:ln w="12700">
            <a:solidFill>
              <a:schemeClr val="bg2"/>
            </a:solidFill>
            <a:prstDash val="solid"/>
          </a:ln>
        </p:spPr>
      </p:sp>
      <p:sp>
        <p:nvSpPr>
          <p:cNvPr id="6" name="node-198"/>
          <p:cNvSpPr/>
          <p:nvPr/>
        </p:nvSpPr>
        <p:spPr>
          <a:xfrm>
            <a:off x="777240" y="2286000"/>
            <a:ext cx="2834640" cy="777240"/>
          </a:xfrm>
          <a:prstGeom prst="roundRect">
            <a:avLst>
              <a:gd name="adj" fmla="val 9412"/>
            </a:avLst>
          </a:prstGeom>
          <a:solidFill>
            <a:schemeClr val="bg1"/>
          </a:solidFill>
          <a:ln>
            <a:solidFill>
              <a:schemeClr val="bg1"/>
            </a:solidFill>
          </a:ln>
        </p:spPr>
        <p:txBody>
          <a:bodyPr wrap="square" lIns="76200" tIns="76200" rIns="76200" bIns="76200" rtlCol="0" anchor="ctr"/>
          <a:lstStyle/>
          <a:p>
            <a:pPr algn="ctr" indent="0" marL="0">
              <a:buNone/>
            </a:pPr>
            <a:r>
              <a:rPr lang="en-US" sz="1700" b="1" dirty="0">
                <a:solidFill>
                  <a:schemeClr val="tx1"/>
                </a:solidFill>
              </a:rPr>
              <a:t>Current observation</a:t>
            </a:r>
            <a:endParaRPr lang="en-US" sz="1700" dirty="0"/>
          </a:p>
        </p:txBody>
      </p:sp>
      <p:sp>
        <p:nvSpPr>
          <p:cNvPr id="7" name="text-199"/>
          <p:cNvSpPr txBox="1"/>
          <p:nvPr/>
        </p:nvSpPr>
        <p:spPr>
          <a:xfrm>
            <a:off x="1920240" y="3090672"/>
            <a:ext cx="548640" cy="411480"/>
          </a:xfrm>
          <a:prstGeom prst="rect">
            <a:avLst/>
          </a:prstGeom>
          <a:noFill/>
          <a:ln/>
        </p:spPr>
        <p:txBody>
          <a:bodyPr wrap="square" lIns="0" tIns="0" rIns="0" bIns="0" rtlCol="0" anchor="ctr"/>
          <a:lstStyle/>
          <a:p>
            <a:pPr algn="ctr" indent="0" marL="0">
              <a:buNone/>
            </a:pPr>
            <a:r>
              <a:rPr lang="en-US" sz="2400" b="1" dirty="0">
                <a:solidFill>
                  <a:schemeClr val="tx2"/>
                </a:solidFill>
              </a:rPr>
              <a:t>+</a:t>
            </a:r>
            <a:endParaRPr lang="en-US" sz="2400" dirty="0"/>
          </a:p>
        </p:txBody>
      </p:sp>
      <p:sp>
        <p:nvSpPr>
          <p:cNvPr id="8" name="node-200"/>
          <p:cNvSpPr/>
          <p:nvPr/>
        </p:nvSpPr>
        <p:spPr>
          <a:xfrm>
            <a:off x="777240" y="3520440"/>
            <a:ext cx="2834640" cy="777240"/>
          </a:xfrm>
          <a:prstGeom prst="roundRect">
            <a:avLst>
              <a:gd name="adj" fmla="val 9412"/>
            </a:avLst>
          </a:prstGeom>
          <a:solidFill>
            <a:schemeClr val="bg1"/>
          </a:solidFill>
          <a:ln>
            <a:solidFill>
              <a:schemeClr val="bg1"/>
            </a:solidFill>
          </a:ln>
        </p:spPr>
        <p:txBody>
          <a:bodyPr wrap="square" lIns="76200" tIns="76200" rIns="76200" bIns="76200" rtlCol="0" anchor="ctr"/>
          <a:lstStyle/>
          <a:p>
            <a:pPr algn="ctr" indent="0" marL="0">
              <a:buNone/>
            </a:pPr>
            <a:r>
              <a:rPr lang="en-US" sz="1700" b="1" dirty="0">
                <a:solidFill>
                  <a:schemeClr val="tx1"/>
                </a:solidFill>
              </a:rPr>
              <a:t>Action input</a:t>
            </a:r>
            <a:endParaRPr lang="en-US" sz="1700" dirty="0"/>
          </a:p>
        </p:txBody>
      </p:sp>
      <p:sp>
        <p:nvSpPr>
          <p:cNvPr id="9" name="arrow-201"/>
          <p:cNvSpPr/>
          <p:nvPr/>
        </p:nvSpPr>
        <p:spPr>
          <a:xfrm>
            <a:off x="3931920" y="3291840"/>
            <a:ext cx="685800" cy="0"/>
          </a:xfrm>
          <a:prstGeom prst="line">
            <a:avLst/>
          </a:prstGeom>
          <a:noFill/>
          <a:ln w="25400">
            <a:solidFill>
              <a:schemeClr val="tx2"/>
            </a:solidFill>
            <a:prstDash val="solid"/>
            <a:tailEnd type="triangle"/>
          </a:ln>
        </p:spPr>
      </p:sp>
      <p:sp>
        <p:nvSpPr>
          <p:cNvPr id="10" name="node-202"/>
          <p:cNvSpPr/>
          <p:nvPr/>
        </p:nvSpPr>
        <p:spPr>
          <a:xfrm>
            <a:off x="4709160" y="2651760"/>
            <a:ext cx="2743200" cy="1280160"/>
          </a:xfrm>
          <a:prstGeom prst="roundRect">
            <a:avLst>
              <a:gd name="adj" fmla="val 5714"/>
            </a:avLst>
          </a:prstGeom>
          <a:solidFill>
            <a:schemeClr val="accent1"/>
          </a:solidFill>
          <a:ln>
            <a:solidFill>
              <a:schemeClr val="accent1"/>
            </a:solidFill>
          </a:ln>
        </p:spPr>
        <p:txBody>
          <a:bodyPr wrap="square" lIns="76200" tIns="76200" rIns="76200" bIns="76200" rtlCol="0" anchor="ctr"/>
          <a:lstStyle/>
          <a:p>
            <a:pPr algn="ctr" indent="0" marL="0">
              <a:buNone/>
            </a:pPr>
            <a:r>
              <a:rPr lang="en-US" sz="1900" b="1" dirty="0">
                <a:solidFill>
                  <a:schemeClr val="bg1"/>
                </a:solidFill>
              </a:rPr>
              <a:t>World simulation</a:t>
            </a:r>
            <a:endParaRPr lang="en-US" sz="1900" dirty="0"/>
          </a:p>
        </p:txBody>
      </p:sp>
      <p:sp>
        <p:nvSpPr>
          <p:cNvPr id="11" name="arrow-203"/>
          <p:cNvSpPr/>
          <p:nvPr/>
        </p:nvSpPr>
        <p:spPr>
          <a:xfrm>
            <a:off x="7543800" y="3291840"/>
            <a:ext cx="685800" cy="0"/>
          </a:xfrm>
          <a:prstGeom prst="line">
            <a:avLst/>
          </a:prstGeom>
          <a:noFill/>
          <a:ln w="25400">
            <a:solidFill>
              <a:schemeClr val="tx2"/>
            </a:solidFill>
            <a:prstDash val="solid"/>
            <a:tailEnd type="triangle"/>
          </a:ln>
        </p:spPr>
      </p:sp>
      <p:sp>
        <p:nvSpPr>
          <p:cNvPr id="12" name="node-204"/>
          <p:cNvSpPr/>
          <p:nvPr/>
        </p:nvSpPr>
        <p:spPr>
          <a:xfrm>
            <a:off x="8321040" y="2377440"/>
            <a:ext cx="3319272" cy="1828800"/>
          </a:xfrm>
          <a:prstGeom prst="roundRect">
            <a:avLst>
              <a:gd name="adj" fmla="val 4000"/>
            </a:avLst>
          </a:prstGeom>
          <a:solidFill>
            <a:schemeClr val="bg2"/>
          </a:solidFill>
          <a:ln w="12700">
            <a:solidFill>
              <a:schemeClr val="bg2"/>
            </a:solidFill>
          </a:ln>
        </p:spPr>
        <p:txBody>
          <a:bodyPr wrap="square" lIns="76200" tIns="76200" rIns="76200" bIns="76200" rtlCol="0" anchor="ctr"/>
          <a:lstStyle/>
          <a:p>
            <a:pPr algn="ctr" indent="0" marL="0">
              <a:buNone/>
            </a:pPr>
            <a:r>
              <a:rPr lang="en-US" sz="1700" b="1" dirty="0">
                <a:solidFill>
                  <a:schemeClr val="tx1"/>
                </a:solidFill>
              </a:rPr>
              <a:t>Predicted future: video, audio, or other output</a:t>
            </a:r>
            <a:endParaRPr lang="en-US" sz="1700" dirty="0"/>
          </a:p>
        </p:txBody>
      </p:sp>
      <p:sp>
        <p:nvSpPr>
          <p:cNvPr id="13" name="not-checked-205"/>
          <p:cNvSpPr/>
          <p:nvPr/>
        </p:nvSpPr>
        <p:spPr>
          <a:xfrm>
            <a:off x="6035040" y="4663440"/>
            <a:ext cx="5605272" cy="868680"/>
          </a:xfrm>
          <a:prstGeom prst="roundRect">
            <a:avLst>
              <a:gd name="adj" fmla="val 8421"/>
            </a:avLst>
          </a:prstGeom>
          <a:solidFill>
            <a:schemeClr val="bg1"/>
          </a:solidFill>
          <a:ln w="19050">
            <a:solidFill>
              <a:schemeClr val="accent5"/>
            </a:solidFill>
            <a:prstDash val="dash"/>
          </a:ln>
        </p:spPr>
        <p:txBody>
          <a:bodyPr wrap="square" lIns="152400" tIns="0" rIns="152400" bIns="0" rtlCol="0" anchor="ctr"/>
          <a:lstStyle/>
          <a:p>
            <a:pPr indent="0" marL="0">
              <a:buNone/>
            </a:pPr>
            <a:r>
              <a:rPr lang="en-US" sz="1500" b="1" dirty="0">
                <a:solidFill>
                  <a:schemeClr val="accent5"/>
                </a:solidFill>
              </a:rPr>
              <a:t>Not checked here: </a:t>
            </a:r>
            <a:pPr indent="0" marL="0">
              <a:buNone/>
            </a:pPr>
            <a:r>
              <a:rPr lang="en-US" sz="1500" dirty="0">
                <a:solidFill>
                  <a:schemeClr val="accent5"/>
                </a:solidFill>
              </a:rPr>
              <a:t>whether the prediction is physically correct, or transfers to a real robot</a:t>
            </a:r>
            <a:endParaRPr lang="en-US" sz="1500" dirty="0"/>
          </a:p>
        </p:txBody>
      </p:sp>
      <p:sp>
        <p:nvSpPr>
          <p:cNvPr id="14" name="text-206"/>
          <p:cNvSpPr txBox="1"/>
          <p:nvPr/>
        </p:nvSpPr>
        <p:spPr>
          <a:xfrm>
            <a:off x="548640" y="4754880"/>
            <a:ext cx="5212080" cy="685800"/>
          </a:xfrm>
          <a:prstGeom prst="rect">
            <a:avLst/>
          </a:prstGeom>
          <a:noFill/>
          <a:ln/>
        </p:spPr>
        <p:txBody>
          <a:bodyPr wrap="square" lIns="0" tIns="0" rIns="0" bIns="0" rtlCol="0" anchor="ctr"/>
          <a:lstStyle/>
          <a:p>
            <a:pPr indent="0" marL="0">
              <a:buNone/>
            </a:pPr>
            <a:r>
              <a:rPr lang="en-US" sz="1700" i="1" dirty="0">
                <a:solidFill>
                  <a:schemeClr val="tx1"/>
                </a:solidFill>
                <a:latin typeface="Cambria" pitchFamily="34" charset="0"/>
                <a:ea typeface="Cambria" pitchFamily="34" charset="-122"/>
                <a:cs typeface="Cambria" pitchFamily="34" charset="-120"/>
              </a:rPr>
              <a:t>A description of a capability, not evidence of its accuracy.</a:t>
            </a:r>
            <a:endParaRPr lang="en-US" sz="1700" dirty="0"/>
          </a:p>
        </p:txBody>
      </p:sp>
      <p:sp>
        <p:nvSpPr>
          <p:cNvPr id="15" name="text-207"/>
          <p:cNvSpPr txBox="1"/>
          <p:nvPr/>
        </p:nvSpPr>
        <p:spPr>
          <a:xfrm>
            <a:off x="548640" y="5998464"/>
            <a:ext cx="11094415" cy="310896"/>
          </a:xfrm>
          <a:prstGeom prst="rect">
            <a:avLst/>
          </a:prstGeom>
          <a:noFill/>
          <a:ln/>
        </p:spPr>
        <p:txBody>
          <a:bodyPr wrap="square" lIns="0" tIns="0" rIns="0" bIns="0" rtlCol="0" anchor="ctr"/>
          <a:lstStyle/>
          <a:p>
            <a:pPr indent="0" marL="0">
              <a:buNone/>
            </a:pPr>
            <a:r>
              <a:rPr lang="en-US" sz="1100" dirty="0">
                <a:solidFill>
                  <a:schemeClr val="tx2"/>
                </a:solidFill>
              </a:rPr>
              <a:t>Source: Changelog Media, “Open models and the future of Physical AI with NVIDIA,” Oct. 1, 2026 (00:23:59–00:24:19)</a:t>
            </a:r>
            <a:endParaRPr lang="en-US" sz="11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8</a:t>
            </a:fld>
            <a:endParaRPr lang="en-US"/>
          </a:p>
        </p:txBody>
      </p:sp>
    </p:spTree>
  </p:cSld>
  <p:clrMapOvr>
    <a:masterClrMapping/>
  </p:clrMapOvr>
  <p:transition spd="med" advClick="1" advTm="23530">
    <p:fade/>
  </p:transition>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777240"/>
          </a:xfrm>
          <a:prstGeom prst="rect">
            <a:avLst/>
          </a:prstGeom>
          <a:noFill/>
          <a:ln/>
        </p:spPr>
        <p:txBody>
          <a:bodyPr wrap="square" lIns="0" tIns="0" rIns="0" bIns="0" rtlCol="0" anchor="t"/>
          <a:lstStyle/>
          <a:p>
            <a:pPr algn="l" indent="0" marL="0">
              <a:buNone/>
            </a:pPr>
            <a:r>
              <a:rPr lang="en-US" sz="3200" b="1" dirty="0">
                <a:solidFill>
                  <a:schemeClr val="bg1"/>
                </a:solidFill>
              </a:rPr>
              <a:t>Five acceptance gates</a:t>
            </a:r>
            <a:endParaRPr lang="en-US" sz="3200" dirty="0"/>
          </a:p>
        </p:txBody>
      </p:sp>
      <p:sp>
        <p:nvSpPr>
          <p:cNvPr id="3" name="text-208"/>
          <p:cNvSpPr txBox="1"/>
          <p:nvPr/>
        </p:nvSpPr>
        <p:spPr>
          <a:xfrm>
            <a:off x="548640" y="1325880"/>
            <a:ext cx="8686800" cy="365760"/>
          </a:xfrm>
          <a:prstGeom prst="rect">
            <a:avLst/>
          </a:prstGeom>
          <a:noFill/>
          <a:ln/>
        </p:spPr>
        <p:txBody>
          <a:bodyPr wrap="square" lIns="0" tIns="0" rIns="0" bIns="0" rtlCol="0" anchor="t"/>
          <a:lstStyle/>
          <a:p>
            <a:pPr indent="0" marL="0">
              <a:buNone/>
            </a:pPr>
            <a:r>
              <a:rPr lang="en-US" sz="1500" dirty="0">
                <a:solidFill>
                  <a:schemeClr val="bg2"/>
                </a:solidFill>
              </a:rPr>
              <a:t>Test each separately. What the evidence in this video shows at each gate:</a:t>
            </a:r>
            <a:endParaRPr lang="en-US" sz="1500" dirty="0"/>
          </a:p>
        </p:txBody>
      </p:sp>
      <p:sp>
        <p:nvSpPr>
          <p:cNvPr id="4" name="panel-209"/>
          <p:cNvSpPr/>
          <p:nvPr/>
        </p:nvSpPr>
        <p:spPr>
          <a:xfrm>
            <a:off x="548640" y="1828800"/>
            <a:ext cx="2036003" cy="2148840"/>
          </a:xfrm>
          <a:prstGeom prst="roundRect">
            <a:avLst>
              <a:gd name="adj" fmla="val 4491"/>
            </a:avLst>
          </a:prstGeom>
          <a:solidFill>
            <a:schemeClr val="bg1">
              <a:alpha val="10000"/>
            </a:schemeClr>
          </a:solidFill>
          <a:ln w="9525">
            <a:solidFill>
              <a:schemeClr val="bg2"/>
            </a:solidFill>
            <a:prstDash val="solid"/>
          </a:ln>
        </p:spPr>
      </p:sp>
      <p:sp>
        <p:nvSpPr>
          <p:cNvPr id="5" name="text-210"/>
          <p:cNvSpPr txBox="1"/>
          <p:nvPr/>
        </p:nvSpPr>
        <p:spPr>
          <a:xfrm>
            <a:off x="731520" y="1965960"/>
            <a:ext cx="548640" cy="411480"/>
          </a:xfrm>
          <a:prstGeom prst="rect">
            <a:avLst/>
          </a:prstGeom>
          <a:noFill/>
          <a:ln/>
        </p:spPr>
        <p:txBody>
          <a:bodyPr wrap="square" lIns="0" tIns="0" rIns="0" bIns="0" rtlCol="0" anchor="t"/>
          <a:lstStyle/>
          <a:p>
            <a:pPr indent="0" marL="0">
              <a:buNone/>
            </a:pPr>
            <a:r>
              <a:rPr lang="en-US" sz="2000" b="1" dirty="0">
                <a:solidFill>
                  <a:schemeClr val="bg2"/>
                </a:solidFill>
                <a:latin typeface="Cambria" pitchFamily="34" charset="0"/>
                <a:ea typeface="Cambria" pitchFamily="34" charset="-122"/>
                <a:cs typeface="Cambria" pitchFamily="34" charset="-120"/>
              </a:rPr>
              <a:t>1</a:t>
            </a:r>
            <a:endParaRPr lang="en-US" sz="2000" dirty="0"/>
          </a:p>
        </p:txBody>
      </p:sp>
      <p:sp>
        <p:nvSpPr>
          <p:cNvPr id="6" name="text-211"/>
          <p:cNvSpPr txBox="1"/>
          <p:nvPr/>
        </p:nvSpPr>
        <p:spPr>
          <a:xfrm>
            <a:off x="731520" y="2377440"/>
            <a:ext cx="1761683" cy="685800"/>
          </a:xfrm>
          <a:prstGeom prst="rect">
            <a:avLst/>
          </a:prstGeom>
          <a:noFill/>
          <a:ln/>
        </p:spPr>
        <p:txBody>
          <a:bodyPr wrap="square" lIns="0" tIns="0" rIns="0" bIns="0" rtlCol="0" anchor="t"/>
          <a:lstStyle/>
          <a:p>
            <a:pPr indent="0" marL="0">
              <a:buNone/>
            </a:pPr>
            <a:r>
              <a:rPr lang="en-US" sz="1600" b="1" dirty="0">
                <a:solidFill>
                  <a:schemeClr val="bg1"/>
                </a:solidFill>
              </a:rPr>
              <a:t>STEP validation</a:t>
            </a:r>
            <a:endParaRPr lang="en-US" sz="1600" dirty="0"/>
          </a:p>
        </p:txBody>
      </p:sp>
      <p:sp>
        <p:nvSpPr>
          <p:cNvPr id="7" name="node-212"/>
          <p:cNvSpPr/>
          <p:nvPr/>
        </p:nvSpPr>
        <p:spPr>
          <a:xfrm>
            <a:off x="731520" y="3154680"/>
            <a:ext cx="1670243" cy="640080"/>
          </a:xfrm>
          <a:prstGeom prst="roundRect">
            <a:avLst>
              <a:gd name="adj" fmla="val 11429"/>
            </a:avLst>
          </a:prstGeom>
          <a:solidFill>
            <a:schemeClr val="accent2"/>
          </a:solidFill>
          <a:ln>
            <a:solidFill>
              <a:schemeClr val="accent2"/>
            </a:solidFill>
          </a:ln>
        </p:spPr>
        <p:txBody>
          <a:bodyPr wrap="square" lIns="76200" tIns="76200" rIns="76200" bIns="76200" rtlCol="0" anchor="ctr"/>
          <a:lstStyle/>
          <a:p>
            <a:pPr algn="ctr" indent="0" marL="0">
              <a:buNone/>
            </a:pPr>
            <a:r>
              <a:rPr lang="en-US" sz="1300" b="1" dirty="0">
                <a:solidFill>
                  <a:schemeClr val="bg1"/>
                </a:solidFill>
              </a:rPr>
              <a:t>Mass check passed in 2 tests</a:t>
            </a:r>
            <a:endParaRPr lang="en-US" sz="1300" dirty="0"/>
          </a:p>
        </p:txBody>
      </p:sp>
      <p:sp>
        <p:nvSpPr>
          <p:cNvPr id="8" name="panel-213"/>
          <p:cNvSpPr/>
          <p:nvPr/>
        </p:nvSpPr>
        <p:spPr>
          <a:xfrm>
            <a:off x="2813243" y="1828800"/>
            <a:ext cx="2036003" cy="2148840"/>
          </a:xfrm>
          <a:prstGeom prst="roundRect">
            <a:avLst>
              <a:gd name="adj" fmla="val 4491"/>
            </a:avLst>
          </a:prstGeom>
          <a:solidFill>
            <a:schemeClr val="bg1">
              <a:alpha val="10000"/>
            </a:schemeClr>
          </a:solidFill>
          <a:ln w="9525">
            <a:solidFill>
              <a:schemeClr val="bg2"/>
            </a:solidFill>
            <a:prstDash val="solid"/>
          </a:ln>
        </p:spPr>
      </p:sp>
      <p:sp>
        <p:nvSpPr>
          <p:cNvPr id="9" name="text-214"/>
          <p:cNvSpPr txBox="1"/>
          <p:nvPr/>
        </p:nvSpPr>
        <p:spPr>
          <a:xfrm>
            <a:off x="2996123" y="1965960"/>
            <a:ext cx="548640" cy="411480"/>
          </a:xfrm>
          <a:prstGeom prst="rect">
            <a:avLst/>
          </a:prstGeom>
          <a:noFill/>
          <a:ln/>
        </p:spPr>
        <p:txBody>
          <a:bodyPr wrap="square" lIns="0" tIns="0" rIns="0" bIns="0" rtlCol="0" anchor="t"/>
          <a:lstStyle/>
          <a:p>
            <a:pPr indent="0" marL="0">
              <a:buNone/>
            </a:pPr>
            <a:r>
              <a:rPr lang="en-US" sz="2000" b="1" dirty="0">
                <a:solidFill>
                  <a:schemeClr val="bg2"/>
                </a:solidFill>
                <a:latin typeface="Cambria" pitchFamily="34" charset="0"/>
                <a:ea typeface="Cambria" pitchFamily="34" charset="-122"/>
                <a:cs typeface="Cambria" pitchFamily="34" charset="-120"/>
              </a:rPr>
              <a:t>2</a:t>
            </a:r>
            <a:endParaRPr lang="en-US" sz="2000" dirty="0"/>
          </a:p>
        </p:txBody>
      </p:sp>
      <p:sp>
        <p:nvSpPr>
          <p:cNvPr id="10" name="text-215"/>
          <p:cNvSpPr txBox="1"/>
          <p:nvPr/>
        </p:nvSpPr>
        <p:spPr>
          <a:xfrm>
            <a:off x="2996123" y="2377440"/>
            <a:ext cx="1761683" cy="685800"/>
          </a:xfrm>
          <a:prstGeom prst="rect">
            <a:avLst/>
          </a:prstGeom>
          <a:noFill/>
          <a:ln/>
        </p:spPr>
        <p:txBody>
          <a:bodyPr wrap="square" lIns="0" tIns="0" rIns="0" bIns="0" rtlCol="0" anchor="t"/>
          <a:lstStyle/>
          <a:p>
            <a:pPr indent="0" marL="0">
              <a:buNone/>
            </a:pPr>
            <a:r>
              <a:rPr lang="en-US" sz="1600" b="1" dirty="0">
                <a:solidFill>
                  <a:schemeClr val="bg1"/>
                </a:solidFill>
              </a:rPr>
              <a:t>Native editability</a:t>
            </a:r>
            <a:endParaRPr lang="en-US" sz="1600" dirty="0"/>
          </a:p>
        </p:txBody>
      </p:sp>
      <p:sp>
        <p:nvSpPr>
          <p:cNvPr id="11" name="node-216"/>
          <p:cNvSpPr/>
          <p:nvPr/>
        </p:nvSpPr>
        <p:spPr>
          <a:xfrm>
            <a:off x="2996123" y="3154680"/>
            <a:ext cx="1670243" cy="640080"/>
          </a:xfrm>
          <a:prstGeom prst="roundRect">
            <a:avLst>
              <a:gd name="adj" fmla="val 11429"/>
            </a:avLst>
          </a:prstGeom>
          <a:solidFill>
            <a:schemeClr val="accent5"/>
          </a:solidFill>
          <a:ln>
            <a:solidFill>
              <a:schemeClr val="accent5"/>
            </a:solidFill>
          </a:ln>
        </p:spPr>
        <p:txBody>
          <a:bodyPr wrap="square" lIns="76200" tIns="76200" rIns="76200" bIns="76200" rtlCol="0" anchor="ctr"/>
          <a:lstStyle/>
          <a:p>
            <a:pPr algn="ctr" indent="0" marL="0">
              <a:buNone/>
            </a:pPr>
            <a:r>
              <a:rPr lang="en-US" sz="1300" b="1" dirty="0">
                <a:solidFill>
                  <a:schemeClr val="bg1"/>
                </a:solidFill>
              </a:rPr>
              <a:t>Partial recreation</a:t>
            </a:r>
            <a:endParaRPr lang="en-US" sz="1300" dirty="0"/>
          </a:p>
        </p:txBody>
      </p:sp>
      <p:sp>
        <p:nvSpPr>
          <p:cNvPr id="12" name="panel-217"/>
          <p:cNvSpPr/>
          <p:nvPr/>
        </p:nvSpPr>
        <p:spPr>
          <a:xfrm>
            <a:off x="5077846" y="1828800"/>
            <a:ext cx="2036003" cy="2148840"/>
          </a:xfrm>
          <a:prstGeom prst="roundRect">
            <a:avLst>
              <a:gd name="adj" fmla="val 4491"/>
            </a:avLst>
          </a:prstGeom>
          <a:solidFill>
            <a:schemeClr val="bg1">
              <a:alpha val="10000"/>
            </a:schemeClr>
          </a:solidFill>
          <a:ln w="9525">
            <a:solidFill>
              <a:schemeClr val="bg2"/>
            </a:solidFill>
            <a:prstDash val="solid"/>
          </a:ln>
        </p:spPr>
      </p:sp>
      <p:sp>
        <p:nvSpPr>
          <p:cNvPr id="13" name="text-218"/>
          <p:cNvSpPr txBox="1"/>
          <p:nvPr/>
        </p:nvSpPr>
        <p:spPr>
          <a:xfrm>
            <a:off x="5260726" y="1965960"/>
            <a:ext cx="548640" cy="411480"/>
          </a:xfrm>
          <a:prstGeom prst="rect">
            <a:avLst/>
          </a:prstGeom>
          <a:noFill/>
          <a:ln/>
        </p:spPr>
        <p:txBody>
          <a:bodyPr wrap="square" lIns="0" tIns="0" rIns="0" bIns="0" rtlCol="0" anchor="t"/>
          <a:lstStyle/>
          <a:p>
            <a:pPr indent="0" marL="0">
              <a:buNone/>
            </a:pPr>
            <a:r>
              <a:rPr lang="en-US" sz="2000" b="1" dirty="0">
                <a:solidFill>
                  <a:schemeClr val="bg2"/>
                </a:solidFill>
                <a:latin typeface="Cambria" pitchFamily="34" charset="0"/>
                <a:ea typeface="Cambria" pitchFamily="34" charset="-122"/>
                <a:cs typeface="Cambria" pitchFamily="34" charset="-120"/>
              </a:rPr>
              <a:t>3</a:t>
            </a:r>
            <a:endParaRPr lang="en-US" sz="2000" dirty="0"/>
          </a:p>
        </p:txBody>
      </p:sp>
      <p:sp>
        <p:nvSpPr>
          <p:cNvPr id="14" name="text-219"/>
          <p:cNvSpPr txBox="1"/>
          <p:nvPr/>
        </p:nvSpPr>
        <p:spPr>
          <a:xfrm>
            <a:off x="5260726" y="2377440"/>
            <a:ext cx="1761683" cy="685800"/>
          </a:xfrm>
          <a:prstGeom prst="rect">
            <a:avLst/>
          </a:prstGeom>
          <a:noFill/>
          <a:ln/>
        </p:spPr>
        <p:txBody>
          <a:bodyPr wrap="square" lIns="0" tIns="0" rIns="0" bIns="0" rtlCol="0" anchor="t"/>
          <a:lstStyle/>
          <a:p>
            <a:pPr indent="0" marL="0">
              <a:buNone/>
            </a:pPr>
            <a:r>
              <a:rPr lang="en-US" sz="1600" b="1" dirty="0">
                <a:solidFill>
                  <a:schemeClr val="bg1"/>
                </a:solidFill>
              </a:rPr>
              <a:t>Multibody behavior</a:t>
            </a:r>
            <a:endParaRPr lang="en-US" sz="1600" dirty="0"/>
          </a:p>
        </p:txBody>
      </p:sp>
      <p:sp>
        <p:nvSpPr>
          <p:cNvPr id="15" name="node-220"/>
          <p:cNvSpPr/>
          <p:nvPr/>
        </p:nvSpPr>
        <p:spPr>
          <a:xfrm>
            <a:off x="5260726" y="3154680"/>
            <a:ext cx="1670243" cy="640080"/>
          </a:xfrm>
          <a:prstGeom prst="roundRect">
            <a:avLst>
              <a:gd name="adj" fmla="val 11429"/>
            </a:avLst>
          </a:prstGeom>
          <a:solidFill>
            <a:schemeClr val="accent5"/>
          </a:solidFill>
          <a:ln>
            <a:solidFill>
              <a:schemeClr val="accent5"/>
            </a:solidFill>
          </a:ln>
        </p:spPr>
        <p:txBody>
          <a:bodyPr wrap="square" lIns="76200" tIns="76200" rIns="76200" bIns="76200" rtlCol="0" anchor="ctr"/>
          <a:lstStyle/>
          <a:p>
            <a:pPr algn="ctr" indent="0" marL="0">
              <a:buNone/>
            </a:pPr>
            <a:r>
              <a:rPr lang="en-US" sz="1300" b="1" dirty="0">
                <a:solidFill>
                  <a:schemeClr val="bg1"/>
                </a:solidFill>
              </a:rPr>
              <a:t>1 of 7 bodies</a:t>
            </a:r>
            <a:endParaRPr lang="en-US" sz="1300" dirty="0"/>
          </a:p>
        </p:txBody>
      </p:sp>
      <p:sp>
        <p:nvSpPr>
          <p:cNvPr id="16" name="panel-221"/>
          <p:cNvSpPr/>
          <p:nvPr/>
        </p:nvSpPr>
        <p:spPr>
          <a:xfrm>
            <a:off x="7342449" y="1828800"/>
            <a:ext cx="2036003" cy="2148840"/>
          </a:xfrm>
          <a:prstGeom prst="roundRect">
            <a:avLst>
              <a:gd name="adj" fmla="val 4491"/>
            </a:avLst>
          </a:prstGeom>
          <a:solidFill>
            <a:schemeClr val="bg1">
              <a:alpha val="10000"/>
            </a:schemeClr>
          </a:solidFill>
          <a:ln w="9525">
            <a:solidFill>
              <a:schemeClr val="bg2"/>
            </a:solidFill>
            <a:prstDash val="solid"/>
          </a:ln>
        </p:spPr>
      </p:sp>
      <p:sp>
        <p:nvSpPr>
          <p:cNvPr id="17" name="text-222"/>
          <p:cNvSpPr txBox="1"/>
          <p:nvPr/>
        </p:nvSpPr>
        <p:spPr>
          <a:xfrm>
            <a:off x="7525329" y="1965960"/>
            <a:ext cx="548640" cy="411480"/>
          </a:xfrm>
          <a:prstGeom prst="rect">
            <a:avLst/>
          </a:prstGeom>
          <a:noFill/>
          <a:ln/>
        </p:spPr>
        <p:txBody>
          <a:bodyPr wrap="square" lIns="0" tIns="0" rIns="0" bIns="0" rtlCol="0" anchor="t"/>
          <a:lstStyle/>
          <a:p>
            <a:pPr indent="0" marL="0">
              <a:buNone/>
            </a:pPr>
            <a:r>
              <a:rPr lang="en-US" sz="2000" b="1" dirty="0">
                <a:solidFill>
                  <a:schemeClr val="bg2"/>
                </a:solidFill>
                <a:latin typeface="Cambria" pitchFamily="34" charset="0"/>
                <a:ea typeface="Cambria" pitchFamily="34" charset="-122"/>
                <a:cs typeface="Cambria" pitchFamily="34" charset="-120"/>
              </a:rPr>
              <a:t>4</a:t>
            </a:r>
            <a:endParaRPr lang="en-US" sz="2000" dirty="0"/>
          </a:p>
        </p:txBody>
      </p:sp>
      <p:sp>
        <p:nvSpPr>
          <p:cNvPr id="18" name="text-223"/>
          <p:cNvSpPr txBox="1"/>
          <p:nvPr/>
        </p:nvSpPr>
        <p:spPr>
          <a:xfrm>
            <a:off x="7525329" y="2377440"/>
            <a:ext cx="1761683" cy="685800"/>
          </a:xfrm>
          <a:prstGeom prst="rect">
            <a:avLst/>
          </a:prstGeom>
          <a:noFill/>
          <a:ln/>
        </p:spPr>
        <p:txBody>
          <a:bodyPr wrap="square" lIns="0" tIns="0" rIns="0" bIns="0" rtlCol="0" anchor="t"/>
          <a:lstStyle/>
          <a:p>
            <a:pPr indent="0" marL="0">
              <a:buNone/>
            </a:pPr>
            <a:r>
              <a:rPr lang="en-US" sz="1600" b="1" dirty="0">
                <a:solidFill>
                  <a:schemeClr val="bg1"/>
                </a:solidFill>
              </a:rPr>
              <a:t>Tolerances</a:t>
            </a:r>
            <a:endParaRPr lang="en-US" sz="1600" dirty="0"/>
          </a:p>
        </p:txBody>
      </p:sp>
      <p:sp>
        <p:nvSpPr>
          <p:cNvPr id="19" name="node-224"/>
          <p:cNvSpPr/>
          <p:nvPr/>
        </p:nvSpPr>
        <p:spPr>
          <a:xfrm>
            <a:off x="7525329" y="3154680"/>
            <a:ext cx="1670243" cy="640080"/>
          </a:xfrm>
          <a:prstGeom prst="roundRect">
            <a:avLst>
              <a:gd name="adj" fmla="val 11429"/>
            </a:avLst>
          </a:prstGeom>
          <a:solidFill>
            <a:schemeClr val="accent5"/>
          </a:solidFill>
          <a:ln>
            <a:solidFill>
              <a:schemeClr val="accent5"/>
            </a:solidFill>
          </a:ln>
        </p:spPr>
        <p:txBody>
          <a:bodyPr wrap="square" lIns="76200" tIns="76200" rIns="76200" bIns="76200" rtlCol="0" anchor="ctr"/>
          <a:lstStyle/>
          <a:p>
            <a:pPr algn="ctr" indent="0" marL="0">
              <a:buNone/>
            </a:pPr>
            <a:r>
              <a:rPr lang="en-US" sz="1300" b="1" dirty="0">
                <a:solidFill>
                  <a:schemeClr val="bg1"/>
                </a:solidFill>
              </a:rPr>
              <a:t>Not tested on physical parts</a:t>
            </a:r>
            <a:endParaRPr lang="en-US" sz="1300" dirty="0"/>
          </a:p>
        </p:txBody>
      </p:sp>
      <p:sp>
        <p:nvSpPr>
          <p:cNvPr id="20" name="panel-225"/>
          <p:cNvSpPr/>
          <p:nvPr/>
        </p:nvSpPr>
        <p:spPr>
          <a:xfrm>
            <a:off x="9607052" y="1828800"/>
            <a:ext cx="2036003" cy="2148840"/>
          </a:xfrm>
          <a:prstGeom prst="roundRect">
            <a:avLst>
              <a:gd name="adj" fmla="val 4491"/>
            </a:avLst>
          </a:prstGeom>
          <a:solidFill>
            <a:schemeClr val="bg1">
              <a:alpha val="10000"/>
            </a:schemeClr>
          </a:solidFill>
          <a:ln w="9525">
            <a:solidFill>
              <a:schemeClr val="bg2"/>
            </a:solidFill>
            <a:prstDash val="solid"/>
          </a:ln>
        </p:spPr>
      </p:sp>
      <p:sp>
        <p:nvSpPr>
          <p:cNvPr id="21" name="text-226"/>
          <p:cNvSpPr txBox="1"/>
          <p:nvPr/>
        </p:nvSpPr>
        <p:spPr>
          <a:xfrm>
            <a:off x="9789932" y="1965960"/>
            <a:ext cx="548640" cy="411480"/>
          </a:xfrm>
          <a:prstGeom prst="rect">
            <a:avLst/>
          </a:prstGeom>
          <a:noFill/>
          <a:ln/>
        </p:spPr>
        <p:txBody>
          <a:bodyPr wrap="square" lIns="0" tIns="0" rIns="0" bIns="0" rtlCol="0" anchor="t"/>
          <a:lstStyle/>
          <a:p>
            <a:pPr indent="0" marL="0">
              <a:buNone/>
            </a:pPr>
            <a:r>
              <a:rPr lang="en-US" sz="2000" b="1" dirty="0">
                <a:solidFill>
                  <a:schemeClr val="bg2"/>
                </a:solidFill>
                <a:latin typeface="Cambria" pitchFamily="34" charset="0"/>
                <a:ea typeface="Cambria" pitchFamily="34" charset="-122"/>
                <a:cs typeface="Cambria" pitchFamily="34" charset="-120"/>
              </a:rPr>
              <a:t>5</a:t>
            </a:r>
            <a:endParaRPr lang="en-US" sz="2000" dirty="0"/>
          </a:p>
        </p:txBody>
      </p:sp>
      <p:sp>
        <p:nvSpPr>
          <p:cNvPr id="22" name="text-227"/>
          <p:cNvSpPr txBox="1"/>
          <p:nvPr/>
        </p:nvSpPr>
        <p:spPr>
          <a:xfrm>
            <a:off x="9789932" y="2377440"/>
            <a:ext cx="1761683" cy="685800"/>
          </a:xfrm>
          <a:prstGeom prst="rect">
            <a:avLst/>
          </a:prstGeom>
          <a:noFill/>
          <a:ln/>
        </p:spPr>
        <p:txBody>
          <a:bodyPr wrap="square" lIns="0" tIns="0" rIns="0" bIns="0" rtlCol="0" anchor="t"/>
          <a:lstStyle/>
          <a:p>
            <a:pPr indent="0" marL="0">
              <a:buNone/>
            </a:pPr>
            <a:r>
              <a:rPr lang="en-US" sz="1600" b="1" dirty="0">
                <a:solidFill>
                  <a:schemeClr val="bg1"/>
                </a:solidFill>
              </a:rPr>
              <a:t>Manufacturability</a:t>
            </a:r>
            <a:endParaRPr lang="en-US" sz="1600" dirty="0"/>
          </a:p>
        </p:txBody>
      </p:sp>
      <p:sp>
        <p:nvSpPr>
          <p:cNvPr id="23" name="node-228"/>
          <p:cNvSpPr/>
          <p:nvPr/>
        </p:nvSpPr>
        <p:spPr>
          <a:xfrm>
            <a:off x="9789932" y="3154680"/>
            <a:ext cx="1670243" cy="640080"/>
          </a:xfrm>
          <a:prstGeom prst="roundRect">
            <a:avLst>
              <a:gd name="adj" fmla="val 11429"/>
            </a:avLst>
          </a:prstGeom>
          <a:solidFill>
            <a:schemeClr val="accent5"/>
          </a:solidFill>
          <a:ln>
            <a:solidFill>
              <a:schemeClr val="accent5"/>
            </a:solidFill>
          </a:ln>
        </p:spPr>
        <p:txBody>
          <a:bodyPr wrap="square" lIns="76200" tIns="76200" rIns="76200" bIns="76200" rtlCol="0" anchor="ctr"/>
          <a:lstStyle/>
          <a:p>
            <a:pPr algn="ctr" indent="0" marL="0">
              <a:buNone/>
            </a:pPr>
            <a:r>
              <a:rPr lang="en-US" sz="1300" b="1" dirty="0">
                <a:solidFill>
                  <a:schemeClr val="bg1"/>
                </a:solidFill>
              </a:rPr>
              <a:t>Not tested on physical parts</a:t>
            </a:r>
            <a:endParaRPr lang="en-US" sz="1300" dirty="0"/>
          </a:p>
        </p:txBody>
      </p:sp>
      <p:sp>
        <p:nvSpPr>
          <p:cNvPr id="24" name="text-229"/>
          <p:cNvSpPr txBox="1"/>
          <p:nvPr/>
        </p:nvSpPr>
        <p:spPr>
          <a:xfrm>
            <a:off x="548640" y="4251960"/>
            <a:ext cx="2377440" cy="411480"/>
          </a:xfrm>
          <a:prstGeom prst="rect">
            <a:avLst/>
          </a:prstGeom>
          <a:noFill/>
          <a:ln/>
        </p:spPr>
        <p:txBody>
          <a:bodyPr wrap="square" lIns="0" tIns="0" rIns="0" bIns="0" rtlCol="0" anchor="ctr"/>
          <a:lstStyle/>
          <a:p>
            <a:pPr indent="0" marL="0">
              <a:buNone/>
            </a:pPr>
            <a:r>
              <a:rPr lang="en-US" sz="1600" b="1" dirty="0">
                <a:solidFill>
                  <a:schemeClr val="bg1"/>
                </a:solidFill>
              </a:rPr>
              <a:t>For each gate, record:</a:t>
            </a:r>
            <a:endParaRPr lang="en-US" sz="1600" dirty="0"/>
          </a:p>
        </p:txBody>
      </p:sp>
      <p:sp>
        <p:nvSpPr>
          <p:cNvPr id="25" name="node-230"/>
          <p:cNvSpPr/>
          <p:nvPr/>
        </p:nvSpPr>
        <p:spPr>
          <a:xfrm>
            <a:off x="2926080" y="4251960"/>
            <a:ext cx="1645920" cy="411480"/>
          </a:xfrm>
          <a:prstGeom prst="roundRect">
            <a:avLst>
              <a:gd name="adj" fmla="val 17778"/>
            </a:avLst>
          </a:prstGeom>
          <a:solidFill>
            <a:schemeClr val="tx1"/>
          </a:solidFill>
          <a:ln w="9525">
            <a:solidFill>
              <a:schemeClr val="bg2"/>
            </a:solidFill>
          </a:ln>
        </p:spPr>
        <p:txBody>
          <a:bodyPr wrap="square" lIns="76200" tIns="76200" rIns="76200" bIns="76200" rtlCol="0" anchor="ctr"/>
          <a:lstStyle/>
          <a:p>
            <a:pPr algn="ctr" indent="0" marL="0">
              <a:buNone/>
            </a:pPr>
            <a:r>
              <a:rPr lang="en-US" sz="1300" dirty="0">
                <a:solidFill>
                  <a:schemeClr val="bg1"/>
                </a:solidFill>
              </a:rPr>
              <a:t>the file tested</a:t>
            </a:r>
            <a:endParaRPr lang="en-US" sz="1300" dirty="0"/>
          </a:p>
        </p:txBody>
      </p:sp>
      <p:sp>
        <p:nvSpPr>
          <p:cNvPr id="26" name="node-231"/>
          <p:cNvSpPr/>
          <p:nvPr/>
        </p:nvSpPr>
        <p:spPr>
          <a:xfrm>
            <a:off x="4681728" y="4251960"/>
            <a:ext cx="1645920" cy="411480"/>
          </a:xfrm>
          <a:prstGeom prst="roundRect">
            <a:avLst>
              <a:gd name="adj" fmla="val 17778"/>
            </a:avLst>
          </a:prstGeom>
          <a:solidFill>
            <a:schemeClr val="tx1"/>
          </a:solidFill>
          <a:ln w="9525">
            <a:solidFill>
              <a:schemeClr val="bg2"/>
            </a:solidFill>
          </a:ln>
        </p:spPr>
        <p:txBody>
          <a:bodyPr wrap="square" lIns="76200" tIns="76200" rIns="76200" bIns="76200" rtlCol="0" anchor="ctr"/>
          <a:lstStyle/>
          <a:p>
            <a:pPr algn="ctr" indent="0" marL="0">
              <a:buNone/>
            </a:pPr>
            <a:r>
              <a:rPr lang="en-US" sz="1300" dirty="0">
                <a:solidFill>
                  <a:schemeClr val="bg1"/>
                </a:solidFill>
              </a:rPr>
              <a:t>software used</a:t>
            </a:r>
            <a:endParaRPr lang="en-US" sz="1300" dirty="0"/>
          </a:p>
        </p:txBody>
      </p:sp>
      <p:sp>
        <p:nvSpPr>
          <p:cNvPr id="27" name="node-232"/>
          <p:cNvSpPr/>
          <p:nvPr/>
        </p:nvSpPr>
        <p:spPr>
          <a:xfrm>
            <a:off x="6437376" y="4251960"/>
            <a:ext cx="1645920" cy="411480"/>
          </a:xfrm>
          <a:prstGeom prst="roundRect">
            <a:avLst>
              <a:gd name="adj" fmla="val 17778"/>
            </a:avLst>
          </a:prstGeom>
          <a:solidFill>
            <a:schemeClr val="tx1"/>
          </a:solidFill>
          <a:ln w="9525">
            <a:solidFill>
              <a:schemeClr val="bg2"/>
            </a:solidFill>
          </a:ln>
        </p:spPr>
        <p:txBody>
          <a:bodyPr wrap="square" lIns="76200" tIns="76200" rIns="76200" bIns="76200" rtlCol="0" anchor="ctr"/>
          <a:lstStyle/>
          <a:p>
            <a:pPr algn="ctr" indent="0" marL="0">
              <a:buNone/>
            </a:pPr>
            <a:r>
              <a:rPr lang="en-US" sz="1300" dirty="0">
                <a:solidFill>
                  <a:schemeClr val="bg1"/>
                </a:solidFill>
              </a:rPr>
              <a:t>material assumptions</a:t>
            </a:r>
            <a:endParaRPr lang="en-US" sz="1300" dirty="0"/>
          </a:p>
        </p:txBody>
      </p:sp>
      <p:sp>
        <p:nvSpPr>
          <p:cNvPr id="28" name="node-233"/>
          <p:cNvSpPr/>
          <p:nvPr/>
        </p:nvSpPr>
        <p:spPr>
          <a:xfrm>
            <a:off x="8193024" y="4251960"/>
            <a:ext cx="1645920" cy="411480"/>
          </a:xfrm>
          <a:prstGeom prst="roundRect">
            <a:avLst>
              <a:gd name="adj" fmla="val 17778"/>
            </a:avLst>
          </a:prstGeom>
          <a:solidFill>
            <a:schemeClr val="tx1"/>
          </a:solidFill>
          <a:ln w="9525">
            <a:solidFill>
              <a:schemeClr val="bg2"/>
            </a:solidFill>
          </a:ln>
        </p:spPr>
        <p:txBody>
          <a:bodyPr wrap="square" lIns="76200" tIns="76200" rIns="76200" bIns="76200" rtlCol="0" anchor="ctr"/>
          <a:lstStyle/>
          <a:p>
            <a:pPr algn="ctr" indent="0" marL="0">
              <a:buNone/>
            </a:pPr>
            <a:r>
              <a:rPr lang="en-US" sz="1300" dirty="0">
                <a:solidFill>
                  <a:schemeClr val="bg1"/>
                </a:solidFill>
              </a:rPr>
              <a:t>who scored it</a:t>
            </a:r>
            <a:endParaRPr lang="en-US" sz="1300" dirty="0"/>
          </a:p>
        </p:txBody>
      </p:sp>
      <p:sp>
        <p:nvSpPr>
          <p:cNvPr id="29" name="node-234"/>
          <p:cNvSpPr/>
          <p:nvPr/>
        </p:nvSpPr>
        <p:spPr>
          <a:xfrm>
            <a:off x="9948672" y="4251960"/>
            <a:ext cx="1645920" cy="411480"/>
          </a:xfrm>
          <a:prstGeom prst="roundRect">
            <a:avLst>
              <a:gd name="adj" fmla="val 17778"/>
            </a:avLst>
          </a:prstGeom>
          <a:solidFill>
            <a:schemeClr val="tx1"/>
          </a:solidFill>
          <a:ln w="9525">
            <a:solidFill>
              <a:schemeClr val="bg2"/>
            </a:solidFill>
          </a:ln>
        </p:spPr>
        <p:txBody>
          <a:bodyPr wrap="square" lIns="76200" tIns="76200" rIns="76200" bIns="76200" rtlCol="0" anchor="ctr"/>
          <a:lstStyle/>
          <a:p>
            <a:pPr algn="ctr" indent="0" marL="0">
              <a:buNone/>
            </a:pPr>
            <a:r>
              <a:rPr lang="en-US" sz="1300" dirty="0">
                <a:solidFill>
                  <a:schemeClr val="bg1"/>
                </a:solidFill>
              </a:rPr>
              <a:t>failure cases</a:t>
            </a:r>
            <a:endParaRPr lang="en-US" sz="1300" dirty="0"/>
          </a:p>
        </p:txBody>
      </p:sp>
      <p:sp>
        <p:nvSpPr>
          <p:cNvPr id="30" name="text-235"/>
          <p:cNvSpPr txBox="1"/>
          <p:nvPr/>
        </p:nvSpPr>
        <p:spPr>
          <a:xfrm>
            <a:off x="548640" y="4937760"/>
            <a:ext cx="11094415" cy="640080"/>
          </a:xfrm>
          <a:prstGeom prst="rect">
            <a:avLst/>
          </a:prstGeom>
          <a:noFill/>
          <a:ln/>
        </p:spPr>
        <p:txBody>
          <a:bodyPr wrap="square" lIns="0" tIns="0" rIns="0" bIns="0" rtlCol="0" anchor="ctr"/>
          <a:lstStyle/>
          <a:p>
            <a:pPr indent="0" marL="0">
              <a:buNone/>
            </a:pPr>
            <a:r>
              <a:rPr lang="en-US" sz="2600" i="1" dirty="0">
                <a:solidFill>
                  <a:schemeClr val="bg1"/>
                </a:solidFill>
                <a:latin typeface="Cambria" pitchFamily="34" charset="0"/>
                <a:ea typeface="Cambria" pitchFamily="34" charset="-122"/>
                <a:cs typeface="Cambria" pitchFamily="34" charset="-120"/>
              </a:rPr>
              <a:t>Ask: what was checked, by whom, and under what conditions?</a:t>
            </a:r>
            <a:endParaRPr lang="en-US" sz="2600" dirty="0"/>
          </a:p>
        </p:txBody>
      </p:sp>
      <p:sp>
        <p:nvSpPr>
          <p:cNvPr id="31" name="text-236"/>
          <p:cNvSpPr txBox="1"/>
          <p:nvPr/>
        </p:nvSpPr>
        <p:spPr>
          <a:xfrm>
            <a:off x="548640" y="5998464"/>
            <a:ext cx="11094415" cy="310896"/>
          </a:xfrm>
          <a:prstGeom prst="rect">
            <a:avLst/>
          </a:prstGeom>
          <a:noFill/>
          <a:ln/>
        </p:spPr>
        <p:txBody>
          <a:bodyPr wrap="square" lIns="0" tIns="0" rIns="0" bIns="0" rtlCol="0" anchor="ctr"/>
          <a:lstStyle/>
          <a:p>
            <a:pPr indent="0" marL="0">
              <a:buNone/>
            </a:pPr>
            <a:r>
              <a:rPr lang="en-US" sz="1100" dirty="0">
                <a:solidFill>
                  <a:schemeClr val="bg2"/>
                </a:solidFill>
              </a:rPr>
              <a:t>Source: Engineering.com, Sept. 30, 2026; MIT-CDFG, Sept. 22, 2026. Gate list is an editorial recommendation</a:t>
            </a:r>
            <a:endParaRPr lang="en-US" sz="11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9</a:t>
            </a:fld>
            <a:endParaRPr lang="en-US"/>
          </a:p>
        </p:txBody>
      </p:sp>
    </p:spTree>
  </p:cSld>
  <p:clrMapOvr>
    <a:masterClrMapping/>
  </p:clrMapOvr>
  <p:transition spd="med" advClick="1" advTm="30890">
    <p:fade/>
  </p:transition>
</p:sld>
</file>

<file path=ppt/theme/theme1.xml><?xml version="1.0" encoding="utf-8"?>
<a:theme xmlns:a="http://schemas.openxmlformats.org/drawingml/2006/main" name="Engineering Evidence 02">
  <a:themeElements>
    <a:clrScheme name="Engineering Evidence 02">
      <a:dk1>
        <a:srgbClr val="161E33"/>
      </a:dk1>
      <a:lt1>
        <a:srgbClr val="FFFFFF"/>
      </a:lt1>
      <a:dk2>
        <a:srgbClr val="4A5663"/>
      </a:dk2>
      <a:lt2>
        <a:srgbClr val="EEF1F4"/>
      </a:lt2>
      <a:accent1>
        <a:srgbClr val="2C5596"/>
      </a:accent1>
      <a:accent2>
        <a:srgbClr val="2E7D5B"/>
      </a:accent2>
      <a:accent3>
        <a:srgbClr val="8F5A00"/>
      </a:accent3>
      <a:accent4>
        <a:srgbClr val="5E4C94"/>
      </a:accent4>
      <a:accent5>
        <a:srgbClr val="B3362B"/>
      </a:accent5>
      <a:accent6>
        <a:srgbClr val="66707C"/>
      </a:accent6>
      <a:hlink>
        <a:srgbClr val="1F5A99"/>
      </a:hlink>
      <a:folHlink>
        <a:srgbClr val="5E4C94"/>
      </a:folHlink>
    </a:clrScheme>
    <a:fontScheme name="Engineering Evidence 02">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CAD File Is Not Yet an Engineering Workflow</dc:title>
  <dc:subject>AI-ASSISTED</dc:subject>
  <dc:creator>Steph Xu</dc:creator>
  <cp:lastModifiedBy>Steph Xu</cp:lastModifiedBy>
  <cp:revision>1</cp:revision>
  <dcterms:created xsi:type="dcterms:W3CDTF">2026-10-16T21:26:44Z</dcterms:created>
  <dcterms:modified xsi:type="dcterms:W3CDTF">2026-10-16T21:26:44Z</dcterms:modified>
</cp:coreProperties>
</file>