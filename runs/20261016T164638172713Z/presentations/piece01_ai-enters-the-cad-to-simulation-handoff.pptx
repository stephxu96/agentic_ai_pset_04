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Enters the CAD-to-Simulation Handoff" id="{b0617e82-7c50-c7dc-ad1f-d11d17ae9322}">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moving from a chat window beside CAD into the handoffs between engineering stages. Onshape says a language model can now write reusable CAD features; SimScale says its agent can set up and run a simulation from one prompt. Both are product claims, not validation. Pilot them where inputs are constrained and engineers still approve the result.
———
VOICEOVER CUE: 00:00.0–00:24.5 in piece01_voiceover.m4a (AI-generated voice: Chatterbox clone of the author’s voice). Suggested script window: new opening (not in original timing table).
OPENING: Opening: executive summary. Audience: technical product managers and engineering leaders deciding where to build on frontier models for spatial, geometric, and manufacturing-design work.
SOURCES:
- Onshape, “5 Ways Teams Can Leverage the Onshape FeatureScript MCP Server,” September 30, 2026. https://www.onshape.com/en/blog/featurescript-mcp-server-use-cases-text-code-cad
- Engineering.com, “Multiphysics gets MCP server and Onshape gets SimScale agent,” September 23, 2026. https://www.engineering.com/multiphysics-gets-mcp-server-and-onshape-gets-simscale-agent/
- NVIDIA, “What’s New in Newton Physics for Robot Simulation | Robotics Office Hour,” October 15, 2026, 18:10–18:13. https://www.youtube.com/watch?v=4dbaTrlaLJ8
- Physical AI Podcast, “Black Forest Labs Beat NVIDIA, Figure's Rival Did the Maths,” September 26, 2026, 3:36–3:45. https://dts.podtrac.com/redirect.mp3/op3.dev/e,pg=83ccf97e-1d88-565b-ad28-0411c3a101af/physicalaipodcast.co/audio/episode-008.mp3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uses AI-generated narration. As of October 16, 2026. Onshape and SimScale describe AI systems that act at two distinct engineering stages: reusable CAD-feature creation and simulation setup. The answer is not that CAD has gained a better chat window. These announcements do not establish dependable production geometry or correct simulation decisions.
———
VOICEOVER CUE: 00:24.5–00:50.0 in piece01_voiceover.m4a (AI-generated voice: Chatterbox clone of the author’s voice). Suggested script window: 00:00–00:33.
SCENE 1: The answer
SOURCES:
- Onshape, “5 Ways Teams Can Leverage the Onshape FeatureScript MCP Server,” September 30, 2026. https://www.onshape.com/en/blog/featurescript-mcp-server-use-cases-text-code-cad
- Engineering.com, “Multiphysics gets MCP server and Onshape gets SimScale agent,” September 23, 2026. https://www.engineering.com/multiphysics-gets-mcp-server-and-onshape-gets-simscale-agent/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upstream in CAD. Onshape says its FeatureScript MCP Server connects large language models to Onshape and enables teams to generate custom features from natural-language requests. Onshape also says the workflow can carry requirements from an LLM request into Onshape.
This is text-to-code-to-CAD. FeatureScript is code for reusable parametric CAD functionality, not just a one-off geometry prompt. My interpretation is that this makes the workflow easier to inspect. A team can review the generated script, exercise its parameters, inspect the geometry, and check whether it implements intended design rules.
———
VOICEOVER CUE: 00:50.0–01:32.7 in piece01_voiceover.m4a (AI-generated voice: Chatterbox clone of the author’s voice). Suggested script window: 00:33–01:10.
SCENE 2: Onshape’s claim
SOURCES:
- Onshape, “5 Ways Teams Can Leverage the Onshape FeatureScript MCP Server,” September 30, 2026. https://www.onshape.com/en/blog/featurescript-mcp-server-use-cases-text-code-cad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core test: what was actually checked? Here, the evidence is Onshape’s product description. It supports what Onshape says the server enables.
It is not a disclosed test of generated FeatureScripts across requirements, edge cases, revisions, or manufacturing outcomes. So this source claim does not show that a generated feature preserves design intent in a production model. A valid-looking feature is not, by itself, proof that the design rules are right.
———
VOICEOVER CUE: 01:32.7–02:03.6 in piece01_voiceover.m4a (AI-generated voice: Chatterbox clone of the author’s voice). Suggested script window: 01:10–01:40.
SCENE 3: What that check does not establish
SOURCES:
- Onshape, “5 Ways Teams Can Leverage the Onshape FeatureScript MCP Server,” September 30, 2026. https://www.onshape.com/en/blog/featurescript-mcp-server-use-cases-text-code-cad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Downstream, Engineering.com reports that SimScale’s Engineering AI Agent is available through Onshape’s app store. SimScale says that, from one prompt, its agent can take a CAD model, propose a setup, mesh it, run physics, and report results in Onshape.
That is a broader handoff. It places an agent at simulation setup and execution. But a completed run is not evidence of a valid analysis.
———
VOICEOVER CUE: 02:03.6–02:31.0 in piece01_voiceover.m4a (AI-generated voice: Chatterbox clone of the author’s voice). Suggested script window: 01:40–02:07.
SCENE 4: SimScale moves downstream
SOURCES:
- Engineering.com, “Multiphysics gets MCP server and Onshape gets SimScale agent,” September 23, 2026. https://www.engineering.com/multiphysics-gets-mcp-server-and-onshape-gets-simscale-agent/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matters. For a generated CAD feature, review can center on code, parameter behavior, geometry, and encoded rules.
For simulation, reviewers must also ask whether the abstraction answers the engineering question. Loads, boundary conditions, material assumptions, contact definitions, mesh choices, solver settings, and result interpretation all matter.
The observed checks here are narrow. Engineering.com supports the reported availability of the integration. The quoted release supports what SimScale says its agent can do in its described workflow. Neither presents a public comparison with engineer-reviewed ground truth, or a validation study showing results match the relevant physical system.
———
VOICEOVER CUE: 02:31.0–03:19.4 in piece01_voiceover.m4a (AI-generated voice: Chatterbox clone of the author’s voice). Suggested script window: 02:07–02:47.
SCENE 5: The verification burden changes
SOURCES:
- Engineering.com, “Multiphysics gets MCP server and Onshape gets SimScale agent,” September 23, 2026. https://www.engineering.com/multiphysics-gets-mcp-server-and-onshape-gets-simscale-agent/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Robotics provides supporting context, not proof for either CAD workflow. In an NVIDIA Robotics Office Hour, a presenter states that Newton physics for robot simulation is completely open source. The check is the presenter’s statement. It supports only NVIDIA’s claim about Newton’s availability and contribution model. It does not demonstrate simulator accuracy, transfer to hardware, or usefulness for a specific CAD-to-simulation workflow.
A Physical AI Podcast episode reports a blind evaluation with 10 manipulation tasks, three attempts per task, a shared time window, and a shared scoring sheet. If verified, that is closer to useful evaluation discipline: common tasks, bounded attempts, and a shared scoring procedure. But this is an automatic transcript, not underlying evaluation materials or a public grader. The figures and protocol details remain uncertain.
———
VOICEOVER CUE: 03:19.4–04:14.8 in piece01_voiceover.m4a (AI-generated voice: Chatterbox clone of the author’s voice). Suggested script window: 02:47–03:40.
SCENE 6: Supporting robotics context
SOURCES:
- NVIDIA, “What’s New in Newton Physics for Robot Simulation | Robotics Office Hour,” October 15, 2026, 18:10–18:13. https://www.youtube.com/watch?v=4dbaTrlaLJ8
- Physical AI Podcast, “Black Forest Labs Beat NVIDIA, Figure's Rival Did the Maths,” September 26, 2026, 3:36–3:45. https://dts.podtrac.com/redirect.mp3/op3.dev/e,pg=83ccf97e-1d88-565b-ad28-0411c3a101af/physicalaipodcast.co/audio/episode-008.mp3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interpretation is that AI is being attached to engineering interfaces, not merely offered as an assistant that drafts text. Teams should pilot these tools where inputs are constrained and engineering review remains explicit.
For CAD, require tests tied to intended rules and reusable parameters. For simulation, require reviewers to approve setup assumptions before treating outputs as decisions. Watch next for public task suites, disclosed graders, repeatable comparisons with engineer-authored setups, and evidence that connects a completed simulation to physical validation.
———
VOICEOVER CUE: 04:14.8–04:54.4 in piece01_voiceover.m4a (AI-generated voice: Chatterbox clone of the author’s voice). Suggested script window: 03:40–04:13.
SCENE 7: What to do next
SOURCES:
- Onshape, “5 Ways Teams Can Leverage the Onshape FeatureScript MCP Server,” September 30, 2026. https://www.onshape.com/en/blog/featurescript-mcp-server-use-cases-text-code-cad
- Engineering.com, “Multiphysics gets MCP server and Onshape gets SimScale agent,” September 23, 2026. https://www.engineering.com/multiphysics-gets-mcp-server-and-onshape-gets-simscale-agent/
- NVIDIA, “What’s New in Newton Physics for Robot Simulation | Robotics Office Hour,” October 15, 2026, 18:10–18:13. https://www.youtube.com/watch?v=4dbaTrlaLJ8
- Physical AI Podcast, “Black Forest Labs Beat NVIDIA, Figure's Rival Did the Maths,” September 26, 2026, 3:36–3:45. https://dts.podtrac.com/redirect.mp3/op3.dev/e,pg=83ccf97e-1d88-565b-ad28-0411c3a101af/physicalaipodcast.co/audio/episode-008.mp3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241280" cy="18288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794760"/>
            <a:ext cx="10241280"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4"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bg2"/>
                </a:solidFill>
              </a:rPr>
              <a:t>AI-ASSISTED · AI Enters the CAD-to-Simulation Handoff</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bg2"/>
                </a:solidFill>
              </a:rPr>
              <a:t>AI-ASSISTED · AI Enters the CAD-to-Simulation Handoff</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tx2"/>
                </a:solidFill>
              </a:rPr>
              <a:t>AI-ASSISTED · AI Enters the CAD-to-Simulation Handoff</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241280" cy="1828800"/>
          </a:xfrm>
          <a:prstGeom prst="rect">
            <a:avLst/>
          </a:prstGeom>
          <a:noFill/>
          <a:ln/>
        </p:spPr>
        <p:txBody>
          <a:bodyPr wrap="square" lIns="0" tIns="0" rIns="0" bIns="0" rtlCol="0" anchor="b"/>
          <a:lstStyle/>
          <a:p>
            <a:pPr algn="l" indent="0" marL="0">
              <a:buNone/>
            </a:pPr>
            <a:r>
              <a:rPr lang="en-US" sz="4800" b="1" dirty="0">
                <a:solidFill>
                  <a:schemeClr val="bg1"/>
                </a:solidFill>
              </a:rPr>
              <a:t>AI Enters the CAD-to-Simulation Handoff</a:t>
            </a:r>
            <a:endParaRPr lang="en-US" sz="4800" dirty="0"/>
          </a:p>
        </p:txBody>
      </p:sp>
      <p:sp>
        <p:nvSpPr>
          <p:cNvPr id="3" name="Text 0"/>
          <p:cNvSpPr/>
          <p:nvPr>
            <p:ph idx="101" type="body" hasCustomPrompt="1"/>
          </p:nvPr>
        </p:nvSpPr>
        <p:spPr>
          <a:xfrm>
            <a:off x="548640" y="3794760"/>
            <a:ext cx="10241280" cy="548640"/>
          </a:xfrm>
          <a:prstGeom prst="rect">
            <a:avLst/>
          </a:prstGeom>
          <a:noFill/>
          <a:ln/>
        </p:spPr>
        <p:txBody>
          <a:bodyPr wrap="square" lIns="0" tIns="0" rIns="0" bIns="0" rtlCol="0" anchor="t"/>
          <a:lstStyle/>
          <a:p>
            <a:pPr algn="l" indent="0" marL="0">
              <a:buNone/>
            </a:pPr>
            <a:r>
              <a:rPr lang="en-US" sz="2200" dirty="0">
                <a:solidFill>
                  <a:schemeClr val="bg2"/>
                </a:solidFill>
              </a:rPr>
              <a:t>For technical product managers and engineering leaders</a:t>
            </a:r>
            <a:endParaRPr lang="en-US" sz="2200" dirty="0"/>
          </a:p>
        </p:txBody>
      </p:sp>
      <p:sp>
        <p:nvSpPr>
          <p:cNvPr id="4" name="text-1"/>
          <p:cNvSpPr txBox="1"/>
          <p:nvPr/>
        </p:nvSpPr>
        <p:spPr>
          <a:xfrm>
            <a:off x="548640" y="548640"/>
            <a:ext cx="11094415" cy="320040"/>
          </a:xfrm>
          <a:prstGeom prst="rect">
            <a:avLst/>
          </a:prstGeom>
          <a:noFill/>
          <a:ln/>
        </p:spPr>
        <p:txBody>
          <a:bodyPr wrap="square" lIns="0" tIns="0" rIns="0" bIns="0" rtlCol="0" anchor="t"/>
          <a:lstStyle/>
          <a:p>
            <a:pPr indent="0" marL="0">
              <a:buNone/>
            </a:pPr>
            <a:r>
              <a:rPr lang="en-US" sz="1200" b="1" spc="200" kern="0" dirty="0">
                <a:solidFill>
                  <a:schemeClr val="bg2"/>
                </a:solidFill>
              </a:rPr>
              <a:t>AGENTIC 3D  ·  OCTOBER 16, 2026  ·  AI-GENERATED NARRATION</a:t>
            </a:r>
            <a:endParaRPr lang="en-US" sz="1200" dirty="0"/>
          </a:p>
        </p:txBody>
      </p:sp>
    </p:spTree>
  </p:cSld>
  <p:clrMapOvr>
    <a:masterClrMapping/>
  </p:clrMapOvr>
  <p:transition spd="med" advClick="1" advTm="2449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AI now sits at two engineering handoffs</a:t>
            </a:r>
            <a:endParaRPr lang="en-US" sz="3200" dirty="0"/>
          </a:p>
        </p:txBody>
      </p:sp>
      <p:sp>
        <p:nvSpPr>
          <p:cNvPr id="3" name="node-2"/>
          <p:cNvSpPr/>
          <p:nvPr/>
        </p:nvSpPr>
        <p:spPr>
          <a:xfrm>
            <a:off x="548640" y="1965960"/>
            <a:ext cx="2259254" cy="960120"/>
          </a:xfrm>
          <a:prstGeom prst="roundRect">
            <a:avLst>
              <a:gd name="adj" fmla="val 7619"/>
            </a:avLst>
          </a:prstGeom>
          <a:solidFill>
            <a:schemeClr val="bg2"/>
          </a:solidFill>
          <a:ln w="12700">
            <a:solidFill>
              <a:schemeClr val="bg2"/>
            </a:solidFill>
          </a:ln>
        </p:spPr>
        <p:txBody>
          <a:bodyPr wrap="square" lIns="76200" tIns="76200" rIns="76200" bIns="76200" rtlCol="0" anchor="ctr"/>
          <a:lstStyle/>
          <a:p>
            <a:pPr algn="ctr" indent="0" marL="0">
              <a:buNone/>
            </a:pPr>
            <a:r>
              <a:rPr lang="en-US" sz="1800" b="1" dirty="0">
                <a:solidFill>
                  <a:schemeClr val="tx1"/>
                </a:solidFill>
              </a:rPr>
              <a:t>Natural-language request</a:t>
            </a:r>
            <a:endParaRPr lang="en-US" sz="1800" dirty="0"/>
          </a:p>
        </p:txBody>
      </p:sp>
      <p:sp>
        <p:nvSpPr>
          <p:cNvPr id="4" name="arrow-3"/>
          <p:cNvSpPr/>
          <p:nvPr/>
        </p:nvSpPr>
        <p:spPr>
          <a:xfrm>
            <a:off x="2862758" y="2446020"/>
            <a:ext cx="576072" cy="0"/>
          </a:xfrm>
          <a:prstGeom prst="line">
            <a:avLst/>
          </a:prstGeom>
          <a:noFill/>
          <a:ln w="25400">
            <a:solidFill>
              <a:schemeClr val="tx2"/>
            </a:solidFill>
            <a:prstDash val="solid"/>
            <a:tailEnd type="triangle"/>
          </a:ln>
        </p:spPr>
      </p:sp>
      <p:sp>
        <p:nvSpPr>
          <p:cNvPr id="5" name="node-4"/>
          <p:cNvSpPr/>
          <p:nvPr/>
        </p:nvSpPr>
        <p:spPr>
          <a:xfrm>
            <a:off x="3493694" y="1965960"/>
            <a:ext cx="2259254" cy="960120"/>
          </a:xfrm>
          <a:prstGeom prst="roundRect">
            <a:avLst>
              <a:gd name="adj" fmla="val 7619"/>
            </a:avLst>
          </a:prstGeom>
          <a:solidFill>
            <a:schemeClr val="accent1"/>
          </a:solidFill>
          <a:ln>
            <a:solidFill>
              <a:schemeClr val="accent1"/>
            </a:solidFill>
          </a:ln>
        </p:spPr>
        <p:txBody>
          <a:bodyPr wrap="square" lIns="76200" tIns="76200" rIns="76200" bIns="76200" rtlCol="0" anchor="ctr"/>
          <a:lstStyle/>
          <a:p>
            <a:pPr algn="ctr" indent="0" marL="0">
              <a:buNone/>
            </a:pPr>
            <a:r>
              <a:rPr lang="en-US" sz="1800" b="1" dirty="0">
                <a:solidFill>
                  <a:schemeClr val="bg1"/>
                </a:solidFill>
              </a:rPr>
              <a:t>Reusable CAD feature</a:t>
            </a:r>
            <a:endParaRPr lang="en-US" sz="1800" dirty="0"/>
          </a:p>
        </p:txBody>
      </p:sp>
      <p:sp>
        <p:nvSpPr>
          <p:cNvPr id="6" name="arrow-5"/>
          <p:cNvSpPr/>
          <p:nvPr/>
        </p:nvSpPr>
        <p:spPr>
          <a:xfrm>
            <a:off x="5807812" y="2446020"/>
            <a:ext cx="576072" cy="0"/>
          </a:xfrm>
          <a:prstGeom prst="line">
            <a:avLst/>
          </a:prstGeom>
          <a:noFill/>
          <a:ln w="25400">
            <a:solidFill>
              <a:schemeClr val="tx2"/>
            </a:solidFill>
            <a:prstDash val="solid"/>
            <a:tailEnd type="triangle"/>
          </a:ln>
        </p:spPr>
      </p:sp>
      <p:sp>
        <p:nvSpPr>
          <p:cNvPr id="7" name="node-6"/>
          <p:cNvSpPr/>
          <p:nvPr/>
        </p:nvSpPr>
        <p:spPr>
          <a:xfrm>
            <a:off x="6438748" y="1965960"/>
            <a:ext cx="2259254" cy="960120"/>
          </a:xfrm>
          <a:prstGeom prst="roundRect">
            <a:avLst>
              <a:gd name="adj" fmla="val 7619"/>
            </a:avLst>
          </a:prstGeom>
          <a:solidFill>
            <a:schemeClr val="accent1"/>
          </a:solidFill>
          <a:ln>
            <a:solidFill>
              <a:schemeClr val="accent1"/>
            </a:solidFill>
          </a:ln>
        </p:spPr>
        <p:txBody>
          <a:bodyPr wrap="square" lIns="76200" tIns="76200" rIns="76200" bIns="76200" rtlCol="0" anchor="ctr"/>
          <a:lstStyle/>
          <a:p>
            <a:pPr algn="ctr" indent="0" marL="0">
              <a:buNone/>
            </a:pPr>
            <a:r>
              <a:rPr lang="en-US" sz="1800" b="1" dirty="0">
                <a:solidFill>
                  <a:schemeClr val="bg1"/>
                </a:solidFill>
              </a:rPr>
              <a:t>Simulation setup</a:t>
            </a:r>
            <a:endParaRPr lang="en-US" sz="1800" dirty="0"/>
          </a:p>
        </p:txBody>
      </p:sp>
      <p:sp>
        <p:nvSpPr>
          <p:cNvPr id="8" name="arrow-7"/>
          <p:cNvSpPr/>
          <p:nvPr/>
        </p:nvSpPr>
        <p:spPr>
          <a:xfrm>
            <a:off x="8752865" y="2446020"/>
            <a:ext cx="576072" cy="0"/>
          </a:xfrm>
          <a:prstGeom prst="line">
            <a:avLst/>
          </a:prstGeom>
          <a:noFill/>
          <a:ln w="25400">
            <a:solidFill>
              <a:schemeClr val="tx2"/>
            </a:solidFill>
            <a:prstDash val="solid"/>
            <a:tailEnd type="triangle"/>
          </a:ln>
        </p:spPr>
      </p:sp>
      <p:sp>
        <p:nvSpPr>
          <p:cNvPr id="9" name="node-8"/>
          <p:cNvSpPr/>
          <p:nvPr/>
        </p:nvSpPr>
        <p:spPr>
          <a:xfrm>
            <a:off x="9383801" y="1965960"/>
            <a:ext cx="2259254" cy="960120"/>
          </a:xfrm>
          <a:prstGeom prst="roundRect">
            <a:avLst>
              <a:gd name="adj" fmla="val 7619"/>
            </a:avLst>
          </a:prstGeom>
          <a:solidFill>
            <a:schemeClr val="bg1"/>
          </a:solidFill>
          <a:ln w="12700">
            <a:solidFill>
              <a:schemeClr val="accent6"/>
            </a:solidFill>
            <a:prstDash val="dash"/>
          </a:ln>
        </p:spPr>
        <p:txBody>
          <a:bodyPr wrap="square" lIns="76200" tIns="76200" rIns="76200" bIns="76200" rtlCol="0" anchor="ctr"/>
          <a:lstStyle/>
          <a:p>
            <a:pPr algn="ctr" indent="0" marL="0">
              <a:buNone/>
            </a:pPr>
            <a:r>
              <a:rPr lang="en-US" sz="1800" dirty="0">
                <a:solidFill>
                  <a:schemeClr val="tx2"/>
                </a:solidFill>
              </a:rPr>
              <a:t>Engineering decision</a:t>
            </a:r>
            <a:endParaRPr lang="en-US" sz="1800" dirty="0"/>
          </a:p>
        </p:txBody>
      </p:sp>
      <p:sp>
        <p:nvSpPr>
          <p:cNvPr id="10" name="text-9"/>
          <p:cNvSpPr txBox="1"/>
          <p:nvPr/>
        </p:nvSpPr>
        <p:spPr>
          <a:xfrm>
            <a:off x="1984934" y="3063240"/>
            <a:ext cx="2377440" cy="548640"/>
          </a:xfrm>
          <a:prstGeom prst="rect">
            <a:avLst/>
          </a:prstGeom>
          <a:noFill/>
          <a:ln/>
        </p:spPr>
        <p:txBody>
          <a:bodyPr wrap="square" lIns="0" tIns="0" rIns="0" bIns="0" rtlCol="0" anchor="t"/>
          <a:lstStyle/>
          <a:p>
            <a:pPr algn="ctr" indent="0" marL="0">
              <a:buNone/>
            </a:pPr>
            <a:r>
              <a:rPr lang="en-US" sz="1300" dirty="0">
                <a:solidFill>
                  <a:schemeClr val="tx2"/>
                </a:solidFill>
              </a:rPr>
              <a:t>Handoff 1: Onshape FeatureScript server</a:t>
            </a:r>
            <a:endParaRPr lang="en-US" sz="1300" dirty="0"/>
          </a:p>
        </p:txBody>
      </p:sp>
      <p:sp>
        <p:nvSpPr>
          <p:cNvPr id="11" name="text-10"/>
          <p:cNvSpPr txBox="1"/>
          <p:nvPr/>
        </p:nvSpPr>
        <p:spPr>
          <a:xfrm>
            <a:off x="4929988" y="3063240"/>
            <a:ext cx="2377440" cy="548640"/>
          </a:xfrm>
          <a:prstGeom prst="rect">
            <a:avLst/>
          </a:prstGeom>
          <a:noFill/>
          <a:ln/>
        </p:spPr>
        <p:txBody>
          <a:bodyPr wrap="square" lIns="0" tIns="0" rIns="0" bIns="0" rtlCol="0" anchor="t"/>
          <a:lstStyle/>
          <a:p>
            <a:pPr algn="ctr" indent="0" marL="0">
              <a:buNone/>
            </a:pPr>
            <a:r>
              <a:rPr lang="en-US" sz="1300" dirty="0">
                <a:solidFill>
                  <a:schemeClr val="tx2"/>
                </a:solidFill>
              </a:rPr>
              <a:t>Handoff 2: SimScale agent</a:t>
            </a:r>
            <a:endParaRPr lang="en-US" sz="1300" dirty="0"/>
          </a:p>
        </p:txBody>
      </p:sp>
      <p:sp>
        <p:nvSpPr>
          <p:cNvPr id="12" name="text-11"/>
          <p:cNvSpPr txBox="1"/>
          <p:nvPr/>
        </p:nvSpPr>
        <p:spPr>
          <a:xfrm>
            <a:off x="548640" y="4069080"/>
            <a:ext cx="11094415" cy="640080"/>
          </a:xfrm>
          <a:prstGeom prst="rect">
            <a:avLst/>
          </a:prstGeom>
          <a:noFill/>
          <a:ln/>
        </p:spPr>
        <p:txBody>
          <a:bodyPr wrap="square" lIns="0" tIns="0" rIns="0" bIns="0" rtlCol="0" anchor="t"/>
          <a:lstStyle/>
          <a:p>
            <a:pPr indent="0" marL="0">
              <a:buNone/>
            </a:pPr>
            <a:r>
              <a:rPr lang="en-US" sz="3000" i="1" dirty="0">
                <a:solidFill>
                  <a:schemeClr val="tx1"/>
                </a:solidFill>
                <a:latin typeface="Cambria" pitchFamily="34" charset="0"/>
                <a:ea typeface="Cambria" pitchFamily="34" charset="-122"/>
                <a:cs typeface="Cambria" pitchFamily="34" charset="-120"/>
              </a:rPr>
              <a:t>Workflow announcements, not validation</a:t>
            </a:r>
            <a:endParaRPr lang="en-US" sz="3000" dirty="0"/>
          </a:p>
        </p:txBody>
      </p:sp>
      <p:sp>
        <p:nvSpPr>
          <p:cNvPr id="13" name="text-12"/>
          <p:cNvSpPr txBox="1"/>
          <p:nvPr/>
        </p:nvSpPr>
        <p:spPr>
          <a:xfrm>
            <a:off x="548640" y="5321808"/>
            <a:ext cx="1463040" cy="310896"/>
          </a:xfrm>
          <a:prstGeom prst="rect">
            <a:avLst/>
          </a:prstGeom>
          <a:noFill/>
          <a:ln/>
        </p:spPr>
        <p:txBody>
          <a:bodyPr wrap="square" lIns="0" tIns="0" rIns="0" bIns="0" rtlCol="0" anchor="ctr"/>
          <a:lstStyle/>
          <a:p>
            <a:pPr indent="0" marL="0">
              <a:buNone/>
            </a:pPr>
            <a:r>
              <a:rPr lang="en-US" sz="1200" dirty="0">
                <a:solidFill>
                  <a:schemeClr val="tx2"/>
                </a:solidFill>
              </a:rPr>
              <a:t>Evidence labels:</a:t>
            </a:r>
            <a:endParaRPr lang="en-US" sz="1200" dirty="0"/>
          </a:p>
        </p:txBody>
      </p:sp>
      <p:sp>
        <p:nvSpPr>
          <p:cNvPr id="14" name="evidence-tag-13"/>
          <p:cNvSpPr txBox="1"/>
          <p:nvPr/>
        </p:nvSpPr>
        <p:spPr>
          <a:xfrm>
            <a:off x="1965960" y="5349240"/>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15" name="evidence-tag-14"/>
          <p:cNvSpPr txBox="1"/>
          <p:nvPr/>
        </p:nvSpPr>
        <p:spPr>
          <a:xfrm>
            <a:off x="3553358" y="53492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16" name="evidence-tag-15"/>
          <p:cNvSpPr txBox="1"/>
          <p:nvPr/>
        </p:nvSpPr>
        <p:spPr>
          <a:xfrm>
            <a:off x="5056632" y="534924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17" name="evidence-tag-16"/>
          <p:cNvSpPr txBox="1"/>
          <p:nvPr/>
        </p:nvSpPr>
        <p:spPr>
          <a:xfrm>
            <a:off x="7148779" y="5349240"/>
            <a:ext cx="2264054" cy="256032"/>
          </a:xfrm>
          <a:prstGeom prst="roundRect">
            <a:avLst>
              <a:gd name="adj" fmla="val 46429"/>
            </a:avLst>
          </a:prstGeom>
          <a:solidFill>
            <a:schemeClr val="bg1"/>
          </a:solidFill>
          <a:ln w="15875">
            <a:solidFill>
              <a:schemeClr val="accent6"/>
            </a:solidFill>
            <a:prstDash val="dash"/>
          </a:ln>
        </p:spPr>
        <p:txBody>
          <a:bodyPr wrap="square" lIns="0" tIns="0" rIns="0" bIns="0" rtlCol="0" anchor="ctr"/>
          <a:lstStyle/>
          <a:p>
            <a:pPr algn="ctr" indent="0" marL="0">
              <a:buNone/>
            </a:pPr>
            <a:r>
              <a:rPr lang="en-US" sz="1000" b="1" spc="100" kern="0" dirty="0">
                <a:solidFill>
                  <a:schemeClr val="accent6"/>
                </a:solidFill>
              </a:rPr>
              <a:t>UNVERIFIED · TRANSCRIPT</a:t>
            </a:r>
            <a:endParaRPr lang="en-US" sz="1000" dirty="0"/>
          </a:p>
        </p:txBody>
      </p:sp>
      <p:sp>
        <p:nvSpPr>
          <p:cNvPr id="18" name="evidence-tag-17"/>
          <p:cNvSpPr txBox="1"/>
          <p:nvPr/>
        </p:nvSpPr>
        <p:spPr>
          <a:xfrm>
            <a:off x="9577426" y="5349240"/>
            <a:ext cx="1591056" cy="256032"/>
          </a:xfrm>
          <a:prstGeom prst="roundRect">
            <a:avLst>
              <a:gd name="adj" fmla="val 46429"/>
            </a:avLst>
          </a:prstGeom>
          <a:solidFill>
            <a:schemeClr val="accent5"/>
          </a:solidFill>
          <a:ln w="12700">
            <a:solidFill>
              <a:schemeClr val="accent5"/>
            </a:solidFill>
          </a:ln>
        </p:spPr>
        <p:txBody>
          <a:bodyPr wrap="square" lIns="0" tIns="0" rIns="0" bIns="0" rtlCol="0" anchor="ctr"/>
          <a:lstStyle/>
          <a:p>
            <a:pPr algn="ctr" indent="0" marL="0">
              <a:buNone/>
            </a:pPr>
            <a:r>
              <a:rPr lang="en-US" sz="1000" b="1" spc="100" kern="0" dirty="0">
                <a:solidFill>
                  <a:schemeClr val="bg1"/>
                </a:solidFill>
              </a:rPr>
              <a:t>NOT ESTABLISHED</a:t>
            </a:r>
            <a:endParaRPr lang="en-US" sz="1000" dirty="0"/>
          </a:p>
        </p:txBody>
      </p:sp>
      <p:sp>
        <p:nvSpPr>
          <p:cNvPr id="19" name="text-18"/>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Onshape, Sept. 30, 2026; Engineering.com, Sept. 23,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advClick="1" advTm="2549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Onshape: from a sentence to CAD code</a:t>
            </a:r>
            <a:endParaRPr lang="en-US" sz="3200" dirty="0"/>
          </a:p>
        </p:txBody>
      </p:sp>
      <p:sp>
        <p:nvSpPr>
          <p:cNvPr id="3" name="evidence-tag-19"/>
          <p:cNvSpPr txBox="1"/>
          <p:nvPr/>
        </p:nvSpPr>
        <p:spPr>
          <a:xfrm>
            <a:off x="548640" y="14630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20"/>
          <p:cNvSpPr txBox="1"/>
          <p:nvPr/>
        </p:nvSpPr>
        <p:spPr>
          <a:xfrm>
            <a:off x="2024482" y="1435608"/>
            <a:ext cx="5473598" cy="310896"/>
          </a:xfrm>
          <a:prstGeom prst="rect">
            <a:avLst/>
          </a:prstGeom>
          <a:noFill/>
          <a:ln/>
        </p:spPr>
        <p:txBody>
          <a:bodyPr wrap="square" lIns="0" tIns="0" rIns="0" bIns="0" rtlCol="0" anchor="ctr"/>
          <a:lstStyle/>
          <a:p>
            <a:pPr indent="0" marL="0">
              <a:buNone/>
            </a:pPr>
            <a:r>
              <a:rPr lang="en-US" sz="1400" dirty="0">
                <a:solidFill>
                  <a:schemeClr val="tx2"/>
                </a:solidFill>
              </a:rPr>
              <a:t>Onshape says its FeatureScript MCP Server connects AI language models to Onshape</a:t>
            </a:r>
            <a:endParaRPr lang="en-US" sz="1400" dirty="0"/>
          </a:p>
        </p:txBody>
      </p:sp>
      <p:sp>
        <p:nvSpPr>
          <p:cNvPr id="5" name="node-21"/>
          <p:cNvSpPr/>
          <p:nvPr/>
        </p:nvSpPr>
        <p:spPr>
          <a:xfrm>
            <a:off x="548640" y="2148840"/>
            <a:ext cx="1950720" cy="1051560"/>
          </a:xfrm>
          <a:prstGeom prst="roundRect">
            <a:avLst>
              <a:gd name="adj" fmla="val 6957"/>
            </a:avLst>
          </a:prstGeom>
          <a:solidFill>
            <a:schemeClr val="bg2"/>
          </a:solidFill>
          <a:ln w="12700">
            <a:solidFill>
              <a:schemeClr val="bg2"/>
            </a:solidFill>
          </a:ln>
        </p:spPr>
        <p:txBody>
          <a:bodyPr wrap="square" lIns="76200" tIns="76200" rIns="76200" bIns="76200" rtlCol="0" anchor="ctr"/>
          <a:lstStyle/>
          <a:p>
            <a:pPr algn="ctr" indent="0" marL="0">
              <a:buNone/>
            </a:pPr>
            <a:r>
              <a:rPr lang="en-US" sz="1600" b="1" dirty="0">
                <a:solidFill>
                  <a:schemeClr val="tx1"/>
                </a:solidFill>
              </a:rPr>
              <a:t>Natural-language requirement</a:t>
            </a:r>
            <a:endParaRPr lang="en-US" sz="1600" dirty="0"/>
          </a:p>
        </p:txBody>
      </p:sp>
      <p:sp>
        <p:nvSpPr>
          <p:cNvPr id="6" name="arrow-22"/>
          <p:cNvSpPr/>
          <p:nvPr/>
        </p:nvSpPr>
        <p:spPr>
          <a:xfrm>
            <a:off x="2554224" y="2674620"/>
            <a:ext cx="393192" cy="0"/>
          </a:xfrm>
          <a:prstGeom prst="line">
            <a:avLst/>
          </a:prstGeom>
          <a:noFill/>
          <a:ln w="25400">
            <a:solidFill>
              <a:schemeClr val="tx2"/>
            </a:solidFill>
            <a:prstDash val="solid"/>
            <a:tailEnd type="triangle"/>
          </a:ln>
        </p:spPr>
      </p:sp>
      <p:sp>
        <p:nvSpPr>
          <p:cNvPr id="7" name="node-23"/>
          <p:cNvSpPr/>
          <p:nvPr/>
        </p:nvSpPr>
        <p:spPr>
          <a:xfrm>
            <a:off x="3002280" y="2148840"/>
            <a:ext cx="1950720" cy="1051560"/>
          </a:xfrm>
          <a:prstGeom prst="roundRect">
            <a:avLst>
              <a:gd name="adj" fmla="val 6957"/>
            </a:avLst>
          </a:prstGeom>
          <a:solidFill>
            <a:schemeClr val="accent1"/>
          </a:solidFill>
          <a:ln>
            <a:solidFill>
              <a:schemeClr val="accent1"/>
            </a:solidFill>
          </a:ln>
        </p:spPr>
        <p:txBody>
          <a:bodyPr wrap="square" lIns="76200" tIns="76200" rIns="76200" bIns="76200" rtlCol="0" anchor="ctr"/>
          <a:lstStyle/>
          <a:p>
            <a:pPr algn="ctr" indent="0" marL="0">
              <a:buNone/>
            </a:pPr>
            <a:r>
              <a:rPr lang="en-US" sz="1600" b="1" dirty="0">
                <a:solidFill>
                  <a:schemeClr val="bg1"/>
                </a:solidFill>
              </a:rPr>
              <a:t>FeatureScript code</a:t>
            </a:r>
            <a:endParaRPr lang="en-US" sz="1600" dirty="0"/>
          </a:p>
        </p:txBody>
      </p:sp>
      <p:sp>
        <p:nvSpPr>
          <p:cNvPr id="8" name="arrow-24"/>
          <p:cNvSpPr/>
          <p:nvPr/>
        </p:nvSpPr>
        <p:spPr>
          <a:xfrm>
            <a:off x="5007864" y="2674620"/>
            <a:ext cx="393192" cy="0"/>
          </a:xfrm>
          <a:prstGeom prst="line">
            <a:avLst/>
          </a:prstGeom>
          <a:noFill/>
          <a:ln w="25400">
            <a:solidFill>
              <a:schemeClr val="tx2"/>
            </a:solidFill>
            <a:prstDash val="solid"/>
            <a:tailEnd type="triangle"/>
          </a:ln>
        </p:spPr>
      </p:sp>
      <p:sp>
        <p:nvSpPr>
          <p:cNvPr id="9" name="node-25"/>
          <p:cNvSpPr/>
          <p:nvPr/>
        </p:nvSpPr>
        <p:spPr>
          <a:xfrm>
            <a:off x="5455920" y="2148840"/>
            <a:ext cx="1950720" cy="1051560"/>
          </a:xfrm>
          <a:prstGeom prst="roundRect">
            <a:avLst>
              <a:gd name="adj" fmla="val 6957"/>
            </a:avLst>
          </a:prstGeom>
          <a:solidFill>
            <a:schemeClr val="bg2"/>
          </a:solidFill>
          <a:ln w="12700">
            <a:solidFill>
              <a:schemeClr val="bg2"/>
            </a:solidFill>
          </a:ln>
        </p:spPr>
        <p:txBody>
          <a:bodyPr wrap="square" lIns="76200" tIns="76200" rIns="76200" bIns="76200" rtlCol="0" anchor="ctr"/>
          <a:lstStyle/>
          <a:p>
            <a:pPr algn="ctr" indent="0" marL="0">
              <a:buNone/>
            </a:pPr>
            <a:r>
              <a:rPr lang="en-US" sz="1600" b="1" dirty="0">
                <a:solidFill>
                  <a:schemeClr val="tx1"/>
                </a:solidFill>
              </a:rPr>
              <a:t>Parametric custom feature</a:t>
            </a:r>
            <a:endParaRPr lang="en-US" sz="1600" dirty="0"/>
          </a:p>
        </p:txBody>
      </p:sp>
      <p:sp>
        <p:nvSpPr>
          <p:cNvPr id="10" name="text-26"/>
          <p:cNvSpPr txBox="1"/>
          <p:nvPr/>
        </p:nvSpPr>
        <p:spPr>
          <a:xfrm>
            <a:off x="2682240" y="3337560"/>
            <a:ext cx="2590800" cy="685800"/>
          </a:xfrm>
          <a:prstGeom prst="rect">
            <a:avLst/>
          </a:prstGeom>
          <a:noFill/>
          <a:ln/>
        </p:spPr>
        <p:txBody>
          <a:bodyPr wrap="square" lIns="0" tIns="0" rIns="0" bIns="0" rtlCol="0" anchor="t"/>
          <a:lstStyle/>
          <a:p>
            <a:pPr algn="ctr" indent="0" marL="0">
              <a:buNone/>
            </a:pPr>
            <a:r>
              <a:rPr lang="en-US" sz="1300" dirty="0">
                <a:solidFill>
                  <a:schemeClr val="tx2"/>
                </a:solidFill>
              </a:rPr>
              <a:t>Code for reusable CAD functionality that adapts to its inputs, not a one-off shape</a:t>
            </a:r>
            <a:endParaRPr lang="en-US" sz="1300" dirty="0"/>
          </a:p>
        </p:txBody>
      </p:sp>
      <p:sp>
        <p:nvSpPr>
          <p:cNvPr id="11" name="text-27"/>
          <p:cNvSpPr txBox="1"/>
          <p:nvPr/>
        </p:nvSpPr>
        <p:spPr>
          <a:xfrm>
            <a:off x="548640" y="4343400"/>
            <a:ext cx="68580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Text → code → CAD</a:t>
            </a:r>
            <a:endParaRPr lang="en-US" sz="2800" dirty="0"/>
          </a:p>
        </p:txBody>
      </p:sp>
      <p:sp>
        <p:nvSpPr>
          <p:cNvPr id="12" name="text-28"/>
          <p:cNvSpPr txBox="1"/>
          <p:nvPr/>
        </p:nvSpPr>
        <p:spPr>
          <a:xfrm>
            <a:off x="548640" y="4937760"/>
            <a:ext cx="6766560" cy="640080"/>
          </a:xfrm>
          <a:prstGeom prst="rect">
            <a:avLst/>
          </a:prstGeom>
          <a:noFill/>
          <a:ln/>
        </p:spPr>
        <p:txBody>
          <a:bodyPr wrap="square" lIns="0" tIns="0" rIns="0" bIns="0" rtlCol="0" anchor="t"/>
          <a:lstStyle/>
          <a:p>
            <a:pPr indent="0" marL="0">
              <a:buNone/>
            </a:pPr>
            <a:r>
              <a:rPr lang="en-US" sz="1600" dirty="0">
                <a:solidFill>
                  <a:schemeClr val="tx2"/>
                </a:solidFill>
              </a:rPr>
              <a:t>Requirements travel from the request into Onshape as code a team can read.</a:t>
            </a:r>
            <a:endParaRPr lang="en-US" sz="1600" dirty="0"/>
          </a:p>
        </p:txBody>
      </p:sp>
      <p:sp>
        <p:nvSpPr>
          <p:cNvPr id="13" name="panel-29"/>
          <p:cNvSpPr/>
          <p:nvPr/>
        </p:nvSpPr>
        <p:spPr>
          <a:xfrm>
            <a:off x="7909560" y="1463040"/>
            <a:ext cx="3730752" cy="4206240"/>
          </a:xfrm>
          <a:prstGeom prst="roundRect">
            <a:avLst>
              <a:gd name="adj" fmla="val 2451"/>
            </a:avLst>
          </a:prstGeom>
          <a:solidFill>
            <a:schemeClr val="bg2"/>
          </a:solidFill>
          <a:ln w="12700">
            <a:solidFill>
              <a:schemeClr val="bg2"/>
            </a:solidFill>
            <a:prstDash val="solid"/>
          </a:ln>
        </p:spPr>
      </p:sp>
      <p:sp>
        <p:nvSpPr>
          <p:cNvPr id="14" name="evidence-tag-30"/>
          <p:cNvSpPr txBox="1"/>
          <p:nvPr/>
        </p:nvSpPr>
        <p:spPr>
          <a:xfrm>
            <a:off x="8183880" y="173736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15" name="text-31"/>
          <p:cNvSpPr txBox="1"/>
          <p:nvPr/>
        </p:nvSpPr>
        <p:spPr>
          <a:xfrm>
            <a:off x="8183880" y="2148840"/>
            <a:ext cx="3200400" cy="731520"/>
          </a:xfrm>
          <a:prstGeom prst="rect">
            <a:avLst/>
          </a:prstGeom>
          <a:noFill/>
          <a:ln/>
        </p:spPr>
        <p:txBody>
          <a:bodyPr wrap="square" lIns="0" tIns="0" rIns="0" bIns="0" rtlCol="0" anchor="t"/>
          <a:lstStyle/>
          <a:p>
            <a:pPr indent="0" marL="0">
              <a:buNone/>
            </a:pPr>
            <a:r>
              <a:rPr lang="en-US" sz="1800" b="1" dirty="0">
                <a:solidFill>
                  <a:schemeClr val="tx1"/>
                </a:solidFill>
              </a:rPr>
              <a:t>Easier to inspect: what a team can review</a:t>
            </a:r>
            <a:endParaRPr lang="en-US" sz="1800" dirty="0"/>
          </a:p>
        </p:txBody>
      </p:sp>
      <p:sp>
        <p:nvSpPr>
          <p:cNvPr id="16" name="checkbox-32"/>
          <p:cNvSpPr/>
          <p:nvPr/>
        </p:nvSpPr>
        <p:spPr>
          <a:xfrm>
            <a:off x="8183880" y="3127248"/>
            <a:ext cx="274320" cy="274320"/>
          </a:xfrm>
          <a:prstGeom prst="rect">
            <a:avLst/>
          </a:prstGeom>
          <a:solidFill>
            <a:schemeClr val="bg1"/>
          </a:solidFill>
          <a:ln w="19050">
            <a:solidFill>
              <a:schemeClr val="accent1"/>
            </a:solidFill>
            <a:prstDash val="solid"/>
          </a:ln>
        </p:spPr>
      </p:sp>
      <p:sp>
        <p:nvSpPr>
          <p:cNvPr id="17" name="text-33"/>
          <p:cNvSpPr txBox="1"/>
          <p:nvPr/>
        </p:nvSpPr>
        <p:spPr>
          <a:xfrm>
            <a:off x="8641080" y="3063240"/>
            <a:ext cx="2834640" cy="402336"/>
          </a:xfrm>
          <a:prstGeom prst="rect">
            <a:avLst/>
          </a:prstGeom>
          <a:noFill/>
          <a:ln/>
        </p:spPr>
        <p:txBody>
          <a:bodyPr wrap="square" lIns="0" tIns="0" rIns="0" bIns="0" rtlCol="0" anchor="ctr"/>
          <a:lstStyle/>
          <a:p>
            <a:pPr indent="0" marL="0">
              <a:buNone/>
            </a:pPr>
            <a:r>
              <a:rPr lang="en-US" sz="1800" dirty="0">
                <a:solidFill>
                  <a:schemeClr val="tx1"/>
                </a:solidFill>
              </a:rPr>
              <a:t>Code</a:t>
            </a:r>
            <a:endParaRPr lang="en-US" sz="1800" dirty="0"/>
          </a:p>
        </p:txBody>
      </p:sp>
      <p:sp>
        <p:nvSpPr>
          <p:cNvPr id="18" name="checkbox-34"/>
          <p:cNvSpPr/>
          <p:nvPr/>
        </p:nvSpPr>
        <p:spPr>
          <a:xfrm>
            <a:off x="8183880" y="3749040"/>
            <a:ext cx="274320" cy="274320"/>
          </a:xfrm>
          <a:prstGeom prst="rect">
            <a:avLst/>
          </a:prstGeom>
          <a:solidFill>
            <a:schemeClr val="bg1"/>
          </a:solidFill>
          <a:ln w="19050">
            <a:solidFill>
              <a:schemeClr val="accent1"/>
            </a:solidFill>
            <a:prstDash val="solid"/>
          </a:ln>
        </p:spPr>
      </p:sp>
      <p:sp>
        <p:nvSpPr>
          <p:cNvPr id="19" name="text-35"/>
          <p:cNvSpPr txBox="1"/>
          <p:nvPr/>
        </p:nvSpPr>
        <p:spPr>
          <a:xfrm>
            <a:off x="8641080" y="3685032"/>
            <a:ext cx="2834640" cy="402336"/>
          </a:xfrm>
          <a:prstGeom prst="rect">
            <a:avLst/>
          </a:prstGeom>
          <a:noFill/>
          <a:ln/>
        </p:spPr>
        <p:txBody>
          <a:bodyPr wrap="square" lIns="0" tIns="0" rIns="0" bIns="0" rtlCol="0" anchor="ctr"/>
          <a:lstStyle/>
          <a:p>
            <a:pPr indent="0" marL="0">
              <a:buNone/>
            </a:pPr>
            <a:r>
              <a:rPr lang="en-US" sz="1800" dirty="0">
                <a:solidFill>
                  <a:schemeClr val="tx1"/>
                </a:solidFill>
              </a:rPr>
              <a:t>Parameters</a:t>
            </a:r>
            <a:endParaRPr lang="en-US" sz="1800" dirty="0"/>
          </a:p>
        </p:txBody>
      </p:sp>
      <p:sp>
        <p:nvSpPr>
          <p:cNvPr id="20" name="checkbox-36"/>
          <p:cNvSpPr/>
          <p:nvPr/>
        </p:nvSpPr>
        <p:spPr>
          <a:xfrm>
            <a:off x="8183880" y="4370832"/>
            <a:ext cx="274320" cy="274320"/>
          </a:xfrm>
          <a:prstGeom prst="rect">
            <a:avLst/>
          </a:prstGeom>
          <a:solidFill>
            <a:schemeClr val="bg1"/>
          </a:solidFill>
          <a:ln w="19050">
            <a:solidFill>
              <a:schemeClr val="accent1"/>
            </a:solidFill>
            <a:prstDash val="solid"/>
          </a:ln>
        </p:spPr>
      </p:sp>
      <p:sp>
        <p:nvSpPr>
          <p:cNvPr id="21" name="text-37"/>
          <p:cNvSpPr txBox="1"/>
          <p:nvPr/>
        </p:nvSpPr>
        <p:spPr>
          <a:xfrm>
            <a:off x="8641080" y="4306824"/>
            <a:ext cx="2834640" cy="402336"/>
          </a:xfrm>
          <a:prstGeom prst="rect">
            <a:avLst/>
          </a:prstGeom>
          <a:noFill/>
          <a:ln/>
        </p:spPr>
        <p:txBody>
          <a:bodyPr wrap="square" lIns="0" tIns="0" rIns="0" bIns="0" rtlCol="0" anchor="ctr"/>
          <a:lstStyle/>
          <a:p>
            <a:pPr indent="0" marL="0">
              <a:buNone/>
            </a:pPr>
            <a:r>
              <a:rPr lang="en-US" sz="1800" dirty="0">
                <a:solidFill>
                  <a:schemeClr val="tx1"/>
                </a:solidFill>
              </a:rPr>
              <a:t>Geometry</a:t>
            </a:r>
            <a:endParaRPr lang="en-US" sz="1800" dirty="0"/>
          </a:p>
        </p:txBody>
      </p:sp>
      <p:sp>
        <p:nvSpPr>
          <p:cNvPr id="22" name="checkbox-38"/>
          <p:cNvSpPr/>
          <p:nvPr/>
        </p:nvSpPr>
        <p:spPr>
          <a:xfrm>
            <a:off x="8183880" y="4992624"/>
            <a:ext cx="274320" cy="274320"/>
          </a:xfrm>
          <a:prstGeom prst="rect">
            <a:avLst/>
          </a:prstGeom>
          <a:solidFill>
            <a:schemeClr val="bg1"/>
          </a:solidFill>
          <a:ln w="19050">
            <a:solidFill>
              <a:schemeClr val="accent1"/>
            </a:solidFill>
            <a:prstDash val="solid"/>
          </a:ln>
        </p:spPr>
      </p:sp>
      <p:sp>
        <p:nvSpPr>
          <p:cNvPr id="23" name="text-39"/>
          <p:cNvSpPr txBox="1"/>
          <p:nvPr/>
        </p:nvSpPr>
        <p:spPr>
          <a:xfrm>
            <a:off x="8641080" y="4928616"/>
            <a:ext cx="2834640" cy="402336"/>
          </a:xfrm>
          <a:prstGeom prst="rect">
            <a:avLst/>
          </a:prstGeom>
          <a:noFill/>
          <a:ln/>
        </p:spPr>
        <p:txBody>
          <a:bodyPr wrap="square" lIns="0" tIns="0" rIns="0" bIns="0" rtlCol="0" anchor="ctr"/>
          <a:lstStyle/>
          <a:p>
            <a:pPr indent="0" marL="0">
              <a:buNone/>
            </a:pPr>
            <a:r>
              <a:rPr lang="en-US" sz="1800" dirty="0">
                <a:solidFill>
                  <a:schemeClr val="tx1"/>
                </a:solidFill>
              </a:rPr>
              <a:t>Encoded design rules</a:t>
            </a:r>
            <a:endParaRPr lang="en-US" sz="1800" dirty="0"/>
          </a:p>
        </p:txBody>
      </p:sp>
      <p:sp>
        <p:nvSpPr>
          <p:cNvPr id="24" name="text-40"/>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Onshape, “5 Ways Teams Can Leverage the Onshape FeatureScript MCP Server,” Sept. 30,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advClick="1" advTm="4274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What Onshape's description does not show</a:t>
            </a:r>
            <a:endParaRPr lang="en-US" sz="3200" dirty="0"/>
          </a:p>
        </p:txBody>
      </p:sp>
      <p:sp>
        <p:nvSpPr>
          <p:cNvPr id="3" name="panel-41"/>
          <p:cNvSpPr/>
          <p:nvPr/>
        </p:nvSpPr>
        <p:spPr>
          <a:xfrm>
            <a:off x="548640" y="1463040"/>
            <a:ext cx="5029200" cy="4206240"/>
          </a:xfrm>
          <a:prstGeom prst="roundRect">
            <a:avLst>
              <a:gd name="adj" fmla="val 2174"/>
            </a:avLst>
          </a:prstGeom>
          <a:solidFill>
            <a:schemeClr val="bg2"/>
          </a:solidFill>
          <a:ln w="12700">
            <a:solidFill>
              <a:schemeClr val="bg2"/>
            </a:solidFill>
            <a:prstDash val="solid"/>
          </a:ln>
        </p:spPr>
      </p:sp>
      <p:sp>
        <p:nvSpPr>
          <p:cNvPr id="4" name="evidence-tag-42"/>
          <p:cNvSpPr txBox="1"/>
          <p:nvPr/>
        </p:nvSpPr>
        <p:spPr>
          <a:xfrm>
            <a:off x="822960" y="173736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5" name="text-43"/>
          <p:cNvSpPr txBox="1"/>
          <p:nvPr/>
        </p:nvSpPr>
        <p:spPr>
          <a:xfrm>
            <a:off x="822960" y="2194560"/>
            <a:ext cx="4480560" cy="274320"/>
          </a:xfrm>
          <a:prstGeom prst="rect">
            <a:avLst/>
          </a:prstGeom>
          <a:noFill/>
          <a:ln/>
        </p:spPr>
        <p:txBody>
          <a:bodyPr wrap="square" lIns="0" tIns="0" rIns="0" bIns="0" rtlCol="0" anchor="t"/>
          <a:lstStyle/>
          <a:p>
            <a:pPr indent="0" marL="0">
              <a:buNone/>
            </a:pPr>
            <a:r>
              <a:rPr lang="en-US" sz="1200" b="1" spc="200" kern="0" dirty="0">
                <a:solidFill>
                  <a:schemeClr val="tx2"/>
                </a:solidFill>
              </a:rPr>
              <a:t>OBSERVED</a:t>
            </a:r>
            <a:endParaRPr lang="en-US" sz="1200" dirty="0"/>
          </a:p>
        </p:txBody>
      </p:sp>
      <p:sp>
        <p:nvSpPr>
          <p:cNvPr id="6" name="text-44"/>
          <p:cNvSpPr txBox="1"/>
          <p:nvPr/>
        </p:nvSpPr>
        <p:spPr>
          <a:xfrm>
            <a:off x="822960" y="2514600"/>
            <a:ext cx="4480560" cy="9144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Onshape's product description</a:t>
            </a:r>
            <a:endParaRPr lang="en-US" sz="2800" dirty="0"/>
          </a:p>
        </p:txBody>
      </p:sp>
      <p:sp>
        <p:nvSpPr>
          <p:cNvPr id="7" name="text-45"/>
          <p:cNvSpPr txBox="1"/>
          <p:nvPr/>
        </p:nvSpPr>
        <p:spPr>
          <a:xfrm>
            <a:off x="822960" y="3520440"/>
            <a:ext cx="4480560" cy="548640"/>
          </a:xfrm>
          <a:prstGeom prst="rect">
            <a:avLst/>
          </a:prstGeom>
          <a:noFill/>
          <a:ln/>
        </p:spPr>
        <p:txBody>
          <a:bodyPr wrap="square" lIns="0" tIns="0" rIns="0" bIns="0" rtlCol="0" anchor="t"/>
          <a:lstStyle/>
          <a:p>
            <a:pPr indent="0" marL="0">
              <a:buNone/>
            </a:pPr>
            <a:r>
              <a:rPr lang="en-US" sz="1600" dirty="0">
                <a:solidFill>
                  <a:schemeClr val="tx2"/>
                </a:solidFill>
              </a:rPr>
              <a:t>Supports what Onshape says the server enables.</a:t>
            </a:r>
            <a:endParaRPr lang="en-US" sz="1600" dirty="0"/>
          </a:p>
        </p:txBody>
      </p:sp>
      <p:sp>
        <p:nvSpPr>
          <p:cNvPr id="8" name="text-46"/>
          <p:cNvSpPr txBox="1"/>
          <p:nvPr/>
        </p:nvSpPr>
        <p:spPr>
          <a:xfrm>
            <a:off x="822960" y="4434840"/>
            <a:ext cx="4480560" cy="914400"/>
          </a:xfrm>
          <a:prstGeom prst="rect">
            <a:avLst/>
          </a:prstGeom>
          <a:noFill/>
          <a:ln/>
        </p:spPr>
        <p:txBody>
          <a:bodyPr wrap="square" lIns="0" tIns="0" rIns="0" bIns="0" rtlCol="0" anchor="t"/>
          <a:lstStyle/>
          <a:p>
            <a:pPr indent="0" marL="0">
              <a:buNone/>
            </a:pPr>
            <a:r>
              <a:rPr lang="en-US" sz="1700" i="1" dirty="0">
                <a:solidFill>
                  <a:schemeClr val="tx1"/>
                </a:solidFill>
                <a:latin typeface="Cambria" pitchFamily="34" charset="0"/>
                <a:ea typeface="Cambria" pitchFamily="34" charset="-122"/>
                <a:cs typeface="Cambria" pitchFamily="34" charset="-120"/>
              </a:rPr>
              <a:t>A valid-looking feature is not, by itself, proof that the design rules are right.</a:t>
            </a:r>
            <a:endParaRPr lang="en-US" sz="1700" dirty="0"/>
          </a:p>
        </p:txBody>
      </p:sp>
      <p:sp>
        <p:nvSpPr>
          <p:cNvPr id="9" name="panel-47"/>
          <p:cNvSpPr/>
          <p:nvPr/>
        </p:nvSpPr>
        <p:spPr>
          <a:xfrm>
            <a:off x="5943600" y="1463040"/>
            <a:ext cx="5696712" cy="4206240"/>
          </a:xfrm>
          <a:prstGeom prst="roundRect">
            <a:avLst>
              <a:gd name="adj" fmla="val 2174"/>
            </a:avLst>
          </a:prstGeom>
          <a:solidFill>
            <a:schemeClr val="bg1"/>
          </a:solidFill>
          <a:ln w="15875">
            <a:solidFill>
              <a:schemeClr val="accent5"/>
            </a:solidFill>
            <a:prstDash val="solid"/>
          </a:ln>
        </p:spPr>
      </p:sp>
      <p:sp>
        <p:nvSpPr>
          <p:cNvPr id="10" name="text-48"/>
          <p:cNvSpPr txBox="1"/>
          <p:nvPr/>
        </p:nvSpPr>
        <p:spPr>
          <a:xfrm>
            <a:off x="6217920" y="178308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NOT SHOWN</a:t>
            </a:r>
            <a:endParaRPr lang="en-US" sz="1200" dirty="0"/>
          </a:p>
        </p:txBody>
      </p:sp>
      <p:sp>
        <p:nvSpPr>
          <p:cNvPr id="11" name="text-49"/>
          <p:cNvSpPr txBox="1"/>
          <p:nvPr/>
        </p:nvSpPr>
        <p:spPr>
          <a:xfrm>
            <a:off x="6217920" y="2148840"/>
            <a:ext cx="5120640" cy="365760"/>
          </a:xfrm>
          <a:prstGeom prst="rect">
            <a:avLst/>
          </a:prstGeom>
          <a:noFill/>
          <a:ln/>
        </p:spPr>
        <p:txBody>
          <a:bodyPr wrap="square" lIns="0" tIns="0" rIns="0" bIns="0" rtlCol="0" anchor="t"/>
          <a:lstStyle/>
          <a:p>
            <a:pPr indent="0" marL="0">
              <a:buNone/>
            </a:pPr>
            <a:r>
              <a:rPr lang="en-US" sz="1600" dirty="0">
                <a:solidFill>
                  <a:schemeClr val="tx2"/>
                </a:solidFill>
              </a:rPr>
              <a:t>No disclosed test of generated FeatureScripts across:</a:t>
            </a:r>
            <a:endParaRPr lang="en-US" sz="1600" dirty="0"/>
          </a:p>
        </p:txBody>
      </p:sp>
      <p:sp>
        <p:nvSpPr>
          <p:cNvPr id="12" name="node-50"/>
          <p:cNvSpPr/>
          <p:nvPr/>
        </p:nvSpPr>
        <p:spPr>
          <a:xfrm>
            <a:off x="6217920" y="2697480"/>
            <a:ext cx="3383280" cy="502920"/>
          </a:xfrm>
          <a:prstGeom prst="roundRect">
            <a:avLst>
              <a:gd name="adj" fmla="val 14545"/>
            </a:avLst>
          </a:prstGeom>
          <a:solidFill>
            <a:schemeClr val="bg1"/>
          </a:solidFill>
          <a:ln w="12700">
            <a:solidFill>
              <a:schemeClr val="accent6"/>
            </a:solidFill>
            <a:prstDash val="dash"/>
          </a:ln>
        </p:spPr>
        <p:txBody>
          <a:bodyPr wrap="square" lIns="152400" tIns="0" rIns="0" bIns="0" rtlCol="0" anchor="ctr"/>
          <a:lstStyle/>
          <a:p>
            <a:pPr algn="l" indent="0" marL="0">
              <a:buNone/>
            </a:pPr>
            <a:r>
              <a:rPr lang="en-US" sz="1700" dirty="0">
                <a:solidFill>
                  <a:schemeClr val="tx1"/>
                </a:solidFill>
              </a:rPr>
              <a:t>Requirements</a:t>
            </a:r>
            <a:endParaRPr lang="en-US" sz="1700" dirty="0"/>
          </a:p>
        </p:txBody>
      </p:sp>
      <p:sp>
        <p:nvSpPr>
          <p:cNvPr id="13" name="node-51"/>
          <p:cNvSpPr/>
          <p:nvPr/>
        </p:nvSpPr>
        <p:spPr>
          <a:xfrm>
            <a:off x="6217920" y="3383280"/>
            <a:ext cx="3383280" cy="502920"/>
          </a:xfrm>
          <a:prstGeom prst="roundRect">
            <a:avLst>
              <a:gd name="adj" fmla="val 14545"/>
            </a:avLst>
          </a:prstGeom>
          <a:solidFill>
            <a:schemeClr val="bg1"/>
          </a:solidFill>
          <a:ln w="12700">
            <a:solidFill>
              <a:schemeClr val="accent6"/>
            </a:solidFill>
            <a:prstDash val="dash"/>
          </a:ln>
        </p:spPr>
        <p:txBody>
          <a:bodyPr wrap="square" lIns="152400" tIns="0" rIns="0" bIns="0" rtlCol="0" anchor="ctr"/>
          <a:lstStyle/>
          <a:p>
            <a:pPr algn="l" indent="0" marL="0">
              <a:buNone/>
            </a:pPr>
            <a:r>
              <a:rPr lang="en-US" sz="1700" dirty="0">
                <a:solidFill>
                  <a:schemeClr val="tx1"/>
                </a:solidFill>
              </a:rPr>
              <a:t>Edge cases</a:t>
            </a:r>
            <a:endParaRPr lang="en-US" sz="1700" dirty="0"/>
          </a:p>
        </p:txBody>
      </p:sp>
      <p:sp>
        <p:nvSpPr>
          <p:cNvPr id="14" name="node-52"/>
          <p:cNvSpPr/>
          <p:nvPr/>
        </p:nvSpPr>
        <p:spPr>
          <a:xfrm>
            <a:off x="6217920" y="4069080"/>
            <a:ext cx="3383280" cy="502920"/>
          </a:xfrm>
          <a:prstGeom prst="roundRect">
            <a:avLst>
              <a:gd name="adj" fmla="val 14545"/>
            </a:avLst>
          </a:prstGeom>
          <a:solidFill>
            <a:schemeClr val="bg1"/>
          </a:solidFill>
          <a:ln w="12700">
            <a:solidFill>
              <a:schemeClr val="accent6"/>
            </a:solidFill>
            <a:prstDash val="dash"/>
          </a:ln>
        </p:spPr>
        <p:txBody>
          <a:bodyPr wrap="square" lIns="152400" tIns="0" rIns="0" bIns="0" rtlCol="0" anchor="ctr"/>
          <a:lstStyle/>
          <a:p>
            <a:pPr algn="l" indent="0" marL="0">
              <a:buNone/>
            </a:pPr>
            <a:r>
              <a:rPr lang="en-US" sz="1700" dirty="0">
                <a:solidFill>
                  <a:schemeClr val="tx1"/>
                </a:solidFill>
              </a:rPr>
              <a:t>Revisions</a:t>
            </a:r>
            <a:endParaRPr lang="en-US" sz="1700" dirty="0"/>
          </a:p>
        </p:txBody>
      </p:sp>
      <p:sp>
        <p:nvSpPr>
          <p:cNvPr id="15" name="node-53"/>
          <p:cNvSpPr/>
          <p:nvPr/>
        </p:nvSpPr>
        <p:spPr>
          <a:xfrm>
            <a:off x="6217920" y="4754880"/>
            <a:ext cx="3383280" cy="502920"/>
          </a:xfrm>
          <a:prstGeom prst="roundRect">
            <a:avLst>
              <a:gd name="adj" fmla="val 14545"/>
            </a:avLst>
          </a:prstGeom>
          <a:solidFill>
            <a:schemeClr val="bg1"/>
          </a:solidFill>
          <a:ln w="12700">
            <a:solidFill>
              <a:schemeClr val="accent6"/>
            </a:solidFill>
            <a:prstDash val="dash"/>
          </a:ln>
        </p:spPr>
        <p:txBody>
          <a:bodyPr wrap="square" lIns="152400" tIns="0" rIns="0" bIns="0" rtlCol="0" anchor="ctr"/>
          <a:lstStyle/>
          <a:p>
            <a:pPr algn="l" indent="0" marL="0">
              <a:buNone/>
            </a:pPr>
            <a:r>
              <a:rPr lang="en-US" sz="1700" dirty="0">
                <a:solidFill>
                  <a:schemeClr val="tx1"/>
                </a:solidFill>
              </a:rPr>
              <a:t>Manufacturing outcomes</a:t>
            </a:r>
            <a:endParaRPr lang="en-US" sz="1700" dirty="0"/>
          </a:p>
        </p:txBody>
      </p:sp>
      <p:sp>
        <p:nvSpPr>
          <p:cNvPr id="16" name="stamp-54"/>
          <p:cNvSpPr/>
          <p:nvPr/>
        </p:nvSpPr>
        <p:spPr>
          <a:xfrm rot="-480000">
            <a:off x="9829800" y="3246120"/>
            <a:ext cx="1554480" cy="914400"/>
          </a:xfrm>
          <a:prstGeom prst="rect">
            <a:avLst/>
          </a:prstGeom>
          <a:solidFill>
            <a:schemeClr val="bg1"/>
          </a:solidFill>
          <a:ln w="31750">
            <a:solidFill>
              <a:schemeClr val="accent5"/>
            </a:solidFill>
          </a:ln>
        </p:spPr>
        <p:txBody>
          <a:bodyPr wrap="square" lIns="0" tIns="0" rIns="0" bIns="0" rtlCol="0" anchor="ctr"/>
          <a:lstStyle/>
          <a:p>
            <a:pPr algn="ctr" indent="0" marL="0">
              <a:buNone/>
            </a:pPr>
            <a:r>
              <a:rPr lang="en-US" sz="1600" b="1" spc="100" kern="0" dirty="0">
                <a:solidFill>
                  <a:schemeClr val="accent5"/>
                </a:solidFill>
              </a:rPr>
              <a:t>NOT</a:t>
            </a:r>
            <a:endParaRPr lang="en-US" sz="1600" dirty="0"/>
          </a:p>
          <a:p>
            <a:pPr algn="ctr" indent="0" marL="0">
              <a:buNone/>
            </a:pPr>
            <a:r>
              <a:rPr lang="en-US" sz="1600" b="1" spc="100" kern="0" dirty="0">
                <a:solidFill>
                  <a:schemeClr val="accent5"/>
                </a:solidFill>
              </a:rPr>
              <a:t>ESTABLISHED</a:t>
            </a:r>
            <a:endParaRPr lang="en-US" sz="1600" dirty="0"/>
          </a:p>
        </p:txBody>
      </p:sp>
      <p:sp>
        <p:nvSpPr>
          <p:cNvPr id="17" name="text-55"/>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Onshape, “5 Ways Teams Can Leverage the Onshape FeatureScript MCP Server,” Sept. 30,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advClick="1" advTm="309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SimScale moves the agent downstream</a:t>
            </a:r>
            <a:endParaRPr lang="en-US" sz="3200" dirty="0"/>
          </a:p>
        </p:txBody>
      </p:sp>
      <p:sp>
        <p:nvSpPr>
          <p:cNvPr id="3" name="evidence-tag-56"/>
          <p:cNvSpPr txBox="1"/>
          <p:nvPr/>
        </p:nvSpPr>
        <p:spPr>
          <a:xfrm>
            <a:off x="548640" y="14630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57"/>
          <p:cNvSpPr txBox="1"/>
          <p:nvPr/>
        </p:nvSpPr>
        <p:spPr>
          <a:xfrm>
            <a:off x="2024482" y="1435608"/>
            <a:ext cx="9618574" cy="310896"/>
          </a:xfrm>
          <a:prstGeom prst="rect">
            <a:avLst/>
          </a:prstGeom>
          <a:noFill/>
          <a:ln/>
        </p:spPr>
        <p:txBody>
          <a:bodyPr wrap="square" lIns="0" tIns="0" rIns="0" bIns="0" rtlCol="0" anchor="ctr"/>
          <a:lstStyle/>
          <a:p>
            <a:pPr indent="0" marL="0">
              <a:buNone/>
            </a:pPr>
            <a:r>
              <a:rPr lang="en-US" sz="1400" dirty="0">
                <a:solidFill>
                  <a:schemeClr val="tx2"/>
                </a:solidFill>
              </a:rPr>
              <a:t>SimScale says that, from one prompt, its Engineering AI Agent can:</a:t>
            </a:r>
            <a:endParaRPr lang="en-US" sz="1400" dirty="0"/>
          </a:p>
        </p:txBody>
      </p:sp>
      <p:sp>
        <p:nvSpPr>
          <p:cNvPr id="5" name="node-58"/>
          <p:cNvSpPr/>
          <p:nvPr/>
        </p:nvSpPr>
        <p:spPr>
          <a:xfrm>
            <a:off x="548640" y="2514600"/>
            <a:ext cx="1853123" cy="1005840"/>
          </a:xfrm>
          <a:prstGeom prst="roundRect">
            <a:avLst>
              <a:gd name="adj" fmla="val 7273"/>
            </a:avLst>
          </a:prstGeom>
          <a:solidFill>
            <a:schemeClr val="tx1"/>
          </a:solidFill>
          <a:ln>
            <a:solidFill>
              <a:schemeClr val="tx1"/>
            </a:solidFill>
          </a:ln>
        </p:spPr>
        <p:txBody>
          <a:bodyPr wrap="square" lIns="76200" tIns="76200" rIns="76200" bIns="76200" rtlCol="0" anchor="ctr"/>
          <a:lstStyle/>
          <a:p>
            <a:pPr algn="ctr" indent="0" marL="0">
              <a:buNone/>
            </a:pPr>
            <a:r>
              <a:rPr lang="en-US" sz="1600" b="1" dirty="0">
                <a:solidFill>
                  <a:schemeClr val="bg1"/>
                </a:solidFill>
              </a:rPr>
              <a:t>CAD model</a:t>
            </a:r>
            <a:endParaRPr lang="en-US" sz="1600" dirty="0"/>
          </a:p>
        </p:txBody>
      </p:sp>
      <p:sp>
        <p:nvSpPr>
          <p:cNvPr id="6" name="arrow-59"/>
          <p:cNvSpPr/>
          <p:nvPr/>
        </p:nvSpPr>
        <p:spPr>
          <a:xfrm>
            <a:off x="2456627" y="3017520"/>
            <a:ext cx="347472" cy="0"/>
          </a:xfrm>
          <a:prstGeom prst="line">
            <a:avLst/>
          </a:prstGeom>
          <a:noFill/>
          <a:ln w="25400">
            <a:solidFill>
              <a:schemeClr val="tx2"/>
            </a:solidFill>
            <a:prstDash val="solid"/>
            <a:tailEnd type="triangle"/>
          </a:ln>
        </p:spPr>
      </p:sp>
      <p:sp>
        <p:nvSpPr>
          <p:cNvPr id="7" name="node-60"/>
          <p:cNvSpPr/>
          <p:nvPr/>
        </p:nvSpPr>
        <p:spPr>
          <a:xfrm>
            <a:off x="2858963" y="2514600"/>
            <a:ext cx="1853123"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r>
              <a:rPr lang="en-US" sz="1600" b="1" dirty="0">
                <a:solidFill>
                  <a:schemeClr val="tx1"/>
                </a:solidFill>
              </a:rPr>
              <a:t>Propose setup</a:t>
            </a:r>
            <a:endParaRPr lang="en-US" sz="1600" dirty="0"/>
          </a:p>
        </p:txBody>
      </p:sp>
      <p:sp>
        <p:nvSpPr>
          <p:cNvPr id="8" name="arrow-61"/>
          <p:cNvSpPr/>
          <p:nvPr/>
        </p:nvSpPr>
        <p:spPr>
          <a:xfrm>
            <a:off x="4766950" y="3017520"/>
            <a:ext cx="347472" cy="0"/>
          </a:xfrm>
          <a:prstGeom prst="line">
            <a:avLst/>
          </a:prstGeom>
          <a:noFill/>
          <a:ln w="25400">
            <a:solidFill>
              <a:schemeClr val="tx2"/>
            </a:solidFill>
            <a:prstDash val="solid"/>
            <a:tailEnd type="triangle"/>
          </a:ln>
        </p:spPr>
      </p:sp>
      <p:sp>
        <p:nvSpPr>
          <p:cNvPr id="9" name="node-62"/>
          <p:cNvSpPr/>
          <p:nvPr/>
        </p:nvSpPr>
        <p:spPr>
          <a:xfrm>
            <a:off x="5169286" y="2514600"/>
            <a:ext cx="1853123"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r>
              <a:rPr lang="en-US" sz="1600" b="1" dirty="0">
                <a:solidFill>
                  <a:schemeClr val="tx1"/>
                </a:solidFill>
              </a:rPr>
              <a:t>Mesh</a:t>
            </a:r>
            <a:endParaRPr lang="en-US" sz="1600" dirty="0"/>
          </a:p>
        </p:txBody>
      </p:sp>
      <p:sp>
        <p:nvSpPr>
          <p:cNvPr id="10" name="arrow-63"/>
          <p:cNvSpPr/>
          <p:nvPr/>
        </p:nvSpPr>
        <p:spPr>
          <a:xfrm>
            <a:off x="7077273" y="3017520"/>
            <a:ext cx="347472" cy="0"/>
          </a:xfrm>
          <a:prstGeom prst="line">
            <a:avLst/>
          </a:prstGeom>
          <a:noFill/>
          <a:ln w="25400">
            <a:solidFill>
              <a:schemeClr val="tx2"/>
            </a:solidFill>
            <a:prstDash val="solid"/>
            <a:tailEnd type="triangle"/>
          </a:ln>
        </p:spPr>
      </p:sp>
      <p:sp>
        <p:nvSpPr>
          <p:cNvPr id="11" name="node-64"/>
          <p:cNvSpPr/>
          <p:nvPr/>
        </p:nvSpPr>
        <p:spPr>
          <a:xfrm>
            <a:off x="7479609" y="2514600"/>
            <a:ext cx="1853123"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r>
              <a:rPr lang="en-US" sz="1600" b="1" dirty="0">
                <a:solidFill>
                  <a:schemeClr val="tx1"/>
                </a:solidFill>
              </a:rPr>
              <a:t>Run physics</a:t>
            </a:r>
            <a:endParaRPr lang="en-US" sz="1600" dirty="0"/>
          </a:p>
        </p:txBody>
      </p:sp>
      <p:sp>
        <p:nvSpPr>
          <p:cNvPr id="12" name="arrow-65"/>
          <p:cNvSpPr/>
          <p:nvPr/>
        </p:nvSpPr>
        <p:spPr>
          <a:xfrm>
            <a:off x="9387596" y="3017520"/>
            <a:ext cx="347472" cy="0"/>
          </a:xfrm>
          <a:prstGeom prst="line">
            <a:avLst/>
          </a:prstGeom>
          <a:noFill/>
          <a:ln w="25400">
            <a:solidFill>
              <a:schemeClr val="tx2"/>
            </a:solidFill>
            <a:prstDash val="solid"/>
            <a:tailEnd type="triangle"/>
          </a:ln>
        </p:spPr>
      </p:sp>
      <p:sp>
        <p:nvSpPr>
          <p:cNvPr id="13" name="node-66"/>
          <p:cNvSpPr/>
          <p:nvPr/>
        </p:nvSpPr>
        <p:spPr>
          <a:xfrm>
            <a:off x="9789932" y="2514600"/>
            <a:ext cx="1853123" cy="1005840"/>
          </a:xfrm>
          <a:prstGeom prst="roundRect">
            <a:avLst>
              <a:gd name="adj" fmla="val 7273"/>
            </a:avLst>
          </a:prstGeom>
          <a:solidFill>
            <a:schemeClr val="bg2"/>
          </a:solidFill>
          <a:ln w="12700">
            <a:solidFill>
              <a:schemeClr val="bg2"/>
            </a:solidFill>
          </a:ln>
        </p:spPr>
        <p:txBody>
          <a:bodyPr wrap="square" lIns="76200" tIns="76200" rIns="76200" bIns="76200" rtlCol="0" anchor="ctr"/>
          <a:lstStyle/>
          <a:p>
            <a:pPr algn="ctr" indent="0" marL="0">
              <a:buNone/>
            </a:pPr>
            <a:r>
              <a:rPr lang="en-US" sz="1600" b="1" dirty="0">
                <a:solidFill>
                  <a:schemeClr val="tx1"/>
                </a:solidFill>
              </a:rPr>
              <a:t>Report results in Onshape</a:t>
            </a:r>
            <a:endParaRPr lang="en-US" sz="1600" dirty="0"/>
          </a:p>
        </p:txBody>
      </p:sp>
      <p:pic>
        <p:nvPicPr>
          <p:cNvPr id="14" name="icon-q-67" descr="preencoded.png">    </p:cNvPr>
          <p:cNvPicPr>
            <a:picLocks noChangeAspect="1"/>
          </p:cNvPicPr>
          <p:nvPr/>
        </p:nvPicPr>
        <p:blipFill>
          <a:blip r:embed="rId1"/>
          <a:stretch>
            <a:fillRect/>
          </a:stretch>
        </p:blipFill>
        <p:spPr>
          <a:xfrm>
            <a:off x="4346326" y="2286000"/>
            <a:ext cx="438912" cy="438912"/>
          </a:xfrm>
          <a:prstGeom prst="rect">
            <a:avLst/>
          </a:prstGeom>
        </p:spPr>
      </p:pic>
      <p:pic>
        <p:nvPicPr>
          <p:cNvPr id="15" name="icon-q-68" descr="preencoded.png">    </p:cNvPr>
          <p:cNvPicPr>
            <a:picLocks noChangeAspect="1"/>
          </p:cNvPicPr>
          <p:nvPr/>
        </p:nvPicPr>
        <p:blipFill>
          <a:blip r:embed="rId2"/>
          <a:stretch>
            <a:fillRect/>
          </a:stretch>
        </p:blipFill>
        <p:spPr>
          <a:xfrm>
            <a:off x="6656649" y="2286000"/>
            <a:ext cx="438912" cy="438912"/>
          </a:xfrm>
          <a:prstGeom prst="rect">
            <a:avLst/>
          </a:prstGeom>
        </p:spPr>
      </p:pic>
      <p:pic>
        <p:nvPicPr>
          <p:cNvPr id="16" name="icon-q-69" descr="preencoded.png">    </p:cNvPr>
          <p:cNvPicPr>
            <a:picLocks noChangeAspect="1"/>
          </p:cNvPicPr>
          <p:nvPr/>
        </p:nvPicPr>
        <p:blipFill>
          <a:blip r:embed="rId3"/>
          <a:stretch>
            <a:fillRect/>
          </a:stretch>
        </p:blipFill>
        <p:spPr>
          <a:xfrm>
            <a:off x="8966972" y="2286000"/>
            <a:ext cx="438912" cy="438912"/>
          </a:xfrm>
          <a:prstGeom prst="rect">
            <a:avLst/>
          </a:prstGeom>
        </p:spPr>
      </p:pic>
      <p:pic>
        <p:nvPicPr>
          <p:cNvPr id="17" name="icon-q-70" descr="preencoded.png">    </p:cNvPr>
          <p:cNvPicPr>
            <a:picLocks noChangeAspect="1"/>
          </p:cNvPicPr>
          <p:nvPr/>
        </p:nvPicPr>
        <p:blipFill>
          <a:blip r:embed="rId4"/>
          <a:stretch>
            <a:fillRect/>
          </a:stretch>
        </p:blipFill>
        <p:spPr>
          <a:xfrm>
            <a:off x="11277295" y="2286000"/>
            <a:ext cx="438912" cy="438912"/>
          </a:xfrm>
          <a:prstGeom prst="rect">
            <a:avLst/>
          </a:prstGeom>
        </p:spPr>
      </p:pic>
      <p:sp>
        <p:nvSpPr>
          <p:cNvPr id="18" name="text-71"/>
          <p:cNvSpPr txBox="1"/>
          <p:nvPr/>
        </p:nvSpPr>
        <p:spPr>
          <a:xfrm>
            <a:off x="2858963" y="3657600"/>
            <a:ext cx="8229600" cy="365760"/>
          </a:xfrm>
          <a:prstGeom prst="rect">
            <a:avLst/>
          </a:prstGeom>
          <a:noFill/>
          <a:ln/>
        </p:spPr>
        <p:txBody>
          <a:bodyPr wrap="square" lIns="0" tIns="0" rIns="0" bIns="0" rtlCol="0" anchor="t"/>
          <a:lstStyle/>
          <a:p>
            <a:pPr indent="0" marL="0">
              <a:buNone/>
            </a:pPr>
            <a:r>
              <a:rPr lang="en-US" sz="1300" i="1" dirty="0">
                <a:solidFill>
                  <a:schemeClr val="accent3"/>
                </a:solidFill>
              </a:rPr>
              <a:t>Each simulation step is a claim, not a checked result</a:t>
            </a:r>
            <a:endParaRPr lang="en-US" sz="1300" dirty="0"/>
          </a:p>
        </p:txBody>
      </p:sp>
      <p:pic>
        <p:nvPicPr>
          <p:cNvPr id="19" name="icon-check-72" descr="preencoded.png">    </p:cNvPr>
          <p:cNvPicPr>
            <a:picLocks noChangeAspect="1"/>
          </p:cNvPicPr>
          <p:nvPr/>
        </p:nvPicPr>
        <p:blipFill>
          <a:blip r:embed="rId5"/>
          <a:stretch>
            <a:fillRect/>
          </a:stretch>
        </p:blipFill>
        <p:spPr>
          <a:xfrm>
            <a:off x="548640" y="4343400"/>
            <a:ext cx="384048" cy="384048"/>
          </a:xfrm>
          <a:prstGeom prst="rect">
            <a:avLst/>
          </a:prstGeom>
        </p:spPr>
      </p:pic>
      <p:sp>
        <p:nvSpPr>
          <p:cNvPr id="20" name="text-73"/>
          <p:cNvSpPr txBox="1"/>
          <p:nvPr/>
        </p:nvSpPr>
        <p:spPr>
          <a:xfrm>
            <a:off x="1051560" y="434340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Available through Onshape's app store</a:t>
            </a:r>
            <a:endParaRPr lang="en-US" sz="1800" dirty="0"/>
          </a:p>
        </p:txBody>
      </p:sp>
      <p:sp>
        <p:nvSpPr>
          <p:cNvPr id="21" name="evidence-tag-74"/>
          <p:cNvSpPr txBox="1"/>
          <p:nvPr/>
        </p:nvSpPr>
        <p:spPr>
          <a:xfrm>
            <a:off x="5074920" y="4407408"/>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22" name="text-75"/>
          <p:cNvSpPr txBox="1"/>
          <p:nvPr/>
        </p:nvSpPr>
        <p:spPr>
          <a:xfrm>
            <a:off x="548640" y="5074920"/>
            <a:ext cx="11094415" cy="548640"/>
          </a:xfrm>
          <a:prstGeom prst="rect">
            <a:avLst/>
          </a:prstGeom>
          <a:noFill/>
          <a:ln/>
        </p:spPr>
        <p:txBody>
          <a:bodyPr wrap="square" lIns="0" tIns="0" rIns="0" bIns="0" rtlCol="0" anchor="t"/>
          <a:lstStyle/>
          <a:p>
            <a:pPr indent="0" marL="0">
              <a:buNone/>
            </a:pPr>
            <a:r>
              <a:rPr lang="en-US" sz="2400" i="1" dirty="0">
                <a:solidFill>
                  <a:schemeClr val="tx1"/>
                </a:solidFill>
                <a:latin typeface="Cambria" pitchFamily="34" charset="0"/>
                <a:ea typeface="Cambria" pitchFamily="34" charset="-122"/>
                <a:cs typeface="Cambria" pitchFamily="34" charset="-120"/>
              </a:rPr>
              <a:t>A completed run is not evidence of a valid analysis.</a:t>
            </a:r>
            <a:endParaRPr lang="en-US" sz="2400" dirty="0"/>
          </a:p>
        </p:txBody>
      </p:sp>
      <p:sp>
        <p:nvSpPr>
          <p:cNvPr id="23" name="text-76"/>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“Multiphysics gets MCP server and Onshape gets SimScale agent,” Sept. 23,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advClick="1" advTm="2741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One prompt, two verification burdens</a:t>
            </a:r>
            <a:endParaRPr lang="en-US" sz="3200" dirty="0"/>
          </a:p>
        </p:txBody>
      </p:sp>
      <p:sp>
        <p:nvSpPr>
          <p:cNvPr id="3" name="text-77"/>
          <p:cNvSpPr txBox="1"/>
          <p:nvPr/>
        </p:nvSpPr>
        <p:spPr>
          <a:xfrm>
            <a:off x="548640" y="1417320"/>
            <a:ext cx="4480560" cy="411480"/>
          </a:xfrm>
          <a:prstGeom prst="rect">
            <a:avLst/>
          </a:prstGeom>
          <a:noFill/>
          <a:ln/>
        </p:spPr>
        <p:txBody>
          <a:bodyPr wrap="square" lIns="0" tIns="0" rIns="0" bIns="0" rtlCol="0" anchor="t"/>
          <a:lstStyle/>
          <a:p>
            <a:pPr indent="0" marL="0">
              <a:buNone/>
            </a:pPr>
            <a:r>
              <a:rPr lang="en-US" sz="1800" b="1" dirty="0">
                <a:solidFill>
                  <a:schemeClr val="tx1"/>
                </a:solidFill>
              </a:rPr>
              <a:t>Reviewing a generated CAD feature</a:t>
            </a:r>
            <a:endParaRPr lang="en-US" sz="1800" dirty="0"/>
          </a:p>
        </p:txBody>
      </p:sp>
      <p:sp>
        <p:nvSpPr>
          <p:cNvPr id="4" name="node-78"/>
          <p:cNvSpPr/>
          <p:nvPr/>
        </p:nvSpPr>
        <p:spPr>
          <a:xfrm>
            <a:off x="548640" y="1965960"/>
            <a:ext cx="4206240"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Code</a:t>
            </a:r>
            <a:endParaRPr lang="en-US" sz="1500" dirty="0"/>
          </a:p>
        </p:txBody>
      </p:sp>
      <p:sp>
        <p:nvSpPr>
          <p:cNvPr id="5" name="node-79"/>
          <p:cNvSpPr/>
          <p:nvPr/>
        </p:nvSpPr>
        <p:spPr>
          <a:xfrm>
            <a:off x="548640" y="2496312"/>
            <a:ext cx="4206240"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Parameter behavior</a:t>
            </a:r>
            <a:endParaRPr lang="en-US" sz="1500" dirty="0"/>
          </a:p>
        </p:txBody>
      </p:sp>
      <p:sp>
        <p:nvSpPr>
          <p:cNvPr id="6" name="node-80"/>
          <p:cNvSpPr/>
          <p:nvPr/>
        </p:nvSpPr>
        <p:spPr>
          <a:xfrm>
            <a:off x="548640" y="3026664"/>
            <a:ext cx="4206240"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Geometry</a:t>
            </a:r>
            <a:endParaRPr lang="en-US" sz="1500" dirty="0"/>
          </a:p>
        </p:txBody>
      </p:sp>
      <p:sp>
        <p:nvSpPr>
          <p:cNvPr id="7" name="node-81"/>
          <p:cNvSpPr/>
          <p:nvPr/>
        </p:nvSpPr>
        <p:spPr>
          <a:xfrm>
            <a:off x="548640" y="3557016"/>
            <a:ext cx="4206240"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Encoded rules</a:t>
            </a:r>
            <a:endParaRPr lang="en-US" sz="1500" dirty="0"/>
          </a:p>
        </p:txBody>
      </p:sp>
      <p:sp>
        <p:nvSpPr>
          <p:cNvPr id="8" name="text-82"/>
          <p:cNvSpPr txBox="1"/>
          <p:nvPr/>
        </p:nvSpPr>
        <p:spPr>
          <a:xfrm>
            <a:off x="5394960" y="1417320"/>
            <a:ext cx="6217920" cy="411480"/>
          </a:xfrm>
          <a:prstGeom prst="rect">
            <a:avLst/>
          </a:prstGeom>
          <a:noFill/>
          <a:ln/>
        </p:spPr>
        <p:txBody>
          <a:bodyPr wrap="square" lIns="0" tIns="0" rIns="0" bIns="0" rtlCol="0" anchor="t"/>
          <a:lstStyle/>
          <a:p>
            <a:pPr indent="0" marL="0">
              <a:buNone/>
            </a:pPr>
            <a:r>
              <a:rPr lang="en-US" sz="1800" b="1" dirty="0">
                <a:solidFill>
                  <a:schemeClr val="tx1"/>
                </a:solidFill>
              </a:rPr>
              <a:t>Reviewing an agent's simulation</a:t>
            </a:r>
            <a:endParaRPr lang="en-US" sz="1800" dirty="0"/>
          </a:p>
        </p:txBody>
      </p:sp>
      <p:sp>
        <p:nvSpPr>
          <p:cNvPr id="9" name="node-83"/>
          <p:cNvSpPr/>
          <p:nvPr/>
        </p:nvSpPr>
        <p:spPr>
          <a:xfrm>
            <a:off x="5394960" y="1965960"/>
            <a:ext cx="6245352" cy="420624"/>
          </a:xfrm>
          <a:prstGeom prst="roundRect">
            <a:avLst>
              <a:gd name="adj" fmla="val 17391"/>
            </a:avLst>
          </a:prstGeom>
          <a:solidFill>
            <a:schemeClr val="accent1"/>
          </a:solidFill>
          <a:ln>
            <a:solidFill>
              <a:schemeClr val="accent1"/>
            </a:solidFill>
          </a:ln>
        </p:spPr>
        <p:txBody>
          <a:bodyPr wrap="square" lIns="152400" tIns="0" rIns="0" bIns="0" rtlCol="0" anchor="ctr"/>
          <a:lstStyle/>
          <a:p>
            <a:pPr algn="l" indent="0" marL="0">
              <a:buNone/>
            </a:pPr>
            <a:r>
              <a:rPr lang="en-US" sz="1500" b="1" dirty="0">
                <a:solidFill>
                  <a:schemeClr val="bg1"/>
                </a:solidFill>
              </a:rPr>
              <a:t>Does the model answer the engineering question?</a:t>
            </a:r>
            <a:endParaRPr lang="en-US" sz="1500" dirty="0"/>
          </a:p>
        </p:txBody>
      </p:sp>
      <p:sp>
        <p:nvSpPr>
          <p:cNvPr id="10" name="node-84"/>
          <p:cNvSpPr/>
          <p:nvPr/>
        </p:nvSpPr>
        <p:spPr>
          <a:xfrm>
            <a:off x="5394960" y="2496312"/>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Loads</a:t>
            </a:r>
            <a:endParaRPr lang="en-US" sz="1500" dirty="0"/>
          </a:p>
        </p:txBody>
      </p:sp>
      <p:sp>
        <p:nvSpPr>
          <p:cNvPr id="11" name="node-85"/>
          <p:cNvSpPr/>
          <p:nvPr/>
        </p:nvSpPr>
        <p:spPr>
          <a:xfrm>
            <a:off x="5394960" y="3026664"/>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Boundary conditions</a:t>
            </a:r>
            <a:endParaRPr lang="en-US" sz="1500" dirty="0"/>
          </a:p>
        </p:txBody>
      </p:sp>
      <p:sp>
        <p:nvSpPr>
          <p:cNvPr id="12" name="node-86"/>
          <p:cNvSpPr/>
          <p:nvPr/>
        </p:nvSpPr>
        <p:spPr>
          <a:xfrm>
            <a:off x="5394960" y="3557016"/>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Material assumptions</a:t>
            </a:r>
            <a:endParaRPr lang="en-US" sz="1500" dirty="0"/>
          </a:p>
        </p:txBody>
      </p:sp>
      <p:sp>
        <p:nvSpPr>
          <p:cNvPr id="13" name="node-87"/>
          <p:cNvSpPr/>
          <p:nvPr/>
        </p:nvSpPr>
        <p:spPr>
          <a:xfrm>
            <a:off x="5394960" y="4087368"/>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Contact definitions</a:t>
            </a:r>
            <a:endParaRPr lang="en-US" sz="1500" dirty="0"/>
          </a:p>
        </p:txBody>
      </p:sp>
      <p:sp>
        <p:nvSpPr>
          <p:cNvPr id="14" name="node-88"/>
          <p:cNvSpPr/>
          <p:nvPr/>
        </p:nvSpPr>
        <p:spPr>
          <a:xfrm>
            <a:off x="8586216" y="2496312"/>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Mesh choices</a:t>
            </a:r>
            <a:endParaRPr lang="en-US" sz="1500" dirty="0"/>
          </a:p>
        </p:txBody>
      </p:sp>
      <p:sp>
        <p:nvSpPr>
          <p:cNvPr id="15" name="node-89"/>
          <p:cNvSpPr/>
          <p:nvPr/>
        </p:nvSpPr>
        <p:spPr>
          <a:xfrm>
            <a:off x="8586216" y="3026664"/>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Solver settings</a:t>
            </a:r>
            <a:endParaRPr lang="en-US" sz="1500" dirty="0"/>
          </a:p>
        </p:txBody>
      </p:sp>
      <p:sp>
        <p:nvSpPr>
          <p:cNvPr id="16" name="node-90"/>
          <p:cNvSpPr/>
          <p:nvPr/>
        </p:nvSpPr>
        <p:spPr>
          <a:xfrm>
            <a:off x="8586216" y="3557016"/>
            <a:ext cx="3054096" cy="420624"/>
          </a:xfrm>
          <a:prstGeom prst="roundRect">
            <a:avLst>
              <a:gd name="adj" fmla="val 17391"/>
            </a:avLst>
          </a:prstGeom>
          <a:solidFill>
            <a:schemeClr val="bg2"/>
          </a:solidFill>
          <a:ln w="12700">
            <a:solidFill>
              <a:schemeClr val="bg2"/>
            </a:solidFill>
          </a:ln>
        </p:spPr>
        <p:txBody>
          <a:bodyPr wrap="square" lIns="152400" tIns="0" rIns="0" bIns="0" rtlCol="0" anchor="ctr"/>
          <a:lstStyle/>
          <a:p>
            <a:pPr algn="l" indent="0" marL="0">
              <a:buNone/>
            </a:pPr>
            <a:r>
              <a:rPr lang="en-US" sz="1500" dirty="0">
                <a:solidFill>
                  <a:schemeClr val="tx1"/>
                </a:solidFill>
              </a:rPr>
              <a:t>Result interpretation</a:t>
            </a:r>
            <a:endParaRPr lang="en-US" sz="1500" dirty="0"/>
          </a:p>
        </p:txBody>
      </p:sp>
      <p:sp>
        <p:nvSpPr>
          <p:cNvPr id="17" name="panel-91"/>
          <p:cNvSpPr/>
          <p:nvPr/>
        </p:nvSpPr>
        <p:spPr>
          <a:xfrm>
            <a:off x="548640" y="4709160"/>
            <a:ext cx="11094415" cy="1097280"/>
          </a:xfrm>
          <a:prstGeom prst="roundRect">
            <a:avLst>
              <a:gd name="adj" fmla="val 8333"/>
            </a:avLst>
          </a:prstGeom>
          <a:solidFill>
            <a:schemeClr val="bg1"/>
          </a:solidFill>
          <a:ln w="12700">
            <a:solidFill>
              <a:schemeClr val="accent6"/>
            </a:solidFill>
            <a:prstDash val="solid"/>
          </a:ln>
        </p:spPr>
      </p:sp>
      <p:sp>
        <p:nvSpPr>
          <p:cNvPr id="18" name="text-92"/>
          <p:cNvSpPr txBox="1"/>
          <p:nvPr/>
        </p:nvSpPr>
        <p:spPr>
          <a:xfrm>
            <a:off x="777240" y="4800600"/>
            <a:ext cx="2743200" cy="292608"/>
          </a:xfrm>
          <a:prstGeom prst="rect">
            <a:avLst/>
          </a:prstGeom>
          <a:noFill/>
          <a:ln/>
        </p:spPr>
        <p:txBody>
          <a:bodyPr wrap="square" lIns="0" tIns="0" rIns="0" bIns="0" rtlCol="0" anchor="t"/>
          <a:lstStyle/>
          <a:p>
            <a:pPr indent="0" marL="0">
              <a:buNone/>
            </a:pPr>
            <a:r>
              <a:rPr lang="en-US" sz="1300" b="1" dirty="0">
                <a:solidFill>
                  <a:schemeClr val="tx2"/>
                </a:solidFill>
              </a:rPr>
              <a:t>What the sources checked</a:t>
            </a:r>
            <a:endParaRPr lang="en-US" sz="1300" dirty="0"/>
          </a:p>
        </p:txBody>
      </p:sp>
      <p:sp>
        <p:nvSpPr>
          <p:cNvPr id="19" name="evidence-tag-93"/>
          <p:cNvSpPr txBox="1"/>
          <p:nvPr/>
        </p:nvSpPr>
        <p:spPr>
          <a:xfrm>
            <a:off x="777240" y="5175504"/>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20" name="text-94"/>
          <p:cNvSpPr txBox="1"/>
          <p:nvPr/>
        </p:nvSpPr>
        <p:spPr>
          <a:xfrm>
            <a:off x="2337206" y="5148072"/>
            <a:ext cx="2743200" cy="310896"/>
          </a:xfrm>
          <a:prstGeom prst="rect">
            <a:avLst/>
          </a:prstGeom>
          <a:noFill/>
          <a:ln/>
        </p:spPr>
        <p:txBody>
          <a:bodyPr wrap="square" lIns="0" tIns="0" rIns="0" bIns="0" rtlCol="0" anchor="ctr"/>
          <a:lstStyle/>
          <a:p>
            <a:pPr indent="0" marL="0">
              <a:buNone/>
            </a:pPr>
            <a:r>
              <a:rPr lang="en-US" sz="1400" dirty="0">
                <a:solidFill>
                  <a:schemeClr val="tx1"/>
                </a:solidFill>
              </a:rPr>
              <a:t>The integration is available</a:t>
            </a:r>
            <a:endParaRPr lang="en-US" sz="1400" dirty="0"/>
          </a:p>
        </p:txBody>
      </p:sp>
      <p:sp>
        <p:nvSpPr>
          <p:cNvPr id="21" name="evidence-tag-95"/>
          <p:cNvSpPr txBox="1"/>
          <p:nvPr/>
        </p:nvSpPr>
        <p:spPr>
          <a:xfrm>
            <a:off x="5486400" y="5175504"/>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22" name="text-96"/>
          <p:cNvSpPr txBox="1"/>
          <p:nvPr/>
        </p:nvSpPr>
        <p:spPr>
          <a:xfrm>
            <a:off x="6962242" y="5148072"/>
            <a:ext cx="4206240" cy="310896"/>
          </a:xfrm>
          <a:prstGeom prst="rect">
            <a:avLst/>
          </a:prstGeom>
          <a:noFill/>
          <a:ln/>
        </p:spPr>
        <p:txBody>
          <a:bodyPr wrap="square" lIns="0" tIns="0" rIns="0" bIns="0" rtlCol="0" anchor="ctr"/>
          <a:lstStyle/>
          <a:p>
            <a:pPr indent="0" marL="0">
              <a:buNone/>
            </a:pPr>
            <a:r>
              <a:rPr lang="en-US" sz="1400" dirty="0">
                <a:solidFill>
                  <a:schemeClr val="tx1"/>
                </a:solidFill>
              </a:rPr>
              <a:t>What SimScale says its agent can do</a:t>
            </a:r>
            <a:endParaRPr lang="en-US" sz="1400" dirty="0"/>
          </a:p>
        </p:txBody>
      </p:sp>
      <p:sp>
        <p:nvSpPr>
          <p:cNvPr id="23" name="evidence-tag-97"/>
          <p:cNvSpPr txBox="1"/>
          <p:nvPr/>
        </p:nvSpPr>
        <p:spPr>
          <a:xfrm>
            <a:off x="777240" y="5486400"/>
            <a:ext cx="1591056" cy="256032"/>
          </a:xfrm>
          <a:prstGeom prst="roundRect">
            <a:avLst>
              <a:gd name="adj" fmla="val 46429"/>
            </a:avLst>
          </a:prstGeom>
          <a:solidFill>
            <a:schemeClr val="accent5"/>
          </a:solidFill>
          <a:ln w="12700">
            <a:solidFill>
              <a:schemeClr val="accent5"/>
            </a:solidFill>
          </a:ln>
        </p:spPr>
        <p:txBody>
          <a:bodyPr wrap="square" lIns="0" tIns="0" rIns="0" bIns="0" rtlCol="0" anchor="ctr"/>
          <a:lstStyle/>
          <a:p>
            <a:pPr algn="ctr" indent="0" marL="0">
              <a:buNone/>
            </a:pPr>
            <a:r>
              <a:rPr lang="en-US" sz="1000" b="1" spc="100" kern="0" dirty="0">
                <a:solidFill>
                  <a:schemeClr val="bg1"/>
                </a:solidFill>
              </a:rPr>
              <a:t>NOT ESTABLISHED</a:t>
            </a:r>
            <a:endParaRPr lang="en-US" sz="1000" dirty="0"/>
          </a:p>
        </p:txBody>
      </p:sp>
      <p:sp>
        <p:nvSpPr>
          <p:cNvPr id="24" name="text-98"/>
          <p:cNvSpPr txBox="1"/>
          <p:nvPr/>
        </p:nvSpPr>
        <p:spPr>
          <a:xfrm>
            <a:off x="2505456" y="5458968"/>
            <a:ext cx="8686800" cy="310896"/>
          </a:xfrm>
          <a:prstGeom prst="rect">
            <a:avLst/>
          </a:prstGeom>
          <a:noFill/>
          <a:ln/>
        </p:spPr>
        <p:txBody>
          <a:bodyPr wrap="square" lIns="0" tIns="0" rIns="0" bIns="0" rtlCol="0" anchor="ctr"/>
          <a:lstStyle/>
          <a:p>
            <a:pPr indent="0" marL="0">
              <a:buNone/>
            </a:pPr>
            <a:r>
              <a:rPr lang="en-US" sz="1400" dirty="0">
                <a:solidFill>
                  <a:schemeClr val="tx1"/>
                </a:solidFill>
              </a:rPr>
              <a:t>Not presented: a public comparison with engineer-reviewed setups, or a physical validation study</a:t>
            </a:r>
            <a:endParaRPr lang="en-US" sz="1400" dirty="0"/>
          </a:p>
        </p:txBody>
      </p:sp>
      <p:sp>
        <p:nvSpPr>
          <p:cNvPr id="25" name="text-99"/>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“Multiphysics gets MCP server and Onshape gets SimScale agent,” Sept. 23,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advClick="1" advTm="4839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Robotics: context, not proof</a:t>
            </a:r>
            <a:endParaRPr lang="en-US" sz="3200" dirty="0"/>
          </a:p>
        </p:txBody>
      </p:sp>
      <p:sp>
        <p:nvSpPr>
          <p:cNvPr id="3" name="panel-100"/>
          <p:cNvSpPr/>
          <p:nvPr/>
        </p:nvSpPr>
        <p:spPr>
          <a:xfrm>
            <a:off x="548640" y="1463040"/>
            <a:ext cx="5349240" cy="4343400"/>
          </a:xfrm>
          <a:prstGeom prst="roundRect">
            <a:avLst>
              <a:gd name="adj" fmla="val 2105"/>
            </a:avLst>
          </a:prstGeom>
          <a:solidFill>
            <a:schemeClr val="bg2"/>
          </a:solidFill>
          <a:ln w="12700">
            <a:solidFill>
              <a:schemeClr val="bg2"/>
            </a:solidFill>
            <a:prstDash val="solid"/>
          </a:ln>
        </p:spPr>
      </p:sp>
      <p:sp>
        <p:nvSpPr>
          <p:cNvPr id="4" name="evidence-tag-101"/>
          <p:cNvSpPr txBox="1"/>
          <p:nvPr/>
        </p:nvSpPr>
        <p:spPr>
          <a:xfrm>
            <a:off x="822960" y="173736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5" name="text-102"/>
          <p:cNvSpPr txBox="1"/>
          <p:nvPr/>
        </p:nvSpPr>
        <p:spPr>
          <a:xfrm>
            <a:off x="822960" y="2148840"/>
            <a:ext cx="4846320" cy="320040"/>
          </a:xfrm>
          <a:prstGeom prst="rect">
            <a:avLst/>
          </a:prstGeom>
          <a:noFill/>
          <a:ln/>
        </p:spPr>
        <p:txBody>
          <a:bodyPr wrap="square" lIns="0" tIns="0" rIns="0" bIns="0" rtlCol="0" anchor="t"/>
          <a:lstStyle/>
          <a:p>
            <a:pPr indent="0" marL="0">
              <a:buNone/>
            </a:pPr>
            <a:r>
              <a:rPr lang="en-US" sz="1500" dirty="0">
                <a:solidFill>
                  <a:schemeClr val="tx2"/>
                </a:solidFill>
              </a:rPr>
              <a:t>Newton physics for robot simulation</a:t>
            </a:r>
            <a:endParaRPr lang="en-US" sz="1500" dirty="0"/>
          </a:p>
        </p:txBody>
      </p:sp>
      <p:sp>
        <p:nvSpPr>
          <p:cNvPr id="6" name="text-103"/>
          <p:cNvSpPr txBox="1"/>
          <p:nvPr/>
        </p:nvSpPr>
        <p:spPr>
          <a:xfrm>
            <a:off x="822960" y="2514600"/>
            <a:ext cx="4846320" cy="5943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“Completely open source”</a:t>
            </a:r>
            <a:endParaRPr lang="en-US" sz="3000" dirty="0"/>
          </a:p>
        </p:txBody>
      </p:sp>
      <p:sp>
        <p:nvSpPr>
          <p:cNvPr id="7" name="text-104"/>
          <p:cNvSpPr txBox="1"/>
          <p:nvPr/>
        </p:nvSpPr>
        <p:spPr>
          <a:xfrm>
            <a:off x="822960" y="3127248"/>
            <a:ext cx="4846320" cy="320040"/>
          </a:xfrm>
          <a:prstGeom prst="rect">
            <a:avLst/>
          </a:prstGeom>
          <a:noFill/>
          <a:ln/>
        </p:spPr>
        <p:txBody>
          <a:bodyPr wrap="square" lIns="0" tIns="0" rIns="0" bIns="0" rtlCol="0" anchor="t"/>
          <a:lstStyle/>
          <a:p>
            <a:pPr indent="0" marL="0">
              <a:buNone/>
            </a:pPr>
            <a:r>
              <a:rPr lang="en-US" sz="1400" dirty="0">
                <a:solidFill>
                  <a:schemeClr val="tx2"/>
                </a:solidFill>
              </a:rPr>
              <a:t>A presenter's statement in an NVIDIA video</a:t>
            </a:r>
            <a:endParaRPr lang="en-US" sz="1400" dirty="0"/>
          </a:p>
        </p:txBody>
      </p:sp>
      <p:sp>
        <p:nvSpPr>
          <p:cNvPr id="8" name="text-105"/>
          <p:cNvSpPr txBox="1"/>
          <p:nvPr/>
        </p:nvSpPr>
        <p:spPr>
          <a:xfrm>
            <a:off x="822960" y="3657600"/>
            <a:ext cx="4846320" cy="640080"/>
          </a:xfrm>
          <a:prstGeom prst="rect">
            <a:avLst/>
          </a:prstGeom>
          <a:noFill/>
          <a:ln/>
        </p:spPr>
        <p:txBody>
          <a:bodyPr wrap="square" lIns="0" tIns="0" rIns="0" bIns="0" rtlCol="0" anchor="t"/>
          <a:lstStyle/>
          <a:p>
            <a:pPr indent="0" marL="0">
              <a:buNone/>
            </a:pPr>
            <a:r>
              <a:rPr lang="en-US" sz="1500" dirty="0">
                <a:solidFill>
                  <a:schemeClr val="tx1"/>
                </a:solidFill>
              </a:rPr>
              <a:t>Supports: NVIDIA's claim about availability and how others can contribute</a:t>
            </a:r>
            <a:endParaRPr lang="en-US" sz="1500" dirty="0"/>
          </a:p>
        </p:txBody>
      </p:sp>
      <p:sp>
        <p:nvSpPr>
          <p:cNvPr id="9" name="text-106"/>
          <p:cNvSpPr txBox="1"/>
          <p:nvPr/>
        </p:nvSpPr>
        <p:spPr>
          <a:xfrm>
            <a:off x="822960" y="4389120"/>
            <a:ext cx="4846320" cy="914400"/>
          </a:xfrm>
          <a:prstGeom prst="rect">
            <a:avLst/>
          </a:prstGeom>
          <a:noFill/>
          <a:ln/>
        </p:spPr>
        <p:txBody>
          <a:bodyPr wrap="square" lIns="0" tIns="0" rIns="0" bIns="0" rtlCol="0" anchor="t"/>
          <a:lstStyle/>
          <a:p>
            <a:pPr indent="0" marL="0">
              <a:buNone/>
            </a:pPr>
            <a:r>
              <a:rPr lang="en-US" sz="1500" b="1" dirty="0">
                <a:solidFill>
                  <a:schemeClr val="accent5"/>
                </a:solidFill>
              </a:rPr>
              <a:t>Does not show: </a:t>
            </a:r>
            <a:pPr indent="0" marL="0">
              <a:buNone/>
            </a:pPr>
            <a:r>
              <a:rPr lang="en-US" sz="1500" dirty="0">
                <a:solidFill>
                  <a:schemeClr val="tx1"/>
                </a:solidFill>
              </a:rPr>
              <a:t>simulator accuracy, transfer to real hardware, or usefulness for a CAD-to-simulation workflow</a:t>
            </a:r>
            <a:endParaRPr lang="en-US" sz="1500" dirty="0"/>
          </a:p>
        </p:txBody>
      </p:sp>
      <p:sp>
        <p:nvSpPr>
          <p:cNvPr id="10" name="panel-107"/>
          <p:cNvSpPr/>
          <p:nvPr/>
        </p:nvSpPr>
        <p:spPr>
          <a:xfrm>
            <a:off x="6291072" y="1463040"/>
            <a:ext cx="5349240" cy="4343400"/>
          </a:xfrm>
          <a:prstGeom prst="roundRect">
            <a:avLst>
              <a:gd name="adj" fmla="val 2105"/>
            </a:avLst>
          </a:prstGeom>
          <a:solidFill>
            <a:schemeClr val="bg1"/>
          </a:solidFill>
          <a:ln w="15875">
            <a:solidFill>
              <a:schemeClr val="accent6"/>
            </a:solidFill>
            <a:prstDash val="dash"/>
          </a:ln>
        </p:spPr>
      </p:sp>
      <p:sp>
        <p:nvSpPr>
          <p:cNvPr id="11" name="evidence-tag-108"/>
          <p:cNvSpPr txBox="1"/>
          <p:nvPr/>
        </p:nvSpPr>
        <p:spPr>
          <a:xfrm>
            <a:off x="6565392" y="1737360"/>
            <a:ext cx="2264054" cy="256032"/>
          </a:xfrm>
          <a:prstGeom prst="roundRect">
            <a:avLst>
              <a:gd name="adj" fmla="val 46429"/>
            </a:avLst>
          </a:prstGeom>
          <a:solidFill>
            <a:schemeClr val="bg1"/>
          </a:solidFill>
          <a:ln w="15875">
            <a:solidFill>
              <a:schemeClr val="accent6"/>
            </a:solidFill>
            <a:prstDash val="dash"/>
          </a:ln>
        </p:spPr>
        <p:txBody>
          <a:bodyPr wrap="square" lIns="0" tIns="0" rIns="0" bIns="0" rtlCol="0" anchor="ctr"/>
          <a:lstStyle/>
          <a:p>
            <a:pPr algn="ctr" indent="0" marL="0">
              <a:buNone/>
            </a:pPr>
            <a:r>
              <a:rPr lang="en-US" sz="1000" b="1" spc="100" kern="0" dirty="0">
                <a:solidFill>
                  <a:schemeClr val="accent6"/>
                </a:solidFill>
              </a:rPr>
              <a:t>UNVERIFIED · TRANSCRIPT</a:t>
            </a:r>
            <a:endParaRPr lang="en-US" sz="1000" dirty="0"/>
          </a:p>
        </p:txBody>
      </p:sp>
      <p:sp>
        <p:nvSpPr>
          <p:cNvPr id="12" name="text-109"/>
          <p:cNvSpPr txBox="1"/>
          <p:nvPr/>
        </p:nvSpPr>
        <p:spPr>
          <a:xfrm>
            <a:off x="6565392" y="2148840"/>
            <a:ext cx="4846320" cy="365760"/>
          </a:xfrm>
          <a:prstGeom prst="rect">
            <a:avLst/>
          </a:prstGeom>
          <a:noFill/>
          <a:ln/>
        </p:spPr>
        <p:txBody>
          <a:bodyPr wrap="square" lIns="0" tIns="0" rIns="0" bIns="0" rtlCol="0" anchor="t"/>
          <a:lstStyle/>
          <a:p>
            <a:pPr indent="0" marL="0">
              <a:buNone/>
            </a:pPr>
            <a:r>
              <a:rPr lang="en-US" sz="1700" b="1" dirty="0">
                <a:solidFill>
                  <a:schemeClr val="tx1"/>
                </a:solidFill>
              </a:rPr>
              <a:t>A blind robot evaluation, as reported</a:t>
            </a:r>
            <a:endParaRPr lang="en-US" sz="1700" dirty="0"/>
          </a:p>
        </p:txBody>
      </p:sp>
      <p:sp>
        <p:nvSpPr>
          <p:cNvPr id="13" name="text-110"/>
          <p:cNvSpPr txBox="1"/>
          <p:nvPr/>
        </p:nvSpPr>
        <p:spPr>
          <a:xfrm>
            <a:off x="6565392" y="2651760"/>
            <a:ext cx="2286000" cy="54864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4" name="text-111"/>
          <p:cNvSpPr txBox="1"/>
          <p:nvPr/>
        </p:nvSpPr>
        <p:spPr>
          <a:xfrm>
            <a:off x="6565392" y="3200400"/>
            <a:ext cx="2286000" cy="292608"/>
          </a:xfrm>
          <a:prstGeom prst="rect">
            <a:avLst/>
          </a:prstGeom>
          <a:noFill/>
          <a:ln/>
        </p:spPr>
        <p:txBody>
          <a:bodyPr wrap="square" lIns="0" tIns="0" rIns="0" bIns="0" rtlCol="0" anchor="t"/>
          <a:lstStyle/>
          <a:p>
            <a:pPr indent="0" marL="0">
              <a:buNone/>
            </a:pPr>
            <a:r>
              <a:rPr lang="en-US" sz="1400" dirty="0">
                <a:solidFill>
                  <a:schemeClr val="tx2"/>
                </a:solidFill>
              </a:rPr>
              <a:t>manipulation tasks</a:t>
            </a:r>
            <a:endParaRPr lang="en-US" sz="1400" dirty="0"/>
          </a:p>
        </p:txBody>
      </p:sp>
      <p:sp>
        <p:nvSpPr>
          <p:cNvPr id="15" name="text-112"/>
          <p:cNvSpPr txBox="1"/>
          <p:nvPr/>
        </p:nvSpPr>
        <p:spPr>
          <a:xfrm>
            <a:off x="9034272" y="2651760"/>
            <a:ext cx="2286000" cy="54864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6" name="text-113"/>
          <p:cNvSpPr txBox="1"/>
          <p:nvPr/>
        </p:nvSpPr>
        <p:spPr>
          <a:xfrm>
            <a:off x="9034272" y="3200400"/>
            <a:ext cx="2286000" cy="292608"/>
          </a:xfrm>
          <a:prstGeom prst="rect">
            <a:avLst/>
          </a:prstGeom>
          <a:noFill/>
          <a:ln/>
        </p:spPr>
        <p:txBody>
          <a:bodyPr wrap="square" lIns="0" tIns="0" rIns="0" bIns="0" rtlCol="0" anchor="t"/>
          <a:lstStyle/>
          <a:p>
            <a:pPr indent="0" marL="0">
              <a:buNone/>
            </a:pPr>
            <a:r>
              <a:rPr lang="en-US" sz="1400" dirty="0">
                <a:solidFill>
                  <a:schemeClr val="tx2"/>
                </a:solidFill>
              </a:rPr>
              <a:t>attempts per task</a:t>
            </a:r>
            <a:endParaRPr lang="en-US" sz="1400" dirty="0"/>
          </a:p>
        </p:txBody>
      </p:sp>
      <p:sp>
        <p:nvSpPr>
          <p:cNvPr id="17" name="text-114"/>
          <p:cNvSpPr txBox="1"/>
          <p:nvPr/>
        </p:nvSpPr>
        <p:spPr>
          <a:xfrm>
            <a:off x="6565392" y="3611880"/>
            <a:ext cx="2286000" cy="54864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Shared</a:t>
            </a:r>
            <a:endParaRPr lang="en-US" sz="2800" dirty="0"/>
          </a:p>
        </p:txBody>
      </p:sp>
      <p:sp>
        <p:nvSpPr>
          <p:cNvPr id="18" name="text-115"/>
          <p:cNvSpPr txBox="1"/>
          <p:nvPr/>
        </p:nvSpPr>
        <p:spPr>
          <a:xfrm>
            <a:off x="6565392" y="4160520"/>
            <a:ext cx="2286000" cy="292608"/>
          </a:xfrm>
          <a:prstGeom prst="rect">
            <a:avLst/>
          </a:prstGeom>
          <a:noFill/>
          <a:ln/>
        </p:spPr>
        <p:txBody>
          <a:bodyPr wrap="square" lIns="0" tIns="0" rIns="0" bIns="0" rtlCol="0" anchor="t"/>
          <a:lstStyle/>
          <a:p>
            <a:pPr indent="0" marL="0">
              <a:buNone/>
            </a:pPr>
            <a:r>
              <a:rPr lang="en-US" sz="1400" dirty="0">
                <a:solidFill>
                  <a:schemeClr val="tx2"/>
                </a:solidFill>
              </a:rPr>
              <a:t>time window</a:t>
            </a:r>
            <a:endParaRPr lang="en-US" sz="1400" dirty="0"/>
          </a:p>
        </p:txBody>
      </p:sp>
      <p:sp>
        <p:nvSpPr>
          <p:cNvPr id="19" name="text-116"/>
          <p:cNvSpPr txBox="1"/>
          <p:nvPr/>
        </p:nvSpPr>
        <p:spPr>
          <a:xfrm>
            <a:off x="9034272" y="3611880"/>
            <a:ext cx="2286000" cy="54864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Shared</a:t>
            </a:r>
            <a:endParaRPr lang="en-US" sz="2800" dirty="0"/>
          </a:p>
        </p:txBody>
      </p:sp>
      <p:sp>
        <p:nvSpPr>
          <p:cNvPr id="20" name="text-117"/>
          <p:cNvSpPr txBox="1"/>
          <p:nvPr/>
        </p:nvSpPr>
        <p:spPr>
          <a:xfrm>
            <a:off x="9034272" y="4160520"/>
            <a:ext cx="2286000" cy="292608"/>
          </a:xfrm>
          <a:prstGeom prst="rect">
            <a:avLst/>
          </a:prstGeom>
          <a:noFill/>
          <a:ln/>
        </p:spPr>
        <p:txBody>
          <a:bodyPr wrap="square" lIns="0" tIns="0" rIns="0" bIns="0" rtlCol="0" anchor="t"/>
          <a:lstStyle/>
          <a:p>
            <a:pPr indent="0" marL="0">
              <a:buNone/>
            </a:pPr>
            <a:r>
              <a:rPr lang="en-US" sz="1400" dirty="0">
                <a:solidFill>
                  <a:schemeClr val="tx2"/>
                </a:solidFill>
              </a:rPr>
              <a:t>scoring sheet</a:t>
            </a:r>
            <a:endParaRPr lang="en-US" sz="1400" dirty="0"/>
          </a:p>
        </p:txBody>
      </p:sp>
      <p:sp>
        <p:nvSpPr>
          <p:cNvPr id="21" name="text-118"/>
          <p:cNvSpPr txBox="1"/>
          <p:nvPr/>
        </p:nvSpPr>
        <p:spPr>
          <a:xfrm>
            <a:off x="6565392" y="4572000"/>
            <a:ext cx="4846320" cy="292608"/>
          </a:xfrm>
          <a:prstGeom prst="rect">
            <a:avLst/>
          </a:prstGeom>
          <a:noFill/>
          <a:ln/>
        </p:spPr>
        <p:txBody>
          <a:bodyPr wrap="square" lIns="0" tIns="0" rIns="0" bIns="0" rtlCol="0" anchor="t"/>
          <a:lstStyle/>
          <a:p>
            <a:pPr indent="0" marL="0">
              <a:buNone/>
            </a:pPr>
            <a:r>
              <a:rPr lang="en-US" sz="1400" i="1" dirty="0">
                <a:solidFill>
                  <a:schemeClr val="tx1"/>
                </a:solidFill>
              </a:rPr>
              <a:t>If verified, closer to useful evaluation discipline.</a:t>
            </a:r>
            <a:endParaRPr lang="en-US" sz="1400" dirty="0"/>
          </a:p>
        </p:txBody>
      </p:sp>
      <p:sp>
        <p:nvSpPr>
          <p:cNvPr id="22" name="text-119"/>
          <p:cNvSpPr txBox="1"/>
          <p:nvPr/>
        </p:nvSpPr>
        <p:spPr>
          <a:xfrm>
            <a:off x="6565392" y="4983480"/>
            <a:ext cx="4846320" cy="548640"/>
          </a:xfrm>
          <a:prstGeom prst="rect">
            <a:avLst/>
          </a:prstGeom>
          <a:noFill/>
          <a:ln/>
        </p:spPr>
        <p:txBody>
          <a:bodyPr wrap="square" lIns="0" tIns="0" rIns="0" bIns="0" rtlCol="0" anchor="t"/>
          <a:lstStyle/>
          <a:p>
            <a:pPr indent="0" marL="0">
              <a:buNone/>
            </a:pPr>
            <a:r>
              <a:rPr lang="en-US" sz="1300" b="1" dirty="0">
                <a:solidFill>
                  <a:schemeClr val="accent6"/>
                </a:solidFill>
              </a:rPr>
              <a:t>Automatic transcript: verify against audio, video, and evaluation materials</a:t>
            </a:r>
            <a:endParaRPr lang="en-US" sz="1300" dirty="0"/>
          </a:p>
        </p:txBody>
      </p:sp>
      <p:sp>
        <p:nvSpPr>
          <p:cNvPr id="23" name="text-120"/>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NVIDIA, Robotics Office Hour, Oct. 15, 2026 (18:10–18:13); Physical AI Podcast, Sept. 26, 2026 (3:36–3:45)</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advClick="1" advTm="5535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Pilot where review stays explicit</a:t>
            </a:r>
            <a:endParaRPr lang="en-US" sz="3200" dirty="0"/>
          </a:p>
        </p:txBody>
      </p:sp>
      <p:sp>
        <p:nvSpPr>
          <p:cNvPr id="3" name="evidence-tag-121"/>
          <p:cNvSpPr txBox="1"/>
          <p:nvPr/>
        </p:nvSpPr>
        <p:spPr>
          <a:xfrm>
            <a:off x="548640" y="137160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4" name="step-122"/>
          <p:cNvSpPr/>
          <p:nvPr/>
        </p:nvSpPr>
        <p:spPr>
          <a:xfrm>
            <a:off x="548640" y="18745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123"/>
          <p:cNvSpPr txBox="1"/>
          <p:nvPr/>
        </p:nvSpPr>
        <p:spPr>
          <a:xfrm>
            <a:off x="1280160" y="1837944"/>
            <a:ext cx="6035040" cy="365760"/>
          </a:xfrm>
          <a:prstGeom prst="rect">
            <a:avLst/>
          </a:prstGeom>
          <a:noFill/>
          <a:ln/>
        </p:spPr>
        <p:txBody>
          <a:bodyPr wrap="square" lIns="0" tIns="0" rIns="0" bIns="0" rtlCol="0" anchor="t"/>
          <a:lstStyle/>
          <a:p>
            <a:pPr indent="0" marL="0">
              <a:buNone/>
            </a:pPr>
            <a:r>
              <a:rPr lang="en-US" sz="2000" b="1" dirty="0">
                <a:solidFill>
                  <a:schemeClr val="bg1"/>
                </a:solidFill>
              </a:rPr>
              <a:t>Constrain inputs</a:t>
            </a:r>
            <a:endParaRPr lang="en-US" sz="2000" dirty="0"/>
          </a:p>
        </p:txBody>
      </p:sp>
      <p:sp>
        <p:nvSpPr>
          <p:cNvPr id="6" name="text-124"/>
          <p:cNvSpPr txBox="1"/>
          <p:nvPr/>
        </p:nvSpPr>
        <p:spPr>
          <a:xfrm>
            <a:off x="1280160" y="2221992"/>
            <a:ext cx="6035040" cy="548640"/>
          </a:xfrm>
          <a:prstGeom prst="rect">
            <a:avLst/>
          </a:prstGeom>
          <a:noFill/>
          <a:ln/>
        </p:spPr>
        <p:txBody>
          <a:bodyPr wrap="square" lIns="0" tIns="0" rIns="0" bIns="0" rtlCol="0" anchor="t"/>
          <a:lstStyle/>
          <a:p>
            <a:pPr indent="0" marL="0">
              <a:buNone/>
            </a:pPr>
            <a:r>
              <a:rPr lang="en-US" sz="1400" dirty="0">
                <a:solidFill>
                  <a:schemeClr val="bg2"/>
                </a:solidFill>
              </a:rPr>
              <a:t>Pilot where inputs are constrained</a:t>
            </a:r>
            <a:endParaRPr lang="en-US" sz="1400" dirty="0"/>
          </a:p>
        </p:txBody>
      </p:sp>
      <p:sp>
        <p:nvSpPr>
          <p:cNvPr id="7" name="step-125"/>
          <p:cNvSpPr/>
          <p:nvPr/>
        </p:nvSpPr>
        <p:spPr>
          <a:xfrm>
            <a:off x="548640" y="2862072"/>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126"/>
          <p:cNvSpPr txBox="1"/>
          <p:nvPr/>
        </p:nvSpPr>
        <p:spPr>
          <a:xfrm>
            <a:off x="1280160" y="2825496"/>
            <a:ext cx="6035040" cy="365760"/>
          </a:xfrm>
          <a:prstGeom prst="rect">
            <a:avLst/>
          </a:prstGeom>
          <a:noFill/>
          <a:ln/>
        </p:spPr>
        <p:txBody>
          <a:bodyPr wrap="square" lIns="0" tIns="0" rIns="0" bIns="0" rtlCol="0" anchor="t"/>
          <a:lstStyle/>
          <a:p>
            <a:pPr indent="0" marL="0">
              <a:buNone/>
            </a:pPr>
            <a:r>
              <a:rPr lang="en-US" sz="2000" b="1" dirty="0">
                <a:solidFill>
                  <a:schemeClr val="bg1"/>
                </a:solidFill>
              </a:rPr>
              <a:t>Review CAD rules</a:t>
            </a:r>
            <a:endParaRPr lang="en-US" sz="2000" dirty="0"/>
          </a:p>
        </p:txBody>
      </p:sp>
      <p:sp>
        <p:nvSpPr>
          <p:cNvPr id="9" name="text-127"/>
          <p:cNvSpPr txBox="1"/>
          <p:nvPr/>
        </p:nvSpPr>
        <p:spPr>
          <a:xfrm>
            <a:off x="1280160" y="3209544"/>
            <a:ext cx="6035040" cy="548640"/>
          </a:xfrm>
          <a:prstGeom prst="rect">
            <a:avLst/>
          </a:prstGeom>
          <a:noFill/>
          <a:ln/>
        </p:spPr>
        <p:txBody>
          <a:bodyPr wrap="square" lIns="0" tIns="0" rIns="0" bIns="0" rtlCol="0" anchor="t"/>
          <a:lstStyle/>
          <a:p>
            <a:pPr indent="0" marL="0">
              <a:buNone/>
            </a:pPr>
            <a:r>
              <a:rPr lang="en-US" sz="1400" dirty="0">
                <a:solidFill>
                  <a:schemeClr val="bg2"/>
                </a:solidFill>
              </a:rPr>
              <a:t>Require tests tied to intended rules and reusable parameters</a:t>
            </a:r>
            <a:endParaRPr lang="en-US" sz="1400" dirty="0"/>
          </a:p>
        </p:txBody>
      </p:sp>
      <p:sp>
        <p:nvSpPr>
          <p:cNvPr id="10" name="step-128"/>
          <p:cNvSpPr/>
          <p:nvPr/>
        </p:nvSpPr>
        <p:spPr>
          <a:xfrm>
            <a:off x="548640" y="3849624"/>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129"/>
          <p:cNvSpPr txBox="1"/>
          <p:nvPr/>
        </p:nvSpPr>
        <p:spPr>
          <a:xfrm>
            <a:off x="1280160" y="3813048"/>
            <a:ext cx="6035040" cy="365760"/>
          </a:xfrm>
          <a:prstGeom prst="rect">
            <a:avLst/>
          </a:prstGeom>
          <a:noFill/>
          <a:ln/>
        </p:spPr>
        <p:txBody>
          <a:bodyPr wrap="square" lIns="0" tIns="0" rIns="0" bIns="0" rtlCol="0" anchor="t"/>
          <a:lstStyle/>
          <a:p>
            <a:pPr indent="0" marL="0">
              <a:buNone/>
            </a:pPr>
            <a:r>
              <a:rPr lang="en-US" sz="2000" b="1" dirty="0">
                <a:solidFill>
                  <a:schemeClr val="bg1"/>
                </a:solidFill>
              </a:rPr>
              <a:t>Approve simulation assumptions</a:t>
            </a:r>
            <a:endParaRPr lang="en-US" sz="2000" dirty="0"/>
          </a:p>
        </p:txBody>
      </p:sp>
      <p:sp>
        <p:nvSpPr>
          <p:cNvPr id="12" name="text-130"/>
          <p:cNvSpPr txBox="1"/>
          <p:nvPr/>
        </p:nvSpPr>
        <p:spPr>
          <a:xfrm>
            <a:off x="1280160" y="4197096"/>
            <a:ext cx="6035040" cy="548640"/>
          </a:xfrm>
          <a:prstGeom prst="rect">
            <a:avLst/>
          </a:prstGeom>
          <a:noFill/>
          <a:ln/>
        </p:spPr>
        <p:txBody>
          <a:bodyPr wrap="square" lIns="0" tIns="0" rIns="0" bIns="0" rtlCol="0" anchor="t"/>
          <a:lstStyle/>
          <a:p>
            <a:pPr indent="0" marL="0">
              <a:buNone/>
            </a:pPr>
            <a:r>
              <a:rPr lang="en-US" sz="1400" dirty="0">
                <a:solidFill>
                  <a:schemeClr val="bg2"/>
                </a:solidFill>
              </a:rPr>
              <a:t>Reviewers approve the setup before outputs become decisions</a:t>
            </a:r>
            <a:endParaRPr lang="en-US" sz="1400" dirty="0"/>
          </a:p>
        </p:txBody>
      </p:sp>
      <p:sp>
        <p:nvSpPr>
          <p:cNvPr id="13" name="step-131"/>
          <p:cNvSpPr/>
          <p:nvPr/>
        </p:nvSpPr>
        <p:spPr>
          <a:xfrm>
            <a:off x="548640" y="4837176"/>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132"/>
          <p:cNvSpPr txBox="1"/>
          <p:nvPr/>
        </p:nvSpPr>
        <p:spPr>
          <a:xfrm>
            <a:off x="1280160" y="4800600"/>
            <a:ext cx="6035040" cy="365760"/>
          </a:xfrm>
          <a:prstGeom prst="rect">
            <a:avLst/>
          </a:prstGeom>
          <a:noFill/>
          <a:ln/>
        </p:spPr>
        <p:txBody>
          <a:bodyPr wrap="square" lIns="0" tIns="0" rIns="0" bIns="0" rtlCol="0" anchor="t"/>
          <a:lstStyle/>
          <a:p>
            <a:pPr indent="0" marL="0">
              <a:buNone/>
            </a:pPr>
            <a:r>
              <a:rPr lang="en-US" sz="2000" b="1" dirty="0">
                <a:solidFill>
                  <a:schemeClr val="bg1"/>
                </a:solidFill>
              </a:rPr>
              <a:t>Demand public checks</a:t>
            </a:r>
            <a:endParaRPr lang="en-US" sz="2000" dirty="0"/>
          </a:p>
        </p:txBody>
      </p:sp>
      <p:sp>
        <p:nvSpPr>
          <p:cNvPr id="15" name="text-133"/>
          <p:cNvSpPr txBox="1"/>
          <p:nvPr/>
        </p:nvSpPr>
        <p:spPr>
          <a:xfrm>
            <a:off x="1280160" y="5184648"/>
            <a:ext cx="6035040" cy="548640"/>
          </a:xfrm>
          <a:prstGeom prst="rect">
            <a:avLst/>
          </a:prstGeom>
          <a:noFill/>
          <a:ln/>
        </p:spPr>
        <p:txBody>
          <a:bodyPr wrap="square" lIns="0" tIns="0" rIns="0" bIns="0" rtlCol="0" anchor="t"/>
          <a:lstStyle/>
          <a:p>
            <a:pPr indent="0" marL="0">
              <a:buNone/>
            </a:pPr>
            <a:r>
              <a:rPr lang="en-US" sz="1400" dirty="0">
                <a:solidFill>
                  <a:schemeClr val="bg2"/>
                </a:solidFill>
              </a:rPr>
              <a:t>Public task suites, disclosed graders, repeatable comparisons with engineer-authored setups, physical validation</a:t>
            </a:r>
            <a:endParaRPr lang="en-US" sz="1400" dirty="0"/>
          </a:p>
        </p:txBody>
      </p:sp>
      <p:sp>
        <p:nvSpPr>
          <p:cNvPr id="16" name="text-134"/>
          <p:cNvSpPr txBox="1"/>
          <p:nvPr/>
        </p:nvSpPr>
        <p:spPr>
          <a:xfrm>
            <a:off x="7818120" y="2194560"/>
            <a:ext cx="3822192" cy="2377440"/>
          </a:xfrm>
          <a:prstGeom prst="rect">
            <a:avLst/>
          </a:prstGeom>
          <a:noFill/>
          <a:ln/>
        </p:spPr>
        <p:txBody>
          <a:bodyPr wrap="square" lIns="0" tIns="0" rIns="0" bIns="0" rtlCol="0" anchor="ctr"/>
          <a:lstStyle/>
          <a:p>
            <a:pPr indent="0" marL="0">
              <a:buNone/>
            </a:pPr>
            <a:r>
              <a:rPr lang="en-US" sz="3000" i="1" dirty="0">
                <a:solidFill>
                  <a:schemeClr val="bg1"/>
                </a:solidFill>
                <a:latin typeface="Cambria" pitchFamily="34" charset="0"/>
                <a:ea typeface="Cambria" pitchFamily="34" charset="-122"/>
                <a:cs typeface="Cambria" pitchFamily="34" charset="-120"/>
              </a:rPr>
              <a:t>What was checked, by whom, and under what conditions?</a:t>
            </a:r>
            <a:endParaRPr lang="en-US" sz="3000" dirty="0"/>
          </a:p>
        </p:txBody>
      </p:sp>
      <p:sp>
        <p:nvSpPr>
          <p:cNvPr id="17" name="text-135"/>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bg2"/>
                </a:solidFill>
              </a:rPr>
              <a:t>Source: Editorial recommendation drawing on Onshape (Sept. 30), Engineering.com (Sept. 23), NVIDIA (Oct. 15) and Physical AI Podcast (Sept. 26),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transition spd="med" advClick="1" advTm="39620">
    <p:fade/>
  </p:transition>
</p:sld>
</file>

<file path=ppt/theme/theme1.xml><?xml version="1.0" encoding="utf-8"?>
<a:theme xmlns:a="http://schemas.openxmlformats.org/drawingml/2006/main" name="Engineering Evidence 01">
  <a:themeElements>
    <a:clrScheme name="Engineering Evidence 01">
      <a:dk1>
        <a:srgbClr val="12292D"/>
      </a:dk1>
      <a:lt1>
        <a:srgbClr val="FFFFFF"/>
      </a:lt1>
      <a:dk2>
        <a:srgbClr val="4A5663"/>
      </a:dk2>
      <a:lt2>
        <a:srgbClr val="EEF1F4"/>
      </a:lt2>
      <a:accent1>
        <a:srgbClr val="0E6B73"/>
      </a:accent1>
      <a:accent2>
        <a:srgbClr val="2E7D5B"/>
      </a:accent2>
      <a:accent3>
        <a:srgbClr val="8F5A00"/>
      </a:accent3>
      <a:accent4>
        <a:srgbClr val="5E4C94"/>
      </a:accent4>
      <a:accent5>
        <a:srgbClr val="B3362B"/>
      </a:accent5>
      <a:accent6>
        <a:srgbClr val="66707C"/>
      </a:accent6>
      <a:hlink>
        <a:srgbClr val="1F5A99"/>
      </a:hlink>
      <a:folHlink>
        <a:srgbClr val="5E4C94"/>
      </a:folHlink>
    </a:clrScheme>
    <a:fontScheme name="Engineering Evidence 0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Enters the CAD-to-Simulation Handoff</dc:title>
  <dc:subject>AI-ASSISTED</dc:subject>
  <dc:creator>Steph Xu</dc:creator>
  <cp:lastModifiedBy>Steph Xu</cp:lastModifiedBy>
  <cp:revision>1</cp:revision>
  <dcterms:created xsi:type="dcterms:W3CDTF">2026-10-16T21:26:44Z</dcterms:created>
  <dcterms:modified xsi:type="dcterms:W3CDTF">2026-10-16T21:26:44Z</dcterms:modified>
</cp:coreProperties>
</file>