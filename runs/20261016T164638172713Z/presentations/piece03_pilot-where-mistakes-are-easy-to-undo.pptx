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ilot Where Mistakes Are Easy to Undo" id="{1d5a0aae-1242-e0a6-f09e-16ed91944633}">
          <p14:sldIdLst>
            <p14:sldId id="256"/>
            <p14:sldId id="257"/>
            <p14:sldId id="258"/>
            <p14:sldId id="259"/>
            <p14:sldId id="260"/>
            <p14:sldId id="261"/>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Pilot AI first where mistakes are easy to undo. Onshape's thumbnail search helps people find parts they then inspect. NVIDIA's workflow prepares robot models for simulation, with checks that stay inside simulation. Autodesk plans an agent that would write inferred information into the official product record. Before that happens, require human approval and an audit trail.
———
VOICEOVER CUE: 00:00.0–00:24.1 in piece03_voiceover.m4a (AI-generated voice: Chatterbox clone of the author’s voice). Suggested script window: new opening (not in original timing table).
OPENING: Opening: executive summary. Audience: technical product managers and engineering leaders deciding where to build on frontier models for spatial, geometric, and manufacturing-design work.
SOURCES:
- Onshape, “Introducing AI Descriptive Image Search from Onshape Labs,” October 5, 2026. https://www.onshape.com/en/blog/ai-generated-thumbnail-description-search
- NVIDIA, “5 Steps to Create SimReady Assets for Robotics with Frontier AI Models,” October 8, 2026, video passages at 00:20–00:50. https://www.youtube.com/shorts/H5UaOdIZERw
- Engineering.com, “Autodesk’s AI push is actually a pull,” September 22, 2026. https://www.engineering.com/autodesks-ai-push-is-actually-a-pull/
- Physical AI Podcast, “Atlas Loses Its Pinky, Only One Humanoid in Eight Walks,” October 3, 2026, audio passage at 07:28–07:35. https://physicalaipodcast.co/episodes/009
- World Labs, “World Labs is Joining AMD,” September 28, 2026. https://www.worldlabs.ai/blog/amd-announcement
AI-ASSISTED.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should engineering leaders do with the latest AI-assisted CAD, simulation, and PLM workflows? Pilot them first where they help people find, prepare, or review artifacts. Do not give them unchecked authority over an engineering system of record. As of October 16, 2026, that is the practical sequence supported by these sources. This video uses AI-generated presentation.
———
VOICEOVER CUE: 00:24.1–00:48.4 in piece03_voiceover.m4a (AI-generated voice: Chatterbox clone of the author’s voice). Suggested script window: 00:00–00:24.
SCENE 1: Answer first
SOURCES:
- Onshape, “Introducing AI Descriptive Image Search from Onshape Labs,” October 5, 2026. https://www.onshape.com/en/blog/ai-generated-thumbnail-description-search
- NVIDIA, “5 Steps to Create SimReady Assets for Robotics with Frontier AI Models,” October 8, 2026, video passages at 00:20–00:50. https://www.youtube.com/shorts/H5UaOdIZERw
- Engineering.com, “Autodesk’s AI push is actually a pull,” September 22, 2026. https://www.engineering.com/autodesks-ai-push-is-actually-a-pull/
AI-ASSISTED.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Onshape says its AI-Generated Thumbnail Description Search is an opt-in Onshape Labs feature. It says the released feature applies to public documents only. The stated check is narrow: retrieval from model thumbnails. A user can search visible characteristics, then inspect a candidate artifact.
That check supports a discovery claim. It does not establish geometric correctness, part equivalence, manufacturability, or suitability for reuse. A retrieved bracket may look right without having the right dimensions, material, tolerances, or revision state.
———
VOICEOVER CUE: 00:48.4–01:24.4 in piece03_voiceover.m4a (AI-generated voice: Chatterbox clone of the author’s voice). Suggested script window: 00:24–00:56.
SCENE 2: Start with discovery
SOURCES:
- Onshape, “Introducing AI Descriptive Image Search from Onshape Labs,” October 5, 2026. https://www.onshape.com/en/blog/ai-generated-thumbnail-description-search
AI-ASSISTED.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NVIDIA describes a more involved boundary: preparing a robot asset for simulation. Its walkthrough says the workflow checks imported robot scale, parts, and appearance against references. It says the workflow configures joints, collision geometry, and physical properties. Then it reruns simulation-ready checks and a grasp test after fixing issues.
Those are source claims, and the final sequence is tested in Isaac Sim. The observed checks match readiness for the demonstrated simulated workflow. They do not, by themselves, show that a real robot will perform reliably in a physical environment.
———
VOICEOVER CUE: 01:24.4–02:03.1 in piece03_voiceover.m4a (AI-generated voice: Chatterbox clone of the author’s voice). Suggested script window: 00:56–01:33.
SCENE 3: Simulation preparation has stronger checks
SOURCES:
- NVIDIA, “5 Steps to Create SimReady Assets for Robotics with Frontier AI Models,” October 8, 2026, video passages at 00:20–00:50. https://www.youtube.com/shorts/H5UaOdIZERw
AI-ASSISTED.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Autodesk executive Jeff Kinder says an agentic PLM experience is expected to launch in the next couple of quarters. He says the proposed experience would draw information from Slack, Microsoft Teams, and Outlook conversations. And it could discern PLM information in those unstructured conversations and place it into the PLM system.
This is a source claim about a planned capability, not deployed behavior. The consequential check is not just whether extraction sounds plausible. It is whether extraction, attribution, revision context, approval context, and entry into PLM are correct and auditable.
———
VOICEOVER CUE: 02:03.1–02:42.0 in piece03_voiceover.m4a (AI-generated voice: Chatterbox clone of the author’s voice). Suggested script window: 01:33–02:10.
SCENE 4: PLM is the higher-stakes boundary
SOURCES:
- Engineering.com, “Autodesk’s AI push is actually a pull,” September 22, 2026. https://www.engineering.com/autodesks-ai-push-is-actually-a-pull/
AI-ASSISTED.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interpretation is to sequence adoption by reversibility and consequence. Start with discovery, where a person can inspect the result before acting. Move to simulation preparation when the team can retain the input references, asset changes, check results, and simulation conditions. Before an agent writes inferred information into PLM, require an auditable approval boundary.
This is not a claim that one system is inherently more accurate. It follows from what each workflow says it does: Onshape limits this released feature to public-document retrieval, while Autodesk describes a future workflow that would place inferred information into PLM.
———
VOICEOVER CUE: 02:42.0–03:23.3 in piece03_voiceover.m4a (AI-generated voice: Chatterbox clone of the author’s voice). Suggested script window: 02:10–02:50.
SCENE 5: The adoption rule
SOURCES:
- Onshape, “Introducing AI Descriptive Image Search from Onshape Labs,” October 5, 2026. https://www.onshape.com/en/blog/ai-generated-thumbnail-description-search
- Engineering.com, “Autodesk’s AI push is actually a pull,” September 22, 2026. https://www.engineering.com/autodesks-ai-push-is-actually-a-pull/
AI-ASSISTED.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Robotics adds a related caution. NVIDIA’s workflow includes a simulated grasp test. The Physical AI Podcast reports that most cited world-action-model results came from simulation benchmarks and that its real-robot result covered one task.
That podcast account is secondary reporting from an automatic transcript. Its figures should be checked against the audio and underlying paper before operational use. Still, my interpretation is clear: physical-task replication is a more consequential watch item than another simulation-only demonstration.
———
VOICEOVER CUE: 03:23.3–03:56.6 in piece03_voiceover.m4a (AI-generated voice: Chatterbox clone of the author’s voice). Suggested script window: 02:50–03:21.
SCENE 6: Watch physical-task evidence
SOURCES:
- NVIDIA, “5 Steps to Create SimReady Assets for Robotics with Frontier AI Models,” October 8, 2026, video passages at 00:20–00:50. https://www.youtube.com/shorts/H5UaOdIZERw
- Physical AI Podcast, “Atlas Loses Its Pinky, Only One Humanoid in Eight Walks,” October 3, 2026, audio passage at 07:28–07:35. https://physicalaipodcast.co/episodes/009
AI-ASSISTED.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a narrow retrieval pilot with human inspection. For simulation workflows, keep the references, asset changes, check results, and simulation conditions. For any proposed PLM automation, require approval before inferred content becomes a record.
Watch next for published deployment evidence, explicit review controls, and physical-task results that extend beyond simulation. World Labs says it has signed a definitive agreement to join AMD, subject to regulatory approvals and customary closing conditions. That is a corporate-development claim, not evidence of a capability outcome.
———
VOICEOVER CUE: 03:56.6–04:35.9 in piece03_voiceover.m4a (AI-generated voice: Chatterbox clone of the author’s voice). Suggested script window: 03:21–03:54.
SCENE 7: What to do next
SOURCES:
- World Labs, “World Labs is Joining AMD,” September 28, 2026. https://www.worldlabs.ai/blog/amd-announcement
- Onshape, “Introducing AI Descriptive Image Search from Onshape Labs,” October 5, 2026. https://www.onshape.com/en/blog/ai-generated-thumbnail-description-search
- NVIDIA, “5 Steps to Create SimReady Assets for Robotics with Frontier AI Models,” October 8, 2026, video passages at 00:20–00:50. https://www.youtube.com/shorts/H5UaOdIZERw
- Engineering.com, “Autodesk’s AI push is actually a pull,” September 22, 2026. https://www.engineering.com/autodesks-ai-push-is-actually-a-pull/
- Physical AI Podcast, “Atlas Loses Its Pinky, Only One Humanoid in Eight Walks,” October 3, 2026, audio passage at 07:28–07:35. https://physicalaipodcast.co/episodes/009
AI-ASSISTED.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10241280" cy="182880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548640" y="3794760"/>
            <a:ext cx="10241280" cy="548640"/>
          </a:xfrm>
          <a:prstGeom prst="rect">
            <a:avLst/>
          </a:prstGeom>
          <a:noFill/>
          <a:ln/>
        </p:spPr>
        <p:txBody>
          <a:bodyPr wrap="square" rtlCol="0"/>
          <a:lstStyle>
            <a:lvl1pPr algn="l" indent="0" marL="0">
              <a:buNone/>
              <a:defRPr lang="en-US" sz="2200" dirty="0">
                <a:solidFill>
                  <a:schemeClr val="bg2"/>
                </a:solidFill>
              </a:defRPr>
            </a:lvl1pPr>
          </a:lstStyle>
          <a:p>
            <a:pPr algn="l" indent="0" marL="0">
              <a:buNone/>
            </a:pPr>
            <a:endParaRPr lang="en-US" sz="2200" dirty="0"/>
          </a:p>
        </p:txBody>
      </p:sp>
      <p:sp>
        <p:nvSpPr>
          <p:cNvPr id="4" name="Text 0"/>
          <p:cNvSpPr/>
          <p:nvPr/>
        </p:nvSpPr>
        <p:spPr>
          <a:xfrm>
            <a:off x="548640" y="6400800"/>
            <a:ext cx="10058400" cy="274320"/>
          </a:xfrm>
          <a:prstGeom prst="rect">
            <a:avLst/>
          </a:prstGeom>
          <a:noFill/>
          <a:ln/>
        </p:spPr>
        <p:txBody>
          <a:bodyPr wrap="square" lIns="0" tIns="0" rIns="0" bIns="0" rtlCol="0" anchor="ctr"/>
          <a:lstStyle/>
          <a:p>
            <a:pPr indent="0" marL="0">
              <a:buNone/>
            </a:pPr>
            <a:r>
              <a:rPr lang="en-US" sz="1000" dirty="0">
                <a:solidFill>
                  <a:schemeClr val="bg2"/>
                </a:solidFill>
              </a:rPr>
              <a:t>AI-ASSISTED · Pilot Where Mistakes Are Easy to Undo</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CLOS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3" name="Text 0"/>
          <p:cNvSpPr/>
          <p:nvPr/>
        </p:nvSpPr>
        <p:spPr>
          <a:xfrm>
            <a:off x="548640" y="6400800"/>
            <a:ext cx="10058400" cy="274320"/>
          </a:xfrm>
          <a:prstGeom prst="rect">
            <a:avLst/>
          </a:prstGeom>
          <a:noFill/>
          <a:ln/>
        </p:spPr>
        <p:txBody>
          <a:bodyPr wrap="square" lIns="0" tIns="0" rIns="0" bIns="0" rtlCol="0" anchor="ctr"/>
          <a:lstStyle/>
          <a:p>
            <a:pPr indent="0" marL="0">
              <a:buNone/>
            </a:pPr>
            <a:r>
              <a:rPr lang="en-US" sz="1000" dirty="0">
                <a:solidFill>
                  <a:schemeClr val="bg2"/>
                </a:solidFill>
              </a:rPr>
              <a:t>AI-ASSISTED · Pilot Where Mistakes Are Easy to Undo</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772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00800"/>
            <a:ext cx="10058400" cy="274320"/>
          </a:xfrm>
          <a:prstGeom prst="rect">
            <a:avLst/>
          </a:prstGeom>
          <a:noFill/>
          <a:ln/>
        </p:spPr>
        <p:txBody>
          <a:bodyPr wrap="square" lIns="0" tIns="0" rIns="0" bIns="0" rtlCol="0" anchor="ctr"/>
          <a:lstStyle/>
          <a:p>
            <a:pPr indent="0" marL="0">
              <a:buNone/>
            </a:pPr>
            <a:r>
              <a:rPr lang="en-US" sz="1000" dirty="0">
                <a:solidFill>
                  <a:schemeClr val="tx2"/>
                </a:solidFill>
              </a:rPr>
              <a:t>AI-ASSISTED · Pilot Where Mistakes Are Easy to Undo</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4.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10241280" cy="1828800"/>
          </a:xfrm>
          <a:prstGeom prst="rect">
            <a:avLst/>
          </a:prstGeom>
          <a:noFill/>
          <a:ln/>
        </p:spPr>
        <p:txBody>
          <a:bodyPr wrap="square" lIns="0" tIns="0" rIns="0" bIns="0" rtlCol="0" anchor="b"/>
          <a:lstStyle/>
          <a:p>
            <a:pPr algn="l" indent="0" marL="0">
              <a:buNone/>
            </a:pPr>
            <a:r>
              <a:rPr lang="en-US" sz="4800" b="1" dirty="0">
                <a:solidFill>
                  <a:schemeClr val="bg1"/>
                </a:solidFill>
              </a:rPr>
              <a:t>Pilot Where Mistakes Are Easy to Undo</a:t>
            </a:r>
            <a:endParaRPr lang="en-US" sz="4800" dirty="0"/>
          </a:p>
        </p:txBody>
      </p:sp>
      <p:sp>
        <p:nvSpPr>
          <p:cNvPr id="3" name="Text 0"/>
          <p:cNvSpPr/>
          <p:nvPr>
            <p:ph idx="101" type="body" hasCustomPrompt="1"/>
          </p:nvPr>
        </p:nvSpPr>
        <p:spPr>
          <a:xfrm>
            <a:off x="548640" y="3794760"/>
            <a:ext cx="10241280" cy="548640"/>
          </a:xfrm>
          <a:prstGeom prst="rect">
            <a:avLst/>
          </a:prstGeom>
          <a:noFill/>
          <a:ln/>
        </p:spPr>
        <p:txBody>
          <a:bodyPr wrap="square" lIns="0" tIns="0" rIns="0" bIns="0" rtlCol="0" anchor="t"/>
          <a:lstStyle/>
          <a:p>
            <a:pPr algn="l" indent="0" marL="0">
              <a:buNone/>
            </a:pPr>
            <a:r>
              <a:rPr lang="en-US" sz="2200" dirty="0">
                <a:solidFill>
                  <a:schemeClr val="bg2"/>
                </a:solidFill>
              </a:rPr>
              <a:t>For technical product managers and engineering leaders</a:t>
            </a:r>
            <a:endParaRPr lang="en-US" sz="2200" dirty="0"/>
          </a:p>
        </p:txBody>
      </p:sp>
      <p:sp>
        <p:nvSpPr>
          <p:cNvPr id="4" name="text-1"/>
          <p:cNvSpPr txBox="1"/>
          <p:nvPr/>
        </p:nvSpPr>
        <p:spPr>
          <a:xfrm>
            <a:off x="548640" y="548640"/>
            <a:ext cx="11094415" cy="320040"/>
          </a:xfrm>
          <a:prstGeom prst="rect">
            <a:avLst/>
          </a:prstGeom>
          <a:noFill/>
          <a:ln/>
        </p:spPr>
        <p:txBody>
          <a:bodyPr wrap="square" lIns="0" tIns="0" rIns="0" bIns="0" rtlCol="0" anchor="t"/>
          <a:lstStyle/>
          <a:p>
            <a:pPr indent="0" marL="0">
              <a:buNone/>
            </a:pPr>
            <a:r>
              <a:rPr lang="en-US" sz="1200" b="1" spc="200" kern="0" dirty="0">
                <a:solidFill>
                  <a:schemeClr val="bg2"/>
                </a:solidFill>
              </a:rPr>
              <a:t>AGENTIC 3D  ·  OCTOBER 16, 2026  ·  AI-GENERATED NARRATION</a:t>
            </a:r>
            <a:endParaRPr lang="en-US" sz="1200" dirty="0"/>
          </a:p>
        </p:txBody>
      </p:sp>
    </p:spTree>
  </p:cSld>
  <p:clrMapOvr>
    <a:masterClrMapping/>
  </p:clrMapOvr>
  <p:transition spd="med" advClick="1" advTm="24090">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The cost of a mistake rises at each step</a:t>
            </a:r>
            <a:endParaRPr lang="en-US" sz="3200" dirty="0"/>
          </a:p>
        </p:txBody>
      </p:sp>
      <p:sp>
        <p:nvSpPr>
          <p:cNvPr id="3" name="node-2"/>
          <p:cNvSpPr/>
          <p:nvPr/>
        </p:nvSpPr>
        <p:spPr>
          <a:xfrm>
            <a:off x="822960" y="4114800"/>
            <a:ext cx="2834640" cy="868680"/>
          </a:xfrm>
          <a:prstGeom prst="roundRect">
            <a:avLst>
              <a:gd name="adj" fmla="val 8421"/>
            </a:avLst>
          </a:prstGeom>
          <a:solidFill>
            <a:schemeClr val="bg2"/>
          </a:solidFill>
          <a:ln w="12700">
            <a:solidFill>
              <a:schemeClr val="bg2"/>
            </a:solidFill>
          </a:ln>
        </p:spPr>
        <p:txBody>
          <a:bodyPr wrap="square" lIns="177800" tIns="127000" rIns="127000" bIns="127000" rtlCol="0" anchor="t"/>
          <a:lstStyle/>
          <a:p>
            <a:pPr algn="l" indent="0" marL="0">
              <a:buNone/>
            </a:pPr>
            <a:r>
              <a:rPr lang="en-US" sz="1900" b="1" dirty="0">
                <a:solidFill>
                  <a:schemeClr val="tx1"/>
                </a:solidFill>
              </a:rPr>
              <a:t>Discovery</a:t>
            </a:r>
            <a:endParaRPr lang="en-US" sz="1900" dirty="0"/>
          </a:p>
        </p:txBody>
      </p:sp>
      <p:sp>
        <p:nvSpPr>
          <p:cNvPr id="4" name="node-3"/>
          <p:cNvSpPr/>
          <p:nvPr/>
        </p:nvSpPr>
        <p:spPr>
          <a:xfrm>
            <a:off x="4206240" y="3474720"/>
            <a:ext cx="2926080" cy="1508760"/>
          </a:xfrm>
          <a:prstGeom prst="roundRect">
            <a:avLst>
              <a:gd name="adj" fmla="val 4848"/>
            </a:avLst>
          </a:prstGeom>
          <a:solidFill>
            <a:schemeClr val="bg2"/>
          </a:solidFill>
          <a:ln w="12700">
            <a:solidFill>
              <a:schemeClr val="bg2"/>
            </a:solidFill>
          </a:ln>
        </p:spPr>
        <p:txBody>
          <a:bodyPr wrap="square" lIns="177800" tIns="127000" rIns="127000" bIns="127000" rtlCol="0" anchor="t"/>
          <a:lstStyle/>
          <a:p>
            <a:pPr algn="l" indent="0" marL="0">
              <a:buNone/>
            </a:pPr>
            <a:r>
              <a:rPr lang="en-US" sz="1900" b="1" dirty="0">
                <a:solidFill>
                  <a:schemeClr val="tx1"/>
                </a:solidFill>
              </a:rPr>
              <a:t>Simulation preparation</a:t>
            </a:r>
            <a:endParaRPr lang="en-US" sz="1900" dirty="0"/>
          </a:p>
        </p:txBody>
      </p:sp>
      <p:sp>
        <p:nvSpPr>
          <p:cNvPr id="5" name="node-4"/>
          <p:cNvSpPr/>
          <p:nvPr/>
        </p:nvSpPr>
        <p:spPr>
          <a:xfrm>
            <a:off x="8412480" y="2743200"/>
            <a:ext cx="3227832" cy="2240280"/>
          </a:xfrm>
          <a:prstGeom prst="roundRect">
            <a:avLst>
              <a:gd name="adj" fmla="val 3265"/>
            </a:avLst>
          </a:prstGeom>
          <a:solidFill>
            <a:schemeClr val="tx1"/>
          </a:solidFill>
          <a:ln>
            <a:solidFill>
              <a:schemeClr val="tx1"/>
            </a:solidFill>
          </a:ln>
        </p:spPr>
        <p:txBody>
          <a:bodyPr wrap="square" lIns="177800" tIns="127000" rIns="127000" bIns="127000" rtlCol="0" anchor="t"/>
          <a:lstStyle/>
          <a:p>
            <a:pPr algn="l" indent="0" marL="0">
              <a:buNone/>
            </a:pPr>
            <a:r>
              <a:rPr lang="en-US" sz="1900" b="1" dirty="0">
                <a:solidFill>
                  <a:schemeClr val="bg1"/>
                </a:solidFill>
              </a:rPr>
              <a:t>PLM record</a:t>
            </a:r>
            <a:endParaRPr lang="en-US" sz="1900" dirty="0"/>
          </a:p>
        </p:txBody>
      </p:sp>
      <p:sp>
        <p:nvSpPr>
          <p:cNvPr id="6" name="text-5"/>
          <p:cNvSpPr txBox="1"/>
          <p:nvPr/>
        </p:nvSpPr>
        <p:spPr>
          <a:xfrm>
            <a:off x="8622792" y="3291840"/>
            <a:ext cx="2971800" cy="1097280"/>
          </a:xfrm>
          <a:prstGeom prst="rect">
            <a:avLst/>
          </a:prstGeom>
          <a:noFill/>
          <a:ln/>
        </p:spPr>
        <p:txBody>
          <a:bodyPr wrap="square" lIns="0" tIns="0" rIns="0" bIns="0" rtlCol="0" anchor="t"/>
          <a:lstStyle/>
          <a:p>
            <a:pPr indent="0" marL="0">
              <a:buNone/>
            </a:pPr>
            <a:r>
              <a:rPr lang="en-US" sz="1300" dirty="0">
                <a:solidFill>
                  <a:schemeClr val="bg2"/>
                </a:solidFill>
              </a:rPr>
              <a:t>PLM (product lifecycle management): the official record of parts, revisions, and approvals</a:t>
            </a:r>
            <a:endParaRPr lang="en-US" sz="1300" dirty="0"/>
          </a:p>
        </p:txBody>
      </p:sp>
      <p:sp>
        <p:nvSpPr>
          <p:cNvPr id="7" name="arrow-6"/>
          <p:cNvSpPr/>
          <p:nvPr/>
        </p:nvSpPr>
        <p:spPr>
          <a:xfrm>
            <a:off x="3703320" y="4526280"/>
            <a:ext cx="411480" cy="0"/>
          </a:xfrm>
          <a:prstGeom prst="line">
            <a:avLst/>
          </a:prstGeom>
          <a:noFill/>
          <a:ln w="25400">
            <a:solidFill>
              <a:schemeClr val="tx2"/>
            </a:solidFill>
            <a:prstDash val="solid"/>
            <a:tailEnd type="triangle"/>
          </a:ln>
        </p:spPr>
      </p:sp>
      <p:sp>
        <p:nvSpPr>
          <p:cNvPr id="8" name="arrow-7"/>
          <p:cNvSpPr/>
          <p:nvPr/>
        </p:nvSpPr>
        <p:spPr>
          <a:xfrm>
            <a:off x="7178040" y="4206240"/>
            <a:ext cx="320040" cy="0"/>
          </a:xfrm>
          <a:prstGeom prst="line">
            <a:avLst/>
          </a:prstGeom>
          <a:noFill/>
          <a:ln w="25400">
            <a:solidFill>
              <a:schemeClr val="tx2"/>
            </a:solidFill>
            <a:prstDash val="solid"/>
            <a:tailEnd type="triangle"/>
          </a:ln>
        </p:spPr>
      </p:sp>
      <p:sp>
        <p:nvSpPr>
          <p:cNvPr id="9" name="arrow-8"/>
          <p:cNvSpPr/>
          <p:nvPr/>
        </p:nvSpPr>
        <p:spPr>
          <a:xfrm>
            <a:off x="8001000" y="4206240"/>
            <a:ext cx="320040" cy="0"/>
          </a:xfrm>
          <a:prstGeom prst="line">
            <a:avLst/>
          </a:prstGeom>
          <a:noFill/>
          <a:ln w="25400">
            <a:solidFill>
              <a:schemeClr val="tx2"/>
            </a:solidFill>
            <a:prstDash val="solid"/>
            <a:tailEnd type="triangle"/>
          </a:ln>
        </p:spPr>
      </p:sp>
      <p:sp>
        <p:nvSpPr>
          <p:cNvPr id="10" name="approval-gate-9"/>
          <p:cNvSpPr/>
          <p:nvPr/>
        </p:nvSpPr>
        <p:spPr>
          <a:xfrm>
            <a:off x="7589520" y="2240280"/>
            <a:ext cx="365760" cy="2743200"/>
          </a:xfrm>
          <a:prstGeom prst="rect">
            <a:avLst/>
          </a:prstGeom>
          <a:solidFill>
            <a:schemeClr val="accent5"/>
          </a:solidFill>
          <a:ln w="12700">
            <a:solidFill>
              <a:schemeClr val="accent5"/>
            </a:solidFill>
            <a:prstDash val="solid"/>
          </a:ln>
        </p:spPr>
      </p:sp>
      <p:pic>
        <p:nvPicPr>
          <p:cNvPr id="11" name="icon-lock-10" descr="preencoded.png">    </p:cNvPr>
          <p:cNvPicPr>
            <a:picLocks noChangeAspect="1"/>
          </p:cNvPicPr>
          <p:nvPr/>
        </p:nvPicPr>
        <p:blipFill>
          <a:blip r:embed="rId1"/>
          <a:stretch>
            <a:fillRect/>
          </a:stretch>
        </p:blipFill>
        <p:spPr>
          <a:xfrm>
            <a:off x="7662672" y="2331720"/>
            <a:ext cx="219456" cy="219456"/>
          </a:xfrm>
          <a:prstGeom prst="rect">
            <a:avLst/>
          </a:prstGeom>
        </p:spPr>
      </p:pic>
      <p:sp>
        <p:nvSpPr>
          <p:cNvPr id="12" name="text-11"/>
          <p:cNvSpPr txBox="1"/>
          <p:nvPr/>
        </p:nvSpPr>
        <p:spPr>
          <a:xfrm>
            <a:off x="6355080" y="1856232"/>
            <a:ext cx="2834640" cy="320040"/>
          </a:xfrm>
          <a:prstGeom prst="rect">
            <a:avLst/>
          </a:prstGeom>
          <a:noFill/>
          <a:ln/>
        </p:spPr>
        <p:txBody>
          <a:bodyPr wrap="square" lIns="0" tIns="0" rIns="0" bIns="0" rtlCol="0" anchor="t"/>
          <a:lstStyle/>
          <a:p>
            <a:pPr algn="ctr" indent="0" marL="0">
              <a:buNone/>
            </a:pPr>
            <a:r>
              <a:rPr lang="en-US" sz="1300" b="1" spc="200" kern="0" dirty="0">
                <a:solidFill>
                  <a:schemeClr val="accent5"/>
                </a:solidFill>
              </a:rPr>
              <a:t>HUMAN APPROVAL</a:t>
            </a:r>
            <a:endParaRPr lang="en-US" sz="1300" dirty="0"/>
          </a:p>
        </p:txBody>
      </p:sp>
      <p:sp>
        <p:nvSpPr>
          <p:cNvPr id="13" name="text-12"/>
          <p:cNvSpPr txBox="1"/>
          <p:nvPr/>
        </p:nvSpPr>
        <p:spPr>
          <a:xfrm>
            <a:off x="548640" y="5321808"/>
            <a:ext cx="1463040" cy="310896"/>
          </a:xfrm>
          <a:prstGeom prst="rect">
            <a:avLst/>
          </a:prstGeom>
          <a:noFill/>
          <a:ln/>
        </p:spPr>
        <p:txBody>
          <a:bodyPr wrap="square" lIns="0" tIns="0" rIns="0" bIns="0" rtlCol="0" anchor="ctr"/>
          <a:lstStyle/>
          <a:p>
            <a:pPr indent="0" marL="0">
              <a:buNone/>
            </a:pPr>
            <a:r>
              <a:rPr lang="en-US" sz="1200" dirty="0">
                <a:solidFill>
                  <a:schemeClr val="tx2"/>
                </a:solidFill>
              </a:rPr>
              <a:t>Evidence labels:</a:t>
            </a:r>
            <a:endParaRPr lang="en-US" sz="1200" dirty="0"/>
          </a:p>
        </p:txBody>
      </p:sp>
      <p:sp>
        <p:nvSpPr>
          <p:cNvPr id="14" name="evidence-tag-13"/>
          <p:cNvSpPr txBox="1"/>
          <p:nvPr/>
        </p:nvSpPr>
        <p:spPr>
          <a:xfrm>
            <a:off x="1965960" y="5349240"/>
            <a:ext cx="1422806" cy="256032"/>
          </a:xfrm>
          <a:prstGeom prst="roundRect">
            <a:avLst>
              <a:gd name="adj" fmla="val 46429"/>
            </a:avLst>
          </a:prstGeom>
          <a:solidFill>
            <a:schemeClr val="accent2"/>
          </a:solidFill>
          <a:ln w="12700">
            <a:solidFill>
              <a:schemeClr val="accent2"/>
            </a:solidFill>
          </a:ln>
        </p:spPr>
        <p:txBody>
          <a:bodyPr wrap="square" lIns="0" tIns="0" rIns="0" bIns="0" rtlCol="0" anchor="ctr"/>
          <a:lstStyle/>
          <a:p>
            <a:pPr algn="ctr" indent="0" marL="0">
              <a:buNone/>
            </a:pPr>
            <a:r>
              <a:rPr lang="en-US" sz="1000" b="1" spc="100" kern="0" dirty="0">
                <a:solidFill>
                  <a:schemeClr val="bg1"/>
                </a:solidFill>
              </a:rPr>
              <a:t>REPORTED FACT</a:t>
            </a:r>
            <a:endParaRPr lang="en-US" sz="1000" dirty="0"/>
          </a:p>
        </p:txBody>
      </p:sp>
      <p:sp>
        <p:nvSpPr>
          <p:cNvPr id="15" name="evidence-tag-14"/>
          <p:cNvSpPr txBox="1"/>
          <p:nvPr/>
        </p:nvSpPr>
        <p:spPr>
          <a:xfrm>
            <a:off x="3553358" y="5349240"/>
            <a:ext cx="1338682" cy="256032"/>
          </a:xfrm>
          <a:prstGeom prst="roundRect">
            <a:avLst>
              <a:gd name="adj" fmla="val 46429"/>
            </a:avLst>
          </a:prstGeom>
          <a:solidFill>
            <a:schemeClr val="accent3"/>
          </a:solidFill>
          <a:ln w="12700">
            <a:solidFill>
              <a:schemeClr val="accent3"/>
            </a:solidFill>
          </a:ln>
        </p:spPr>
        <p:txBody>
          <a:bodyPr wrap="square" lIns="0" tIns="0" rIns="0" bIns="0" rtlCol="0" anchor="ctr"/>
          <a:lstStyle/>
          <a:p>
            <a:pPr algn="ctr" indent="0" marL="0">
              <a:buNone/>
            </a:pPr>
            <a:r>
              <a:rPr lang="en-US" sz="1000" b="1" spc="100" kern="0" dirty="0">
                <a:solidFill>
                  <a:schemeClr val="bg1"/>
                </a:solidFill>
              </a:rPr>
              <a:t>SOURCE CLAIM</a:t>
            </a:r>
            <a:endParaRPr lang="en-US" sz="1000" dirty="0"/>
          </a:p>
        </p:txBody>
      </p:sp>
      <p:sp>
        <p:nvSpPr>
          <p:cNvPr id="16" name="evidence-tag-15"/>
          <p:cNvSpPr txBox="1"/>
          <p:nvPr/>
        </p:nvSpPr>
        <p:spPr>
          <a:xfrm>
            <a:off x="5056632" y="5349240"/>
            <a:ext cx="1927555" cy="256032"/>
          </a:xfrm>
          <a:prstGeom prst="roundRect">
            <a:avLst>
              <a:gd name="adj" fmla="val 46429"/>
            </a:avLst>
          </a:prstGeom>
          <a:solidFill>
            <a:schemeClr val="accent4"/>
          </a:solidFill>
          <a:ln w="12700">
            <a:solidFill>
              <a:schemeClr val="accent4"/>
            </a:solidFill>
          </a:ln>
        </p:spPr>
        <p:txBody>
          <a:bodyPr wrap="square" lIns="0" tIns="0" rIns="0" bIns="0" rtlCol="0" anchor="ctr"/>
          <a:lstStyle/>
          <a:p>
            <a:pPr algn="ctr" indent="0" marL="0">
              <a:buNone/>
            </a:pPr>
            <a:r>
              <a:rPr lang="en-US" sz="1000" b="1" spc="100" kern="0" dirty="0">
                <a:solidFill>
                  <a:schemeClr val="bg1"/>
                </a:solidFill>
              </a:rPr>
              <a:t>EDITORIAL INFERENCE</a:t>
            </a:r>
            <a:endParaRPr lang="en-US" sz="1000" dirty="0"/>
          </a:p>
        </p:txBody>
      </p:sp>
      <p:sp>
        <p:nvSpPr>
          <p:cNvPr id="17" name="evidence-tag-16"/>
          <p:cNvSpPr txBox="1"/>
          <p:nvPr/>
        </p:nvSpPr>
        <p:spPr>
          <a:xfrm>
            <a:off x="7148779" y="5349240"/>
            <a:ext cx="2264054" cy="256032"/>
          </a:xfrm>
          <a:prstGeom prst="roundRect">
            <a:avLst>
              <a:gd name="adj" fmla="val 46429"/>
            </a:avLst>
          </a:prstGeom>
          <a:solidFill>
            <a:schemeClr val="bg1"/>
          </a:solidFill>
          <a:ln w="15875">
            <a:solidFill>
              <a:schemeClr val="accent6"/>
            </a:solidFill>
            <a:prstDash val="dash"/>
          </a:ln>
        </p:spPr>
        <p:txBody>
          <a:bodyPr wrap="square" lIns="0" tIns="0" rIns="0" bIns="0" rtlCol="0" anchor="ctr"/>
          <a:lstStyle/>
          <a:p>
            <a:pPr algn="ctr" indent="0" marL="0">
              <a:buNone/>
            </a:pPr>
            <a:r>
              <a:rPr lang="en-US" sz="1000" b="1" spc="100" kern="0" dirty="0">
                <a:solidFill>
                  <a:schemeClr val="accent6"/>
                </a:solidFill>
              </a:rPr>
              <a:t>UNVERIFIED · TRANSCRIPT</a:t>
            </a:r>
            <a:endParaRPr lang="en-US" sz="1000" dirty="0"/>
          </a:p>
        </p:txBody>
      </p:sp>
      <p:sp>
        <p:nvSpPr>
          <p:cNvPr id="18" name="evidence-tag-17"/>
          <p:cNvSpPr txBox="1"/>
          <p:nvPr/>
        </p:nvSpPr>
        <p:spPr>
          <a:xfrm>
            <a:off x="9577426" y="5349240"/>
            <a:ext cx="1591056" cy="256032"/>
          </a:xfrm>
          <a:prstGeom prst="roundRect">
            <a:avLst>
              <a:gd name="adj" fmla="val 46429"/>
            </a:avLst>
          </a:prstGeom>
          <a:solidFill>
            <a:schemeClr val="accent5"/>
          </a:solidFill>
          <a:ln w="12700">
            <a:solidFill>
              <a:schemeClr val="accent5"/>
            </a:solidFill>
          </a:ln>
        </p:spPr>
        <p:txBody>
          <a:bodyPr wrap="square" lIns="0" tIns="0" rIns="0" bIns="0" rtlCol="0" anchor="ctr"/>
          <a:lstStyle/>
          <a:p>
            <a:pPr algn="ctr" indent="0" marL="0">
              <a:buNone/>
            </a:pPr>
            <a:r>
              <a:rPr lang="en-US" sz="1000" b="1" spc="100" kern="0" dirty="0">
                <a:solidFill>
                  <a:schemeClr val="bg1"/>
                </a:solidFill>
              </a:rPr>
              <a:t>NOT ESTABLISHED</a:t>
            </a:r>
            <a:endParaRPr lang="en-US" sz="1000" dirty="0"/>
          </a:p>
        </p:txBody>
      </p:sp>
      <p:sp>
        <p:nvSpPr>
          <p:cNvPr id="19" name="text-18"/>
          <p:cNvSpPr txBox="1"/>
          <p:nvPr/>
        </p:nvSpPr>
        <p:spPr>
          <a:xfrm>
            <a:off x="548640" y="5998464"/>
            <a:ext cx="11094415" cy="310896"/>
          </a:xfrm>
          <a:prstGeom prst="rect">
            <a:avLst/>
          </a:prstGeom>
          <a:noFill/>
          <a:ln/>
        </p:spPr>
        <p:txBody>
          <a:bodyPr wrap="square" lIns="0" tIns="0" rIns="0" bIns="0" rtlCol="0" anchor="ctr"/>
          <a:lstStyle/>
          <a:p>
            <a:pPr indent="0" marL="0">
              <a:buNone/>
            </a:pPr>
            <a:r>
              <a:rPr lang="en-US" sz="1100" dirty="0">
                <a:solidFill>
                  <a:schemeClr val="tx2"/>
                </a:solidFill>
              </a:rPr>
              <a:t>Source: Editorial interpretation based on Onshape (Oct. 5), NVIDIA (Oct. 8) and Engineering.com reporting on Autodesk (Sept. 22), 2026</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transition spd="med" advClick="1" advTm="24290">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Start with discovery</a:t>
            </a:r>
            <a:endParaRPr lang="en-US" sz="3200" dirty="0"/>
          </a:p>
        </p:txBody>
      </p:sp>
      <p:sp>
        <p:nvSpPr>
          <p:cNvPr id="3" name="evidence-tag-19"/>
          <p:cNvSpPr txBox="1"/>
          <p:nvPr/>
        </p:nvSpPr>
        <p:spPr>
          <a:xfrm>
            <a:off x="548640" y="1463040"/>
            <a:ext cx="1338682" cy="256032"/>
          </a:xfrm>
          <a:prstGeom prst="roundRect">
            <a:avLst>
              <a:gd name="adj" fmla="val 46429"/>
            </a:avLst>
          </a:prstGeom>
          <a:solidFill>
            <a:schemeClr val="accent3"/>
          </a:solidFill>
          <a:ln w="12700">
            <a:solidFill>
              <a:schemeClr val="accent3"/>
            </a:solidFill>
          </a:ln>
        </p:spPr>
        <p:txBody>
          <a:bodyPr wrap="square" lIns="0" tIns="0" rIns="0" bIns="0" rtlCol="0" anchor="ctr"/>
          <a:lstStyle/>
          <a:p>
            <a:pPr algn="ctr" indent="0" marL="0">
              <a:buNone/>
            </a:pPr>
            <a:r>
              <a:rPr lang="en-US" sz="1000" b="1" spc="100" kern="0" dirty="0">
                <a:solidFill>
                  <a:schemeClr val="bg1"/>
                </a:solidFill>
              </a:rPr>
              <a:t>SOURCE CLAIM</a:t>
            </a:r>
            <a:endParaRPr lang="en-US" sz="1000" dirty="0"/>
          </a:p>
        </p:txBody>
      </p:sp>
      <p:sp>
        <p:nvSpPr>
          <p:cNvPr id="4" name="text-20"/>
          <p:cNvSpPr txBox="1"/>
          <p:nvPr/>
        </p:nvSpPr>
        <p:spPr>
          <a:xfrm>
            <a:off x="2024482" y="1435608"/>
            <a:ext cx="5199278" cy="310896"/>
          </a:xfrm>
          <a:prstGeom prst="rect">
            <a:avLst/>
          </a:prstGeom>
          <a:noFill/>
          <a:ln/>
        </p:spPr>
        <p:txBody>
          <a:bodyPr wrap="square" lIns="0" tIns="0" rIns="0" bIns="0" rtlCol="0" anchor="ctr"/>
          <a:lstStyle/>
          <a:p>
            <a:pPr indent="0" marL="0">
              <a:buNone/>
            </a:pPr>
            <a:r>
              <a:rPr lang="en-US" sz="1400" dirty="0">
                <a:solidFill>
                  <a:schemeClr val="tx2"/>
                </a:solidFill>
              </a:rPr>
              <a:t>Onshape says: an opt-in Onshape Labs feature, released for public documents only</a:t>
            </a:r>
            <a:endParaRPr lang="en-US" sz="1400" dirty="0"/>
          </a:p>
        </p:txBody>
      </p:sp>
      <p:sp>
        <p:nvSpPr>
          <p:cNvPr id="5" name="panel-21"/>
          <p:cNvSpPr/>
          <p:nvPr/>
        </p:nvSpPr>
        <p:spPr>
          <a:xfrm>
            <a:off x="548640" y="1965960"/>
            <a:ext cx="6126480" cy="3017520"/>
          </a:xfrm>
          <a:prstGeom prst="roundRect">
            <a:avLst>
              <a:gd name="adj" fmla="val 3030"/>
            </a:avLst>
          </a:prstGeom>
          <a:solidFill>
            <a:schemeClr val="bg2"/>
          </a:solidFill>
          <a:ln w="12700">
            <a:solidFill>
              <a:schemeClr val="bg2"/>
            </a:solidFill>
            <a:prstDash val="solid"/>
          </a:ln>
        </p:spPr>
      </p:sp>
      <p:sp>
        <p:nvSpPr>
          <p:cNvPr id="6" name="node-22"/>
          <p:cNvSpPr/>
          <p:nvPr/>
        </p:nvSpPr>
        <p:spPr>
          <a:xfrm>
            <a:off x="822960" y="2194560"/>
            <a:ext cx="5577840" cy="548640"/>
          </a:xfrm>
          <a:prstGeom prst="roundRect">
            <a:avLst>
              <a:gd name="adj" fmla="val 13333"/>
            </a:avLst>
          </a:prstGeom>
          <a:solidFill>
            <a:schemeClr val="bg1"/>
          </a:solidFill>
          <a:ln w="12700">
            <a:solidFill>
              <a:schemeClr val="accent6"/>
            </a:solidFill>
          </a:ln>
        </p:spPr>
        <p:txBody>
          <a:bodyPr wrap="square" lIns="635000" tIns="0" rIns="0" bIns="0" rtlCol="0" anchor="ctr"/>
          <a:lstStyle/>
          <a:p>
            <a:pPr algn="l" indent="0" marL="0">
              <a:buNone/>
            </a:pPr>
            <a:r>
              <a:rPr lang="en-US" sz="1700" dirty="0">
                <a:solidFill>
                  <a:schemeClr val="tx1"/>
                </a:solidFill>
              </a:rPr>
              <a:t>red bracket</a:t>
            </a:r>
            <a:endParaRPr lang="en-US" sz="1700" dirty="0"/>
          </a:p>
        </p:txBody>
      </p:sp>
      <p:pic>
        <p:nvPicPr>
          <p:cNvPr id="7" name="icon-search-23" descr="preencoded.png">    </p:cNvPr>
          <p:cNvPicPr>
            <a:picLocks noChangeAspect="1"/>
          </p:cNvPicPr>
          <p:nvPr/>
        </p:nvPicPr>
        <p:blipFill>
          <a:blip r:embed="rId1"/>
          <a:stretch>
            <a:fillRect/>
          </a:stretch>
        </p:blipFill>
        <p:spPr>
          <a:xfrm>
            <a:off x="960120" y="2313432"/>
            <a:ext cx="310896" cy="310896"/>
          </a:xfrm>
          <a:prstGeom prst="rect">
            <a:avLst/>
          </a:prstGeom>
        </p:spPr>
      </p:pic>
      <p:sp>
        <p:nvSpPr>
          <p:cNvPr id="8" name="panel-24"/>
          <p:cNvSpPr/>
          <p:nvPr/>
        </p:nvSpPr>
        <p:spPr>
          <a:xfrm>
            <a:off x="822960" y="2926080"/>
            <a:ext cx="1737360" cy="1371600"/>
          </a:xfrm>
          <a:prstGeom prst="roundRect">
            <a:avLst>
              <a:gd name="adj" fmla="val 6667"/>
            </a:avLst>
          </a:prstGeom>
          <a:solidFill>
            <a:schemeClr val="bg1"/>
          </a:solidFill>
          <a:ln w="12700">
            <a:solidFill>
              <a:schemeClr val="accent6"/>
            </a:solidFill>
            <a:prstDash val="solid"/>
          </a:ln>
        </p:spPr>
      </p:sp>
      <p:pic>
        <p:nvPicPr>
          <p:cNvPr id="9" name="icon-cube-25" descr="preencoded.png">    </p:cNvPr>
          <p:cNvPicPr>
            <a:picLocks noChangeAspect="1"/>
          </p:cNvPicPr>
          <p:nvPr/>
        </p:nvPicPr>
        <p:blipFill>
          <a:blip r:embed="rId2"/>
          <a:stretch>
            <a:fillRect/>
          </a:stretch>
        </p:blipFill>
        <p:spPr>
          <a:xfrm>
            <a:off x="1463040" y="3200400"/>
            <a:ext cx="457200" cy="457200"/>
          </a:xfrm>
          <a:prstGeom prst="rect">
            <a:avLst/>
          </a:prstGeom>
        </p:spPr>
      </p:pic>
      <p:sp>
        <p:nvSpPr>
          <p:cNvPr id="10" name="text-26"/>
          <p:cNvSpPr txBox="1"/>
          <p:nvPr/>
        </p:nvSpPr>
        <p:spPr>
          <a:xfrm>
            <a:off x="822960" y="3794760"/>
            <a:ext cx="1737360" cy="320040"/>
          </a:xfrm>
          <a:prstGeom prst="rect">
            <a:avLst/>
          </a:prstGeom>
          <a:noFill/>
          <a:ln/>
        </p:spPr>
        <p:txBody>
          <a:bodyPr wrap="square" lIns="0" tIns="0" rIns="0" bIns="0" rtlCol="0" anchor="t"/>
          <a:lstStyle/>
          <a:p>
            <a:pPr algn="ctr" indent="0" marL="0">
              <a:buNone/>
            </a:pPr>
            <a:r>
              <a:rPr lang="en-US" sz="1200" dirty="0">
                <a:solidFill>
                  <a:schemeClr val="tx2"/>
                </a:solidFill>
              </a:rPr>
              <a:t>candidate 1</a:t>
            </a:r>
            <a:endParaRPr lang="en-US" sz="1200" dirty="0"/>
          </a:p>
        </p:txBody>
      </p:sp>
      <p:sp>
        <p:nvSpPr>
          <p:cNvPr id="11" name="panel-27"/>
          <p:cNvSpPr/>
          <p:nvPr/>
        </p:nvSpPr>
        <p:spPr>
          <a:xfrm>
            <a:off x="2743200" y="2926080"/>
            <a:ext cx="1737360" cy="1371600"/>
          </a:xfrm>
          <a:prstGeom prst="roundRect">
            <a:avLst>
              <a:gd name="adj" fmla="val 6667"/>
            </a:avLst>
          </a:prstGeom>
          <a:solidFill>
            <a:schemeClr val="bg1"/>
          </a:solidFill>
          <a:ln w="12700">
            <a:solidFill>
              <a:schemeClr val="accent6"/>
            </a:solidFill>
            <a:prstDash val="solid"/>
          </a:ln>
        </p:spPr>
      </p:sp>
      <p:pic>
        <p:nvPicPr>
          <p:cNvPr id="12" name="icon-cube-28" descr="preencoded.png">    </p:cNvPr>
          <p:cNvPicPr>
            <a:picLocks noChangeAspect="1"/>
          </p:cNvPicPr>
          <p:nvPr/>
        </p:nvPicPr>
        <p:blipFill>
          <a:blip r:embed="rId3"/>
          <a:stretch>
            <a:fillRect/>
          </a:stretch>
        </p:blipFill>
        <p:spPr>
          <a:xfrm>
            <a:off x="3383280" y="3200400"/>
            <a:ext cx="457200" cy="457200"/>
          </a:xfrm>
          <a:prstGeom prst="rect">
            <a:avLst/>
          </a:prstGeom>
        </p:spPr>
      </p:pic>
      <p:sp>
        <p:nvSpPr>
          <p:cNvPr id="13" name="text-29"/>
          <p:cNvSpPr txBox="1"/>
          <p:nvPr/>
        </p:nvSpPr>
        <p:spPr>
          <a:xfrm>
            <a:off x="2743200" y="3794760"/>
            <a:ext cx="1737360" cy="320040"/>
          </a:xfrm>
          <a:prstGeom prst="rect">
            <a:avLst/>
          </a:prstGeom>
          <a:noFill/>
          <a:ln/>
        </p:spPr>
        <p:txBody>
          <a:bodyPr wrap="square" lIns="0" tIns="0" rIns="0" bIns="0" rtlCol="0" anchor="t"/>
          <a:lstStyle/>
          <a:p>
            <a:pPr algn="ctr" indent="0" marL="0">
              <a:buNone/>
            </a:pPr>
            <a:r>
              <a:rPr lang="en-US" sz="1200" dirty="0">
                <a:solidFill>
                  <a:schemeClr val="tx2"/>
                </a:solidFill>
              </a:rPr>
              <a:t>candidate 2</a:t>
            </a:r>
            <a:endParaRPr lang="en-US" sz="1200" dirty="0"/>
          </a:p>
        </p:txBody>
      </p:sp>
      <p:sp>
        <p:nvSpPr>
          <p:cNvPr id="14" name="panel-30"/>
          <p:cNvSpPr/>
          <p:nvPr/>
        </p:nvSpPr>
        <p:spPr>
          <a:xfrm>
            <a:off x="4663440" y="2926080"/>
            <a:ext cx="1737360" cy="1371600"/>
          </a:xfrm>
          <a:prstGeom prst="roundRect">
            <a:avLst>
              <a:gd name="adj" fmla="val 6667"/>
            </a:avLst>
          </a:prstGeom>
          <a:solidFill>
            <a:schemeClr val="bg1"/>
          </a:solidFill>
          <a:ln w="12700">
            <a:solidFill>
              <a:schemeClr val="accent6"/>
            </a:solidFill>
            <a:prstDash val="solid"/>
          </a:ln>
        </p:spPr>
      </p:sp>
      <p:pic>
        <p:nvPicPr>
          <p:cNvPr id="15" name="icon-cube-31" descr="preencoded.png">    </p:cNvPr>
          <p:cNvPicPr>
            <a:picLocks noChangeAspect="1"/>
          </p:cNvPicPr>
          <p:nvPr/>
        </p:nvPicPr>
        <p:blipFill>
          <a:blip r:embed="rId4"/>
          <a:stretch>
            <a:fillRect/>
          </a:stretch>
        </p:blipFill>
        <p:spPr>
          <a:xfrm>
            <a:off x="5303520" y="3200400"/>
            <a:ext cx="457200" cy="457200"/>
          </a:xfrm>
          <a:prstGeom prst="rect">
            <a:avLst/>
          </a:prstGeom>
        </p:spPr>
      </p:pic>
      <p:sp>
        <p:nvSpPr>
          <p:cNvPr id="16" name="text-32"/>
          <p:cNvSpPr txBox="1"/>
          <p:nvPr/>
        </p:nvSpPr>
        <p:spPr>
          <a:xfrm>
            <a:off x="4663440" y="3794760"/>
            <a:ext cx="1737360" cy="320040"/>
          </a:xfrm>
          <a:prstGeom prst="rect">
            <a:avLst/>
          </a:prstGeom>
          <a:noFill/>
          <a:ln/>
        </p:spPr>
        <p:txBody>
          <a:bodyPr wrap="square" lIns="0" tIns="0" rIns="0" bIns="0" rtlCol="0" anchor="t"/>
          <a:lstStyle/>
          <a:p>
            <a:pPr algn="ctr" indent="0" marL="0">
              <a:buNone/>
            </a:pPr>
            <a:r>
              <a:rPr lang="en-US" sz="1200" dirty="0">
                <a:solidFill>
                  <a:schemeClr val="tx2"/>
                </a:solidFill>
              </a:rPr>
              <a:t>candidate 3</a:t>
            </a:r>
            <a:endParaRPr lang="en-US" sz="1200" dirty="0"/>
          </a:p>
        </p:txBody>
      </p:sp>
      <p:sp>
        <p:nvSpPr>
          <p:cNvPr id="17" name="text-33"/>
          <p:cNvSpPr txBox="1"/>
          <p:nvPr/>
        </p:nvSpPr>
        <p:spPr>
          <a:xfrm>
            <a:off x="822960" y="4462272"/>
            <a:ext cx="5577840" cy="274320"/>
          </a:xfrm>
          <a:prstGeom prst="rect">
            <a:avLst/>
          </a:prstGeom>
          <a:noFill/>
          <a:ln/>
        </p:spPr>
        <p:txBody>
          <a:bodyPr wrap="square" lIns="0" tIns="0" rIns="0" bIns="0" rtlCol="0" anchor="t"/>
          <a:lstStyle/>
          <a:p>
            <a:pPr indent="0" marL="0">
              <a:buNone/>
            </a:pPr>
            <a:r>
              <a:rPr lang="en-US" sz="1100" i="1" dirty="0">
                <a:solidFill>
                  <a:schemeClr val="tx2"/>
                </a:solidFill>
              </a:rPr>
              <a:t>Schematic, not Onshape's interface</a:t>
            </a:r>
            <a:endParaRPr lang="en-US" sz="1100" dirty="0"/>
          </a:p>
        </p:txBody>
      </p:sp>
      <p:sp>
        <p:nvSpPr>
          <p:cNvPr id="18" name="text-34"/>
          <p:cNvSpPr txBox="1"/>
          <p:nvPr/>
        </p:nvSpPr>
        <p:spPr>
          <a:xfrm>
            <a:off x="548640" y="5120640"/>
            <a:ext cx="6126480" cy="640080"/>
          </a:xfrm>
          <a:prstGeom prst="rect">
            <a:avLst/>
          </a:prstGeom>
          <a:noFill/>
          <a:ln/>
        </p:spPr>
        <p:txBody>
          <a:bodyPr wrap="square" lIns="0" tIns="0" rIns="0" bIns="0" rtlCol="0" anchor="t"/>
          <a:lstStyle/>
          <a:p>
            <a:pPr indent="0" marL="0">
              <a:buNone/>
            </a:pPr>
            <a:r>
              <a:rPr lang="en-US" sz="1600" b="1" dirty="0">
                <a:solidFill>
                  <a:schemeClr val="tx1"/>
                </a:solidFill>
              </a:rPr>
              <a:t>Observed check: </a:t>
            </a:r>
            <a:pPr indent="0" marL="0">
              <a:buNone/>
            </a:pPr>
            <a:r>
              <a:rPr lang="en-US" sz="1600" dirty="0">
                <a:solidFill>
                  <a:schemeClr val="tx1"/>
                </a:solidFill>
              </a:rPr>
              <a:t>retrieve public-document candidates from their thumbnails</a:t>
            </a:r>
            <a:endParaRPr lang="en-US" sz="1600" dirty="0"/>
          </a:p>
        </p:txBody>
      </p:sp>
      <p:sp>
        <p:nvSpPr>
          <p:cNvPr id="19" name="panel-35"/>
          <p:cNvSpPr/>
          <p:nvPr/>
        </p:nvSpPr>
        <p:spPr>
          <a:xfrm>
            <a:off x="7086600" y="1965960"/>
            <a:ext cx="4553712" cy="3794760"/>
          </a:xfrm>
          <a:prstGeom prst="roundRect">
            <a:avLst>
              <a:gd name="adj" fmla="val 2410"/>
            </a:avLst>
          </a:prstGeom>
          <a:solidFill>
            <a:schemeClr val="bg1"/>
          </a:solidFill>
          <a:ln w="15875">
            <a:solidFill>
              <a:schemeClr val="accent5"/>
            </a:solidFill>
            <a:prstDash val="solid"/>
          </a:ln>
        </p:spPr>
      </p:sp>
      <p:sp>
        <p:nvSpPr>
          <p:cNvPr id="20" name="text-36"/>
          <p:cNvSpPr txBox="1"/>
          <p:nvPr/>
        </p:nvSpPr>
        <p:spPr>
          <a:xfrm>
            <a:off x="7360920" y="2194560"/>
            <a:ext cx="2743200"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NOT CHECKED</a:t>
            </a:r>
            <a:endParaRPr lang="en-US" sz="1200" dirty="0"/>
          </a:p>
        </p:txBody>
      </p:sp>
      <p:pic>
        <p:nvPicPr>
          <p:cNvPr id="21" name="icon-x-37" descr="preencoded.png">    </p:cNvPr>
          <p:cNvPicPr>
            <a:picLocks noChangeAspect="1"/>
          </p:cNvPicPr>
          <p:nvPr/>
        </p:nvPicPr>
        <p:blipFill>
          <a:blip r:embed="rId5"/>
          <a:stretch>
            <a:fillRect/>
          </a:stretch>
        </p:blipFill>
        <p:spPr>
          <a:xfrm>
            <a:off x="7360920" y="2651760"/>
            <a:ext cx="329184" cy="329184"/>
          </a:xfrm>
          <a:prstGeom prst="rect">
            <a:avLst/>
          </a:prstGeom>
        </p:spPr>
      </p:pic>
      <p:sp>
        <p:nvSpPr>
          <p:cNvPr id="22" name="text-38"/>
          <p:cNvSpPr txBox="1"/>
          <p:nvPr/>
        </p:nvSpPr>
        <p:spPr>
          <a:xfrm>
            <a:off x="7818120" y="2633472"/>
            <a:ext cx="3474720" cy="365760"/>
          </a:xfrm>
          <a:prstGeom prst="rect">
            <a:avLst/>
          </a:prstGeom>
          <a:noFill/>
          <a:ln/>
        </p:spPr>
        <p:txBody>
          <a:bodyPr wrap="square" lIns="0" tIns="0" rIns="0" bIns="0" rtlCol="0" anchor="ctr"/>
          <a:lstStyle/>
          <a:p>
            <a:pPr indent="0" marL="0">
              <a:buNone/>
            </a:pPr>
            <a:r>
              <a:rPr lang="en-US" sz="1800" dirty="0">
                <a:solidFill>
                  <a:schemeClr val="tx1"/>
                </a:solidFill>
              </a:rPr>
              <a:t>Dimensions</a:t>
            </a:r>
            <a:endParaRPr lang="en-US" sz="1800" dirty="0"/>
          </a:p>
        </p:txBody>
      </p:sp>
      <p:pic>
        <p:nvPicPr>
          <p:cNvPr id="23" name="icon-x-39" descr="preencoded.png">    </p:cNvPr>
          <p:cNvPicPr>
            <a:picLocks noChangeAspect="1"/>
          </p:cNvPicPr>
          <p:nvPr/>
        </p:nvPicPr>
        <p:blipFill>
          <a:blip r:embed="rId6"/>
          <a:stretch>
            <a:fillRect/>
          </a:stretch>
        </p:blipFill>
        <p:spPr>
          <a:xfrm>
            <a:off x="7360920" y="3200400"/>
            <a:ext cx="329184" cy="329184"/>
          </a:xfrm>
          <a:prstGeom prst="rect">
            <a:avLst/>
          </a:prstGeom>
        </p:spPr>
      </p:pic>
      <p:sp>
        <p:nvSpPr>
          <p:cNvPr id="24" name="text-40"/>
          <p:cNvSpPr txBox="1"/>
          <p:nvPr/>
        </p:nvSpPr>
        <p:spPr>
          <a:xfrm>
            <a:off x="7818120" y="3182112"/>
            <a:ext cx="3474720" cy="365760"/>
          </a:xfrm>
          <a:prstGeom prst="rect">
            <a:avLst/>
          </a:prstGeom>
          <a:noFill/>
          <a:ln/>
        </p:spPr>
        <p:txBody>
          <a:bodyPr wrap="square" lIns="0" tIns="0" rIns="0" bIns="0" rtlCol="0" anchor="ctr"/>
          <a:lstStyle/>
          <a:p>
            <a:pPr indent="0" marL="0">
              <a:buNone/>
            </a:pPr>
            <a:r>
              <a:rPr lang="en-US" sz="1800" dirty="0">
                <a:solidFill>
                  <a:schemeClr val="tx1"/>
                </a:solidFill>
              </a:rPr>
              <a:t>Material</a:t>
            </a:r>
            <a:endParaRPr lang="en-US" sz="1800" dirty="0"/>
          </a:p>
        </p:txBody>
      </p:sp>
      <p:pic>
        <p:nvPicPr>
          <p:cNvPr id="25" name="icon-x-41" descr="preencoded.png">    </p:cNvPr>
          <p:cNvPicPr>
            <a:picLocks noChangeAspect="1"/>
          </p:cNvPicPr>
          <p:nvPr/>
        </p:nvPicPr>
        <p:blipFill>
          <a:blip r:embed="rId7"/>
          <a:stretch>
            <a:fillRect/>
          </a:stretch>
        </p:blipFill>
        <p:spPr>
          <a:xfrm>
            <a:off x="7360920" y="3749040"/>
            <a:ext cx="329184" cy="329184"/>
          </a:xfrm>
          <a:prstGeom prst="rect">
            <a:avLst/>
          </a:prstGeom>
        </p:spPr>
      </p:pic>
      <p:sp>
        <p:nvSpPr>
          <p:cNvPr id="26" name="text-42"/>
          <p:cNvSpPr txBox="1"/>
          <p:nvPr/>
        </p:nvSpPr>
        <p:spPr>
          <a:xfrm>
            <a:off x="7818120" y="3730752"/>
            <a:ext cx="3474720" cy="365760"/>
          </a:xfrm>
          <a:prstGeom prst="rect">
            <a:avLst/>
          </a:prstGeom>
          <a:noFill/>
          <a:ln/>
        </p:spPr>
        <p:txBody>
          <a:bodyPr wrap="square" lIns="0" tIns="0" rIns="0" bIns="0" rtlCol="0" anchor="ctr"/>
          <a:lstStyle/>
          <a:p>
            <a:pPr indent="0" marL="0">
              <a:buNone/>
            </a:pPr>
            <a:r>
              <a:rPr lang="en-US" sz="1800" dirty="0">
                <a:solidFill>
                  <a:schemeClr val="tx1"/>
                </a:solidFill>
              </a:rPr>
              <a:t>Tolerances</a:t>
            </a:r>
            <a:endParaRPr lang="en-US" sz="1800" dirty="0"/>
          </a:p>
        </p:txBody>
      </p:sp>
      <p:pic>
        <p:nvPicPr>
          <p:cNvPr id="27" name="icon-x-43" descr="preencoded.png">    </p:cNvPr>
          <p:cNvPicPr>
            <a:picLocks noChangeAspect="1"/>
          </p:cNvPicPr>
          <p:nvPr/>
        </p:nvPicPr>
        <p:blipFill>
          <a:blip r:embed="rId8"/>
          <a:stretch>
            <a:fillRect/>
          </a:stretch>
        </p:blipFill>
        <p:spPr>
          <a:xfrm>
            <a:off x="7360920" y="4297680"/>
            <a:ext cx="329184" cy="329184"/>
          </a:xfrm>
          <a:prstGeom prst="rect">
            <a:avLst/>
          </a:prstGeom>
        </p:spPr>
      </p:pic>
      <p:sp>
        <p:nvSpPr>
          <p:cNvPr id="28" name="text-44"/>
          <p:cNvSpPr txBox="1"/>
          <p:nvPr/>
        </p:nvSpPr>
        <p:spPr>
          <a:xfrm>
            <a:off x="7818120" y="4279392"/>
            <a:ext cx="3474720" cy="365760"/>
          </a:xfrm>
          <a:prstGeom prst="rect">
            <a:avLst/>
          </a:prstGeom>
          <a:noFill/>
          <a:ln/>
        </p:spPr>
        <p:txBody>
          <a:bodyPr wrap="square" lIns="0" tIns="0" rIns="0" bIns="0" rtlCol="0" anchor="ctr"/>
          <a:lstStyle/>
          <a:p>
            <a:pPr indent="0" marL="0">
              <a:buNone/>
            </a:pPr>
            <a:r>
              <a:rPr lang="en-US" sz="1800" dirty="0">
                <a:solidFill>
                  <a:schemeClr val="tx1"/>
                </a:solidFill>
              </a:rPr>
              <a:t>Revision state</a:t>
            </a:r>
            <a:endParaRPr lang="en-US" sz="1800" dirty="0"/>
          </a:p>
        </p:txBody>
      </p:sp>
      <p:sp>
        <p:nvSpPr>
          <p:cNvPr id="29" name="text-45"/>
          <p:cNvSpPr txBox="1"/>
          <p:nvPr/>
        </p:nvSpPr>
        <p:spPr>
          <a:xfrm>
            <a:off x="7360920" y="4937760"/>
            <a:ext cx="4023360" cy="685800"/>
          </a:xfrm>
          <a:prstGeom prst="rect">
            <a:avLst/>
          </a:prstGeom>
          <a:noFill/>
          <a:ln/>
        </p:spPr>
        <p:txBody>
          <a:bodyPr wrap="square" lIns="0" tIns="0" rIns="0" bIns="0" rtlCol="0" anchor="t"/>
          <a:lstStyle/>
          <a:p>
            <a:pPr indent="0" marL="0">
              <a:buNone/>
            </a:pPr>
            <a:r>
              <a:rPr lang="en-US" sz="1600" i="1" dirty="0">
                <a:solidFill>
                  <a:schemeClr val="tx1"/>
                </a:solidFill>
                <a:latin typeface="Cambria" pitchFamily="34" charset="0"/>
                <a:ea typeface="Cambria" pitchFamily="34" charset="-122"/>
                <a:cs typeface="Cambria" pitchFamily="34" charset="-120"/>
              </a:rPr>
              <a:t>A retrieved bracket may look right without being right.</a:t>
            </a:r>
            <a:endParaRPr lang="en-US" sz="1600" dirty="0"/>
          </a:p>
        </p:txBody>
      </p:sp>
      <p:sp>
        <p:nvSpPr>
          <p:cNvPr id="30" name="text-46"/>
          <p:cNvSpPr txBox="1"/>
          <p:nvPr/>
        </p:nvSpPr>
        <p:spPr>
          <a:xfrm>
            <a:off x="548640" y="5998464"/>
            <a:ext cx="11094415" cy="310896"/>
          </a:xfrm>
          <a:prstGeom prst="rect">
            <a:avLst/>
          </a:prstGeom>
          <a:noFill/>
          <a:ln/>
        </p:spPr>
        <p:txBody>
          <a:bodyPr wrap="square" lIns="0" tIns="0" rIns="0" bIns="0" rtlCol="0" anchor="ctr"/>
          <a:lstStyle/>
          <a:p>
            <a:pPr indent="0" marL="0">
              <a:buNone/>
            </a:pPr>
            <a:r>
              <a:rPr lang="en-US" sz="1100" dirty="0">
                <a:solidFill>
                  <a:schemeClr val="tx2"/>
                </a:solidFill>
              </a:rPr>
              <a:t>Source: Onshape, “Introducing AI Descriptive Image Search from Onshape Labs,” Oct. 5, 2026</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transition spd="med" advClick="1" advTm="35980">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Simulation preparation: stronger checks</a:t>
            </a:r>
            <a:endParaRPr lang="en-US" sz="3200" dirty="0"/>
          </a:p>
        </p:txBody>
      </p:sp>
      <p:sp>
        <p:nvSpPr>
          <p:cNvPr id="3" name="evidence-tag-47"/>
          <p:cNvSpPr txBox="1"/>
          <p:nvPr/>
        </p:nvSpPr>
        <p:spPr>
          <a:xfrm>
            <a:off x="548640" y="1463040"/>
            <a:ext cx="1338682" cy="256032"/>
          </a:xfrm>
          <a:prstGeom prst="roundRect">
            <a:avLst>
              <a:gd name="adj" fmla="val 46429"/>
            </a:avLst>
          </a:prstGeom>
          <a:solidFill>
            <a:schemeClr val="accent3"/>
          </a:solidFill>
          <a:ln w="12700">
            <a:solidFill>
              <a:schemeClr val="accent3"/>
            </a:solidFill>
          </a:ln>
        </p:spPr>
        <p:txBody>
          <a:bodyPr wrap="square" lIns="0" tIns="0" rIns="0" bIns="0" rtlCol="0" anchor="ctr"/>
          <a:lstStyle/>
          <a:p>
            <a:pPr algn="ctr" indent="0" marL="0">
              <a:buNone/>
            </a:pPr>
            <a:r>
              <a:rPr lang="en-US" sz="1000" b="1" spc="100" kern="0" dirty="0">
                <a:solidFill>
                  <a:schemeClr val="bg1"/>
                </a:solidFill>
              </a:rPr>
              <a:t>SOURCE CLAIM</a:t>
            </a:r>
            <a:endParaRPr lang="en-US" sz="1000" dirty="0"/>
          </a:p>
        </p:txBody>
      </p:sp>
      <p:sp>
        <p:nvSpPr>
          <p:cNvPr id="4" name="text-48"/>
          <p:cNvSpPr txBox="1"/>
          <p:nvPr/>
        </p:nvSpPr>
        <p:spPr>
          <a:xfrm>
            <a:off x="2024482" y="1435608"/>
            <a:ext cx="9618574" cy="310896"/>
          </a:xfrm>
          <a:prstGeom prst="rect">
            <a:avLst/>
          </a:prstGeom>
          <a:noFill/>
          <a:ln/>
        </p:spPr>
        <p:txBody>
          <a:bodyPr wrap="square" lIns="0" tIns="0" rIns="0" bIns="0" rtlCol="0" anchor="ctr"/>
          <a:lstStyle/>
          <a:p>
            <a:pPr indent="0" marL="0">
              <a:buNone/>
            </a:pPr>
            <a:r>
              <a:rPr lang="en-US" sz="1400" dirty="0">
                <a:solidFill>
                  <a:schemeClr val="tx2"/>
                </a:solidFill>
              </a:rPr>
              <a:t>NVIDIA's walkthrough for preparing a robot asset for simulation</a:t>
            </a:r>
            <a:endParaRPr lang="en-US" sz="1400" dirty="0"/>
          </a:p>
        </p:txBody>
      </p:sp>
      <p:sp>
        <p:nvSpPr>
          <p:cNvPr id="5" name="node-49"/>
          <p:cNvSpPr/>
          <p:nvPr/>
        </p:nvSpPr>
        <p:spPr>
          <a:xfrm>
            <a:off x="548640" y="2194560"/>
            <a:ext cx="1911645" cy="1417320"/>
          </a:xfrm>
          <a:prstGeom prst="roundRect">
            <a:avLst>
              <a:gd name="adj" fmla="val 5161"/>
            </a:avLst>
          </a:prstGeom>
          <a:solidFill>
            <a:schemeClr val="bg2"/>
          </a:solidFill>
          <a:ln w="12700">
            <a:solidFill>
              <a:schemeClr val="bg2"/>
            </a:solidFill>
          </a:ln>
        </p:spPr>
        <p:txBody>
          <a:bodyPr wrap="square" lIns="76200" tIns="76200" rIns="76200" bIns="76200" rtlCol="0" anchor="ctr"/>
          <a:lstStyle/>
          <a:p>
            <a:pPr algn="ctr" indent="0" marL="0">
              <a:buNone/>
            </a:pPr>
            <a:r>
              <a:rPr lang="en-US" sz="1500" b="1" dirty="0">
                <a:solidFill>
                  <a:schemeClr val="tx1"/>
                </a:solidFill>
              </a:rPr>
              <a:t>Reference material</a:t>
            </a:r>
            <a:endParaRPr lang="en-US" sz="1500" dirty="0"/>
          </a:p>
        </p:txBody>
      </p:sp>
      <p:sp>
        <p:nvSpPr>
          <p:cNvPr id="6" name="arrow-50"/>
          <p:cNvSpPr/>
          <p:nvPr/>
        </p:nvSpPr>
        <p:spPr>
          <a:xfrm>
            <a:off x="2515149" y="2903220"/>
            <a:ext cx="274320" cy="0"/>
          </a:xfrm>
          <a:prstGeom prst="line">
            <a:avLst/>
          </a:prstGeom>
          <a:noFill/>
          <a:ln w="25400">
            <a:solidFill>
              <a:schemeClr val="tx2"/>
            </a:solidFill>
            <a:prstDash val="solid"/>
            <a:tailEnd type="triangle"/>
          </a:ln>
        </p:spPr>
      </p:sp>
      <p:sp>
        <p:nvSpPr>
          <p:cNvPr id="7" name="node-51"/>
          <p:cNvSpPr/>
          <p:nvPr/>
        </p:nvSpPr>
        <p:spPr>
          <a:xfrm>
            <a:off x="2844333" y="2194560"/>
            <a:ext cx="1911645" cy="1417320"/>
          </a:xfrm>
          <a:prstGeom prst="roundRect">
            <a:avLst>
              <a:gd name="adj" fmla="val 5161"/>
            </a:avLst>
          </a:prstGeom>
          <a:solidFill>
            <a:schemeClr val="bg2"/>
          </a:solidFill>
          <a:ln w="12700">
            <a:solidFill>
              <a:schemeClr val="bg2"/>
            </a:solidFill>
          </a:ln>
        </p:spPr>
        <p:txBody>
          <a:bodyPr wrap="square" lIns="76200" tIns="76200" rIns="76200" bIns="76200" rtlCol="0" anchor="ctr"/>
          <a:lstStyle/>
          <a:p>
            <a:pPr algn="ctr" indent="0" marL="0">
              <a:buNone/>
            </a:pPr>
            <a:r>
              <a:rPr lang="en-US" sz="1500" b="1" dirty="0">
                <a:solidFill>
                  <a:schemeClr val="tx1"/>
                </a:solidFill>
              </a:rPr>
              <a:t>Check scale, parts, appearance</a:t>
            </a:r>
            <a:endParaRPr lang="en-US" sz="1500" dirty="0"/>
          </a:p>
        </p:txBody>
      </p:sp>
      <p:sp>
        <p:nvSpPr>
          <p:cNvPr id="8" name="arrow-52"/>
          <p:cNvSpPr/>
          <p:nvPr/>
        </p:nvSpPr>
        <p:spPr>
          <a:xfrm>
            <a:off x="4810841" y="2903220"/>
            <a:ext cx="274320" cy="0"/>
          </a:xfrm>
          <a:prstGeom prst="line">
            <a:avLst/>
          </a:prstGeom>
          <a:noFill/>
          <a:ln w="25400">
            <a:solidFill>
              <a:schemeClr val="tx2"/>
            </a:solidFill>
            <a:prstDash val="solid"/>
            <a:tailEnd type="triangle"/>
          </a:ln>
        </p:spPr>
      </p:sp>
      <p:sp>
        <p:nvSpPr>
          <p:cNvPr id="9" name="node-53"/>
          <p:cNvSpPr/>
          <p:nvPr/>
        </p:nvSpPr>
        <p:spPr>
          <a:xfrm>
            <a:off x="5140025" y="2194560"/>
            <a:ext cx="1911645" cy="1417320"/>
          </a:xfrm>
          <a:prstGeom prst="roundRect">
            <a:avLst>
              <a:gd name="adj" fmla="val 5161"/>
            </a:avLst>
          </a:prstGeom>
          <a:solidFill>
            <a:schemeClr val="bg2"/>
          </a:solidFill>
          <a:ln w="12700">
            <a:solidFill>
              <a:schemeClr val="bg2"/>
            </a:solidFill>
          </a:ln>
        </p:spPr>
        <p:txBody>
          <a:bodyPr wrap="square" lIns="76200" tIns="76200" rIns="76200" bIns="76200" rtlCol="0" anchor="ctr"/>
          <a:lstStyle/>
          <a:p>
            <a:pPr algn="ctr" indent="0" marL="0">
              <a:buNone/>
            </a:pPr>
            <a:r>
              <a:rPr lang="en-US" sz="1500" b="1" dirty="0">
                <a:solidFill>
                  <a:schemeClr val="tx1"/>
                </a:solidFill>
              </a:rPr>
              <a:t>Set joints, collision shapes, physical properties</a:t>
            </a:r>
            <a:endParaRPr lang="en-US" sz="1500" dirty="0"/>
          </a:p>
        </p:txBody>
      </p:sp>
      <p:sp>
        <p:nvSpPr>
          <p:cNvPr id="10" name="arrow-54"/>
          <p:cNvSpPr/>
          <p:nvPr/>
        </p:nvSpPr>
        <p:spPr>
          <a:xfrm>
            <a:off x="7106534" y="2903220"/>
            <a:ext cx="274320" cy="0"/>
          </a:xfrm>
          <a:prstGeom prst="line">
            <a:avLst/>
          </a:prstGeom>
          <a:noFill/>
          <a:ln w="25400">
            <a:solidFill>
              <a:schemeClr val="tx2"/>
            </a:solidFill>
            <a:prstDash val="solid"/>
            <a:tailEnd type="triangle"/>
          </a:ln>
        </p:spPr>
      </p:sp>
      <p:sp>
        <p:nvSpPr>
          <p:cNvPr id="11" name="node-55"/>
          <p:cNvSpPr/>
          <p:nvPr/>
        </p:nvSpPr>
        <p:spPr>
          <a:xfrm>
            <a:off x="7435718" y="2194560"/>
            <a:ext cx="1911645" cy="1417320"/>
          </a:xfrm>
          <a:prstGeom prst="roundRect">
            <a:avLst>
              <a:gd name="adj" fmla="val 5161"/>
            </a:avLst>
          </a:prstGeom>
          <a:solidFill>
            <a:schemeClr val="bg2"/>
          </a:solidFill>
          <a:ln w="12700">
            <a:solidFill>
              <a:schemeClr val="bg2"/>
            </a:solidFill>
          </a:ln>
        </p:spPr>
        <p:txBody>
          <a:bodyPr wrap="square" lIns="76200" tIns="76200" rIns="76200" bIns="76200" rtlCol="0" anchor="ctr"/>
          <a:lstStyle/>
          <a:p>
            <a:pPr algn="ctr" indent="0" marL="0">
              <a:buNone/>
            </a:pPr>
            <a:r>
              <a:rPr lang="en-US" sz="1500" b="1" dirty="0">
                <a:solidFill>
                  <a:schemeClr val="tx1"/>
                </a:solidFill>
              </a:rPr>
              <a:t>Rerun checks + grasp test</a:t>
            </a:r>
            <a:endParaRPr lang="en-US" sz="1500" dirty="0"/>
          </a:p>
        </p:txBody>
      </p:sp>
      <p:sp>
        <p:nvSpPr>
          <p:cNvPr id="12" name="arrow-56"/>
          <p:cNvSpPr/>
          <p:nvPr/>
        </p:nvSpPr>
        <p:spPr>
          <a:xfrm>
            <a:off x="9402227" y="2903220"/>
            <a:ext cx="274320" cy="0"/>
          </a:xfrm>
          <a:prstGeom prst="line">
            <a:avLst/>
          </a:prstGeom>
          <a:noFill/>
          <a:ln w="25400">
            <a:solidFill>
              <a:schemeClr val="tx2"/>
            </a:solidFill>
            <a:prstDash val="solid"/>
            <a:tailEnd type="triangle"/>
          </a:ln>
        </p:spPr>
      </p:sp>
      <p:sp>
        <p:nvSpPr>
          <p:cNvPr id="13" name="node-57"/>
          <p:cNvSpPr/>
          <p:nvPr/>
        </p:nvSpPr>
        <p:spPr>
          <a:xfrm>
            <a:off x="9731411" y="2194560"/>
            <a:ext cx="1911645" cy="1417320"/>
          </a:xfrm>
          <a:prstGeom prst="roundRect">
            <a:avLst>
              <a:gd name="adj" fmla="val 5161"/>
            </a:avLst>
          </a:prstGeom>
          <a:solidFill>
            <a:schemeClr val="accent1"/>
          </a:solidFill>
          <a:ln>
            <a:solidFill>
              <a:schemeClr val="accent1"/>
            </a:solidFill>
          </a:ln>
        </p:spPr>
        <p:txBody>
          <a:bodyPr wrap="square" lIns="76200" tIns="76200" rIns="76200" bIns="76200" rtlCol="0" anchor="ctr"/>
          <a:lstStyle/>
          <a:p>
            <a:pPr algn="ctr" indent="0" marL="0">
              <a:buNone/>
            </a:pPr>
            <a:r>
              <a:rPr lang="en-US" sz="1500" b="1" dirty="0">
                <a:solidFill>
                  <a:schemeClr val="bg1"/>
                </a:solidFill>
              </a:rPr>
              <a:t>Isaac Sim</a:t>
            </a:r>
            <a:endParaRPr lang="en-US" sz="1500" dirty="0"/>
          </a:p>
        </p:txBody>
      </p:sp>
      <p:sp>
        <p:nvSpPr>
          <p:cNvPr id="14" name="text-58"/>
          <p:cNvSpPr txBox="1"/>
          <p:nvPr/>
        </p:nvSpPr>
        <p:spPr>
          <a:xfrm>
            <a:off x="9509760" y="3703320"/>
            <a:ext cx="2130552" cy="274320"/>
          </a:xfrm>
          <a:prstGeom prst="rect">
            <a:avLst/>
          </a:prstGeom>
          <a:noFill/>
          <a:ln/>
        </p:spPr>
        <p:txBody>
          <a:bodyPr wrap="square" lIns="0" tIns="0" rIns="0" bIns="0" rtlCol="0" anchor="t"/>
          <a:lstStyle/>
          <a:p>
            <a:pPr algn="ctr" indent="0" marL="0">
              <a:buNone/>
            </a:pPr>
            <a:r>
              <a:rPr lang="en-US" sz="1200" dirty="0">
                <a:solidFill>
                  <a:schemeClr val="tx2"/>
                </a:solidFill>
              </a:rPr>
              <a:t>NVIDIA's robot simulator</a:t>
            </a:r>
            <a:endParaRPr lang="en-US" sz="1200" dirty="0"/>
          </a:p>
        </p:txBody>
      </p:sp>
      <p:sp>
        <p:nvSpPr>
          <p:cNvPr id="15" name="boundary-59"/>
          <p:cNvSpPr/>
          <p:nvPr/>
        </p:nvSpPr>
        <p:spPr>
          <a:xfrm>
            <a:off x="548640" y="4434840"/>
            <a:ext cx="11094415" cy="0"/>
          </a:xfrm>
          <a:prstGeom prst="line">
            <a:avLst/>
          </a:prstGeom>
          <a:noFill/>
          <a:ln w="25400">
            <a:solidFill>
              <a:schemeClr val="accent5"/>
            </a:solidFill>
            <a:prstDash val="dash"/>
          </a:ln>
        </p:spPr>
      </p:sp>
      <p:pic>
        <p:nvPicPr>
          <p:cNvPr id="16" name="icon-check-60" descr="preencoded.png">    </p:cNvPr>
          <p:cNvPicPr>
            <a:picLocks noChangeAspect="1"/>
          </p:cNvPicPr>
          <p:nvPr/>
        </p:nvPicPr>
        <p:blipFill>
          <a:blip r:embed="rId1"/>
          <a:stretch>
            <a:fillRect/>
          </a:stretch>
        </p:blipFill>
        <p:spPr>
          <a:xfrm>
            <a:off x="548640" y="3931920"/>
            <a:ext cx="347472" cy="347472"/>
          </a:xfrm>
          <a:prstGeom prst="rect">
            <a:avLst/>
          </a:prstGeom>
        </p:spPr>
      </p:pic>
      <p:sp>
        <p:nvSpPr>
          <p:cNvPr id="17" name="text-61"/>
          <p:cNvSpPr txBox="1"/>
          <p:nvPr/>
        </p:nvSpPr>
        <p:spPr>
          <a:xfrm>
            <a:off x="1005840" y="3931920"/>
            <a:ext cx="8229600" cy="347472"/>
          </a:xfrm>
          <a:prstGeom prst="rect">
            <a:avLst/>
          </a:prstGeom>
          <a:noFill/>
          <a:ln/>
        </p:spPr>
        <p:txBody>
          <a:bodyPr wrap="square" lIns="0" tIns="0" rIns="0" bIns="0" rtlCol="0" anchor="ctr"/>
          <a:lstStyle/>
          <a:p>
            <a:pPr indent="0" marL="0">
              <a:buNone/>
            </a:pPr>
            <a:r>
              <a:rPr lang="en-US" sz="1600" b="1" dirty="0">
                <a:solidFill>
                  <a:schemeClr val="tx1"/>
                </a:solidFill>
              </a:rPr>
              <a:t>Checked: readiness for the demonstrated simulated workflow</a:t>
            </a:r>
            <a:endParaRPr lang="en-US" sz="1600" dirty="0"/>
          </a:p>
        </p:txBody>
      </p:sp>
      <p:pic>
        <p:nvPicPr>
          <p:cNvPr id="18" name="icon-x-62" descr="preencoded.png">    </p:cNvPr>
          <p:cNvPicPr>
            <a:picLocks noChangeAspect="1"/>
          </p:cNvPicPr>
          <p:nvPr/>
        </p:nvPicPr>
        <p:blipFill>
          <a:blip r:embed="rId2"/>
          <a:stretch>
            <a:fillRect/>
          </a:stretch>
        </p:blipFill>
        <p:spPr>
          <a:xfrm>
            <a:off x="548640" y="4617720"/>
            <a:ext cx="347472" cy="347472"/>
          </a:xfrm>
          <a:prstGeom prst="rect">
            <a:avLst/>
          </a:prstGeom>
        </p:spPr>
      </p:pic>
      <p:sp>
        <p:nvSpPr>
          <p:cNvPr id="19" name="text-63"/>
          <p:cNvSpPr txBox="1"/>
          <p:nvPr/>
        </p:nvSpPr>
        <p:spPr>
          <a:xfrm>
            <a:off x="1005840" y="4617720"/>
            <a:ext cx="10058400" cy="347472"/>
          </a:xfrm>
          <a:prstGeom prst="rect">
            <a:avLst/>
          </a:prstGeom>
          <a:noFill/>
          <a:ln/>
        </p:spPr>
        <p:txBody>
          <a:bodyPr wrap="square" lIns="0" tIns="0" rIns="0" bIns="0" rtlCol="0" anchor="ctr"/>
          <a:lstStyle/>
          <a:p>
            <a:pPr indent="0" marL="0">
              <a:buNone/>
            </a:pPr>
            <a:r>
              <a:rPr lang="en-US" sz="1600" b="1" dirty="0">
                <a:solidFill>
                  <a:schemeClr val="accent5"/>
                </a:solidFill>
              </a:rPr>
              <a:t>Not shown: that a real robot will perform reliably in a physical environment</a:t>
            </a:r>
            <a:endParaRPr lang="en-US" sz="1600" dirty="0"/>
          </a:p>
        </p:txBody>
      </p:sp>
      <p:sp>
        <p:nvSpPr>
          <p:cNvPr id="20" name="text-64"/>
          <p:cNvSpPr txBox="1"/>
          <p:nvPr/>
        </p:nvSpPr>
        <p:spPr>
          <a:xfrm>
            <a:off x="548640" y="5998464"/>
            <a:ext cx="11094415" cy="310896"/>
          </a:xfrm>
          <a:prstGeom prst="rect">
            <a:avLst/>
          </a:prstGeom>
          <a:noFill/>
          <a:ln/>
        </p:spPr>
        <p:txBody>
          <a:bodyPr wrap="square" lIns="0" tIns="0" rIns="0" bIns="0" rtlCol="0" anchor="ctr"/>
          <a:lstStyle/>
          <a:p>
            <a:pPr indent="0" marL="0">
              <a:buNone/>
            </a:pPr>
            <a:r>
              <a:rPr lang="en-US" sz="1100" dirty="0">
                <a:solidFill>
                  <a:schemeClr val="tx2"/>
                </a:solidFill>
              </a:rPr>
              <a:t>Source: NVIDIA, “5 Steps to Create SimReady Assets for Robotics with Frontier AI Models,” Oct. 8, 2026 (00:20–00:50)</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transition spd="med" advClick="1" advTm="38700">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Writing to PLM raises the stakes</a:t>
            </a:r>
            <a:endParaRPr lang="en-US" sz="3200" dirty="0"/>
          </a:p>
        </p:txBody>
      </p:sp>
      <p:sp>
        <p:nvSpPr>
          <p:cNvPr id="3" name="evidence-tag-65"/>
          <p:cNvSpPr txBox="1"/>
          <p:nvPr/>
        </p:nvSpPr>
        <p:spPr>
          <a:xfrm>
            <a:off x="548640" y="1417320"/>
            <a:ext cx="1338682" cy="256032"/>
          </a:xfrm>
          <a:prstGeom prst="roundRect">
            <a:avLst>
              <a:gd name="adj" fmla="val 46429"/>
            </a:avLst>
          </a:prstGeom>
          <a:solidFill>
            <a:schemeClr val="accent3"/>
          </a:solidFill>
          <a:ln w="12700">
            <a:solidFill>
              <a:schemeClr val="accent3"/>
            </a:solidFill>
          </a:ln>
        </p:spPr>
        <p:txBody>
          <a:bodyPr wrap="square" lIns="0" tIns="0" rIns="0" bIns="0" rtlCol="0" anchor="ctr"/>
          <a:lstStyle/>
          <a:p>
            <a:pPr algn="ctr" indent="0" marL="0">
              <a:buNone/>
            </a:pPr>
            <a:r>
              <a:rPr lang="en-US" sz="1000" b="1" spc="100" kern="0" dirty="0">
                <a:solidFill>
                  <a:schemeClr val="bg1"/>
                </a:solidFill>
              </a:rPr>
              <a:t>SOURCE CLAIM</a:t>
            </a:r>
            <a:endParaRPr lang="en-US" sz="1000" dirty="0"/>
          </a:p>
        </p:txBody>
      </p:sp>
      <p:sp>
        <p:nvSpPr>
          <p:cNvPr id="4" name="text-66"/>
          <p:cNvSpPr txBox="1"/>
          <p:nvPr/>
        </p:nvSpPr>
        <p:spPr>
          <a:xfrm>
            <a:off x="2024482" y="1389888"/>
            <a:ext cx="9618574" cy="310896"/>
          </a:xfrm>
          <a:prstGeom prst="rect">
            <a:avLst/>
          </a:prstGeom>
          <a:noFill/>
          <a:ln/>
        </p:spPr>
        <p:txBody>
          <a:bodyPr wrap="square" lIns="0" tIns="0" rIns="0" bIns="0" rtlCol="0" anchor="ctr"/>
          <a:lstStyle/>
          <a:p>
            <a:pPr indent="0" marL="0">
              <a:buNone/>
            </a:pPr>
            <a:r>
              <a:rPr lang="en-US" sz="1400" dirty="0">
                <a:solidFill>
                  <a:schemeClr val="tx2"/>
                </a:solidFill>
              </a:rPr>
              <a:t>Autodesk's Jeff Kinder: planned, expected “in the next couple of quarters.” Not deployed.</a:t>
            </a:r>
            <a:endParaRPr lang="en-US" sz="1400" dirty="0"/>
          </a:p>
        </p:txBody>
      </p:sp>
      <p:sp>
        <p:nvSpPr>
          <p:cNvPr id="5" name="node-67"/>
          <p:cNvSpPr/>
          <p:nvPr/>
        </p:nvSpPr>
        <p:spPr>
          <a:xfrm>
            <a:off x="548640" y="1965960"/>
            <a:ext cx="2377440" cy="685800"/>
          </a:xfrm>
          <a:prstGeom prst="roundRect">
            <a:avLst>
              <a:gd name="adj" fmla="val 10667"/>
            </a:avLst>
          </a:prstGeom>
          <a:solidFill>
            <a:schemeClr val="bg1"/>
          </a:solidFill>
          <a:ln w="12700">
            <a:solidFill>
              <a:schemeClr val="accent6"/>
            </a:solidFill>
          </a:ln>
        </p:spPr>
        <p:txBody>
          <a:bodyPr wrap="square" lIns="660400" tIns="0" rIns="0" bIns="0" rtlCol="0" anchor="ctr"/>
          <a:lstStyle/>
          <a:p>
            <a:pPr algn="l" indent="0" marL="0">
              <a:buNone/>
            </a:pPr>
            <a:r>
              <a:rPr lang="en-US" sz="1600" b="1" dirty="0">
                <a:solidFill>
                  <a:schemeClr val="tx1"/>
                </a:solidFill>
              </a:rPr>
              <a:t>Slack</a:t>
            </a:r>
            <a:endParaRPr lang="en-US" sz="1600" dirty="0"/>
          </a:p>
        </p:txBody>
      </p:sp>
      <p:pic>
        <p:nvPicPr>
          <p:cNvPr id="6" name="icon-chat-68" descr="preencoded.png">    </p:cNvPr>
          <p:cNvPicPr>
            <a:picLocks noChangeAspect="1"/>
          </p:cNvPicPr>
          <p:nvPr/>
        </p:nvPicPr>
        <p:blipFill>
          <a:blip r:embed="rId1"/>
          <a:stretch>
            <a:fillRect/>
          </a:stretch>
        </p:blipFill>
        <p:spPr>
          <a:xfrm>
            <a:off x="685800" y="2139696"/>
            <a:ext cx="347472" cy="347472"/>
          </a:xfrm>
          <a:prstGeom prst="rect">
            <a:avLst/>
          </a:prstGeom>
        </p:spPr>
      </p:pic>
      <p:sp>
        <p:nvSpPr>
          <p:cNvPr id="7" name="node-69"/>
          <p:cNvSpPr/>
          <p:nvPr/>
        </p:nvSpPr>
        <p:spPr>
          <a:xfrm>
            <a:off x="548640" y="2880360"/>
            <a:ext cx="2377440" cy="685800"/>
          </a:xfrm>
          <a:prstGeom prst="roundRect">
            <a:avLst>
              <a:gd name="adj" fmla="val 10667"/>
            </a:avLst>
          </a:prstGeom>
          <a:solidFill>
            <a:schemeClr val="bg1"/>
          </a:solidFill>
          <a:ln w="12700">
            <a:solidFill>
              <a:schemeClr val="accent6"/>
            </a:solidFill>
          </a:ln>
        </p:spPr>
        <p:txBody>
          <a:bodyPr wrap="square" lIns="660400" tIns="0" rIns="0" bIns="0" rtlCol="0" anchor="ctr"/>
          <a:lstStyle/>
          <a:p>
            <a:pPr algn="l" indent="0" marL="0">
              <a:buNone/>
            </a:pPr>
            <a:r>
              <a:rPr lang="en-US" sz="1600" b="1" dirty="0">
                <a:solidFill>
                  <a:schemeClr val="tx1"/>
                </a:solidFill>
              </a:rPr>
              <a:t>Microsoft Teams</a:t>
            </a:r>
            <a:endParaRPr lang="en-US" sz="1600" dirty="0"/>
          </a:p>
        </p:txBody>
      </p:sp>
      <p:pic>
        <p:nvPicPr>
          <p:cNvPr id="8" name="icon-chat-70" descr="preencoded.png">    </p:cNvPr>
          <p:cNvPicPr>
            <a:picLocks noChangeAspect="1"/>
          </p:cNvPicPr>
          <p:nvPr/>
        </p:nvPicPr>
        <p:blipFill>
          <a:blip r:embed="rId2"/>
          <a:stretch>
            <a:fillRect/>
          </a:stretch>
        </p:blipFill>
        <p:spPr>
          <a:xfrm>
            <a:off x="685800" y="3054096"/>
            <a:ext cx="347472" cy="347472"/>
          </a:xfrm>
          <a:prstGeom prst="rect">
            <a:avLst/>
          </a:prstGeom>
        </p:spPr>
      </p:pic>
      <p:sp>
        <p:nvSpPr>
          <p:cNvPr id="9" name="node-71"/>
          <p:cNvSpPr/>
          <p:nvPr/>
        </p:nvSpPr>
        <p:spPr>
          <a:xfrm>
            <a:off x="548640" y="3794760"/>
            <a:ext cx="2377440" cy="685800"/>
          </a:xfrm>
          <a:prstGeom prst="roundRect">
            <a:avLst>
              <a:gd name="adj" fmla="val 10667"/>
            </a:avLst>
          </a:prstGeom>
          <a:solidFill>
            <a:schemeClr val="bg1"/>
          </a:solidFill>
          <a:ln w="12700">
            <a:solidFill>
              <a:schemeClr val="accent6"/>
            </a:solidFill>
          </a:ln>
        </p:spPr>
        <p:txBody>
          <a:bodyPr wrap="square" lIns="660400" tIns="0" rIns="0" bIns="0" rtlCol="0" anchor="ctr"/>
          <a:lstStyle/>
          <a:p>
            <a:pPr algn="l" indent="0" marL="0">
              <a:buNone/>
            </a:pPr>
            <a:r>
              <a:rPr lang="en-US" sz="1600" b="1" dirty="0">
                <a:solidFill>
                  <a:schemeClr val="tx1"/>
                </a:solidFill>
              </a:rPr>
              <a:t>Outlook</a:t>
            </a:r>
            <a:endParaRPr lang="en-US" sz="1600" dirty="0"/>
          </a:p>
        </p:txBody>
      </p:sp>
      <p:pic>
        <p:nvPicPr>
          <p:cNvPr id="10" name="icon-chat-72" descr="preencoded.png">    </p:cNvPr>
          <p:cNvPicPr>
            <a:picLocks noChangeAspect="1"/>
          </p:cNvPicPr>
          <p:nvPr/>
        </p:nvPicPr>
        <p:blipFill>
          <a:blip r:embed="rId3"/>
          <a:stretch>
            <a:fillRect/>
          </a:stretch>
        </p:blipFill>
        <p:spPr>
          <a:xfrm>
            <a:off x="685800" y="3968496"/>
            <a:ext cx="347472" cy="347472"/>
          </a:xfrm>
          <a:prstGeom prst="rect">
            <a:avLst/>
          </a:prstGeom>
        </p:spPr>
      </p:pic>
      <p:sp>
        <p:nvSpPr>
          <p:cNvPr id="11" name="arrow-73"/>
          <p:cNvSpPr/>
          <p:nvPr/>
        </p:nvSpPr>
        <p:spPr>
          <a:xfrm>
            <a:off x="2971800" y="2304288"/>
            <a:ext cx="731520" cy="758952"/>
          </a:xfrm>
          <a:prstGeom prst="line">
            <a:avLst/>
          </a:prstGeom>
          <a:noFill/>
          <a:ln w="22225">
            <a:solidFill>
              <a:schemeClr val="tx2"/>
            </a:solidFill>
            <a:prstDash val="solid"/>
            <a:tailEnd type="triangle"/>
          </a:ln>
        </p:spPr>
      </p:sp>
      <p:sp>
        <p:nvSpPr>
          <p:cNvPr id="12" name="arrow-74"/>
          <p:cNvSpPr/>
          <p:nvPr/>
        </p:nvSpPr>
        <p:spPr>
          <a:xfrm>
            <a:off x="2971800" y="3218688"/>
            <a:ext cx="731520" cy="0"/>
          </a:xfrm>
          <a:prstGeom prst="line">
            <a:avLst/>
          </a:prstGeom>
          <a:noFill/>
          <a:ln w="25400">
            <a:solidFill>
              <a:schemeClr val="tx2"/>
            </a:solidFill>
            <a:prstDash val="solid"/>
            <a:tailEnd type="triangle"/>
          </a:ln>
        </p:spPr>
      </p:sp>
      <p:sp>
        <p:nvSpPr>
          <p:cNvPr id="13" name="arrow-75"/>
          <p:cNvSpPr/>
          <p:nvPr/>
        </p:nvSpPr>
        <p:spPr>
          <a:xfrm flipV="1">
            <a:off x="2971800" y="3383280"/>
            <a:ext cx="731520" cy="758952"/>
          </a:xfrm>
          <a:prstGeom prst="line">
            <a:avLst/>
          </a:prstGeom>
          <a:noFill/>
          <a:ln w="22225">
            <a:solidFill>
              <a:schemeClr val="tx2"/>
            </a:solidFill>
            <a:prstDash val="solid"/>
            <a:tailEnd type="triangle"/>
          </a:ln>
        </p:spPr>
      </p:sp>
      <p:sp>
        <p:nvSpPr>
          <p:cNvPr id="14" name="node-76"/>
          <p:cNvSpPr/>
          <p:nvPr/>
        </p:nvSpPr>
        <p:spPr>
          <a:xfrm>
            <a:off x="3794760" y="2697480"/>
            <a:ext cx="2103120" cy="1051560"/>
          </a:xfrm>
          <a:prstGeom prst="roundRect">
            <a:avLst>
              <a:gd name="adj" fmla="val 6957"/>
            </a:avLst>
          </a:prstGeom>
          <a:solidFill>
            <a:schemeClr val="bg2"/>
          </a:solidFill>
          <a:ln w="12700">
            <a:solidFill>
              <a:schemeClr val="bg2"/>
            </a:solidFill>
          </a:ln>
        </p:spPr>
        <p:txBody>
          <a:bodyPr wrap="square" lIns="76200" tIns="76200" rIns="76200" bIns="76200" rtlCol="0" anchor="ctr"/>
          <a:lstStyle/>
          <a:p>
            <a:pPr algn="ctr" indent="0" marL="0">
              <a:buNone/>
            </a:pPr>
            <a:r>
              <a:rPr lang="en-US" sz="1800" b="1" dirty="0">
                <a:solidFill>
                  <a:schemeClr val="tx1"/>
                </a:solidFill>
              </a:rPr>
              <a:t>AI inference</a:t>
            </a:r>
            <a:endParaRPr lang="en-US" sz="1800" dirty="0"/>
          </a:p>
        </p:txBody>
      </p:sp>
      <p:sp>
        <p:nvSpPr>
          <p:cNvPr id="15" name="arrow-77"/>
          <p:cNvSpPr/>
          <p:nvPr/>
        </p:nvSpPr>
        <p:spPr>
          <a:xfrm>
            <a:off x="5989320" y="3218688"/>
            <a:ext cx="640080" cy="0"/>
          </a:xfrm>
          <a:prstGeom prst="line">
            <a:avLst/>
          </a:prstGeom>
          <a:noFill/>
          <a:ln w="25400">
            <a:solidFill>
              <a:schemeClr val="tx2"/>
            </a:solidFill>
            <a:prstDash val="solid"/>
            <a:tailEnd type="triangle"/>
          </a:ln>
        </p:spPr>
      </p:sp>
      <p:sp>
        <p:nvSpPr>
          <p:cNvPr id="16" name="approval-gate-78"/>
          <p:cNvSpPr/>
          <p:nvPr/>
        </p:nvSpPr>
        <p:spPr>
          <a:xfrm>
            <a:off x="6720840" y="1783080"/>
            <a:ext cx="2240280" cy="2880360"/>
          </a:xfrm>
          <a:prstGeom prst="roundRect">
            <a:avLst>
              <a:gd name="adj" fmla="val 4082"/>
            </a:avLst>
          </a:prstGeom>
          <a:solidFill>
            <a:schemeClr val="accent5"/>
          </a:solidFill>
          <a:ln>
            <a:solidFill>
              <a:schemeClr val="accent5"/>
            </a:solidFill>
          </a:ln>
        </p:spPr>
        <p:txBody>
          <a:bodyPr wrap="square" lIns="101600" tIns="508000" rIns="101600" bIns="101600" rtlCol="0" anchor="ctr"/>
          <a:lstStyle/>
          <a:p>
            <a:pPr algn="ctr" indent="0" marL="0">
              <a:buNone/>
            </a:pPr>
            <a:r>
              <a:rPr lang="en-US" sz="2100" b="1" dirty="0">
                <a:solidFill>
                  <a:schemeClr val="bg1"/>
                </a:solidFill>
              </a:rPr>
              <a:t>Human approval</a:t>
            </a:r>
            <a:endParaRPr lang="en-US" sz="2100" dirty="0"/>
          </a:p>
          <a:p>
            <a:pPr algn="ctr" indent="0" marL="0">
              <a:buNone/>
            </a:pPr>
            <a:r>
              <a:rPr lang="en-US" sz="2100" b="1" dirty="0">
                <a:solidFill>
                  <a:schemeClr val="bg1"/>
                </a:solidFill>
              </a:rPr>
              <a:t>+ audit trail</a:t>
            </a:r>
            <a:endParaRPr lang="en-US" sz="2100" dirty="0"/>
          </a:p>
        </p:txBody>
      </p:sp>
      <p:pic>
        <p:nvPicPr>
          <p:cNvPr id="17" name="icon-lock-79" descr="preencoded.png">    </p:cNvPr>
          <p:cNvPicPr>
            <a:picLocks noChangeAspect="1"/>
          </p:cNvPicPr>
          <p:nvPr/>
        </p:nvPicPr>
        <p:blipFill>
          <a:blip r:embed="rId4"/>
          <a:stretch>
            <a:fillRect/>
          </a:stretch>
        </p:blipFill>
        <p:spPr>
          <a:xfrm>
            <a:off x="7589520" y="2057400"/>
            <a:ext cx="457200" cy="457200"/>
          </a:xfrm>
          <a:prstGeom prst="rect">
            <a:avLst/>
          </a:prstGeom>
        </p:spPr>
      </p:pic>
      <p:sp>
        <p:nvSpPr>
          <p:cNvPr id="18" name="arrow-80"/>
          <p:cNvSpPr/>
          <p:nvPr/>
        </p:nvSpPr>
        <p:spPr>
          <a:xfrm>
            <a:off x="9052560" y="3218688"/>
            <a:ext cx="594360" cy="0"/>
          </a:xfrm>
          <a:prstGeom prst="line">
            <a:avLst/>
          </a:prstGeom>
          <a:noFill/>
          <a:ln w="25400">
            <a:solidFill>
              <a:schemeClr val="tx2"/>
            </a:solidFill>
            <a:prstDash val="solid"/>
            <a:tailEnd type="triangle"/>
          </a:ln>
        </p:spPr>
      </p:sp>
      <p:sp>
        <p:nvSpPr>
          <p:cNvPr id="19" name="node-81"/>
          <p:cNvSpPr/>
          <p:nvPr/>
        </p:nvSpPr>
        <p:spPr>
          <a:xfrm>
            <a:off x="9738360" y="2606040"/>
            <a:ext cx="1901952" cy="1234440"/>
          </a:xfrm>
          <a:prstGeom prst="roundRect">
            <a:avLst>
              <a:gd name="adj" fmla="val 5926"/>
            </a:avLst>
          </a:prstGeom>
          <a:solidFill>
            <a:schemeClr val="tx1"/>
          </a:solidFill>
          <a:ln>
            <a:solidFill>
              <a:schemeClr val="tx1"/>
            </a:solidFill>
          </a:ln>
        </p:spPr>
        <p:txBody>
          <a:bodyPr wrap="square" lIns="76200" tIns="76200" rIns="76200" bIns="76200" rtlCol="0" anchor="ctr"/>
          <a:lstStyle/>
          <a:p>
            <a:pPr algn="ctr" indent="0" marL="0">
              <a:buNone/>
            </a:pPr>
            <a:r>
              <a:rPr lang="en-US" sz="1700" b="1" dirty="0">
                <a:solidFill>
                  <a:schemeClr val="bg1"/>
                </a:solidFill>
              </a:rPr>
              <a:t>PLM system of record</a:t>
            </a:r>
            <a:endParaRPr lang="en-US" sz="1700" dirty="0"/>
          </a:p>
        </p:txBody>
      </p:sp>
      <p:sp>
        <p:nvSpPr>
          <p:cNvPr id="20" name="text-82"/>
          <p:cNvSpPr txBox="1"/>
          <p:nvPr/>
        </p:nvSpPr>
        <p:spPr>
          <a:xfrm>
            <a:off x="548640" y="4983480"/>
            <a:ext cx="3108960" cy="365760"/>
          </a:xfrm>
          <a:prstGeom prst="rect">
            <a:avLst/>
          </a:prstGeom>
          <a:noFill/>
          <a:ln/>
        </p:spPr>
        <p:txBody>
          <a:bodyPr wrap="square" lIns="0" tIns="0" rIns="0" bIns="0" rtlCol="0" anchor="ctr"/>
          <a:lstStyle/>
          <a:p>
            <a:pPr indent="0" marL="0">
              <a:buNone/>
            </a:pPr>
            <a:r>
              <a:rPr lang="en-US" sz="1500" b="1" dirty="0">
                <a:solidFill>
                  <a:schemeClr val="tx1"/>
                </a:solidFill>
              </a:rPr>
              <a:t>Must be correct and auditable:</a:t>
            </a:r>
            <a:endParaRPr lang="en-US" sz="1500" dirty="0"/>
          </a:p>
        </p:txBody>
      </p:sp>
      <p:sp>
        <p:nvSpPr>
          <p:cNvPr id="21" name="node-83"/>
          <p:cNvSpPr/>
          <p:nvPr/>
        </p:nvSpPr>
        <p:spPr>
          <a:xfrm>
            <a:off x="3611880" y="4983480"/>
            <a:ext cx="1508760" cy="384048"/>
          </a:xfrm>
          <a:prstGeom prst="roundRect">
            <a:avLst>
              <a:gd name="adj" fmla="val 19048"/>
            </a:avLst>
          </a:prstGeom>
          <a:solidFill>
            <a:schemeClr val="bg2"/>
          </a:solidFill>
          <a:ln w="12700">
            <a:solidFill>
              <a:schemeClr val="bg2"/>
            </a:solidFill>
          </a:ln>
        </p:spPr>
        <p:txBody>
          <a:bodyPr wrap="square" lIns="76200" tIns="76200" rIns="76200" bIns="76200" rtlCol="0" anchor="ctr"/>
          <a:lstStyle/>
          <a:p>
            <a:pPr algn="ctr" indent="0" marL="0">
              <a:buNone/>
            </a:pPr>
            <a:r>
              <a:rPr lang="en-US" sz="1300" dirty="0">
                <a:solidFill>
                  <a:schemeClr val="tx1"/>
                </a:solidFill>
              </a:rPr>
              <a:t>extraction</a:t>
            </a:r>
            <a:endParaRPr lang="en-US" sz="1300" dirty="0"/>
          </a:p>
        </p:txBody>
      </p:sp>
      <p:sp>
        <p:nvSpPr>
          <p:cNvPr id="22" name="node-84"/>
          <p:cNvSpPr/>
          <p:nvPr/>
        </p:nvSpPr>
        <p:spPr>
          <a:xfrm>
            <a:off x="5230368" y="4983480"/>
            <a:ext cx="1508760" cy="384048"/>
          </a:xfrm>
          <a:prstGeom prst="roundRect">
            <a:avLst>
              <a:gd name="adj" fmla="val 19048"/>
            </a:avLst>
          </a:prstGeom>
          <a:solidFill>
            <a:schemeClr val="bg2"/>
          </a:solidFill>
          <a:ln w="12700">
            <a:solidFill>
              <a:schemeClr val="bg2"/>
            </a:solidFill>
          </a:ln>
        </p:spPr>
        <p:txBody>
          <a:bodyPr wrap="square" lIns="76200" tIns="76200" rIns="76200" bIns="76200" rtlCol="0" anchor="ctr"/>
          <a:lstStyle/>
          <a:p>
            <a:pPr algn="ctr" indent="0" marL="0">
              <a:buNone/>
            </a:pPr>
            <a:r>
              <a:rPr lang="en-US" sz="1300" dirty="0">
                <a:solidFill>
                  <a:schemeClr val="tx1"/>
                </a:solidFill>
              </a:rPr>
              <a:t>attribution</a:t>
            </a:r>
            <a:endParaRPr lang="en-US" sz="1300" dirty="0"/>
          </a:p>
        </p:txBody>
      </p:sp>
      <p:sp>
        <p:nvSpPr>
          <p:cNvPr id="23" name="node-85"/>
          <p:cNvSpPr/>
          <p:nvPr/>
        </p:nvSpPr>
        <p:spPr>
          <a:xfrm>
            <a:off x="6848856" y="4983480"/>
            <a:ext cx="1508760" cy="384048"/>
          </a:xfrm>
          <a:prstGeom prst="roundRect">
            <a:avLst>
              <a:gd name="adj" fmla="val 19048"/>
            </a:avLst>
          </a:prstGeom>
          <a:solidFill>
            <a:schemeClr val="bg2"/>
          </a:solidFill>
          <a:ln w="12700">
            <a:solidFill>
              <a:schemeClr val="bg2"/>
            </a:solidFill>
          </a:ln>
        </p:spPr>
        <p:txBody>
          <a:bodyPr wrap="square" lIns="76200" tIns="76200" rIns="76200" bIns="76200" rtlCol="0" anchor="ctr"/>
          <a:lstStyle/>
          <a:p>
            <a:pPr algn="ctr" indent="0" marL="0">
              <a:buNone/>
            </a:pPr>
            <a:r>
              <a:rPr lang="en-US" sz="1300" dirty="0">
                <a:solidFill>
                  <a:schemeClr val="tx1"/>
                </a:solidFill>
              </a:rPr>
              <a:t>revision context</a:t>
            </a:r>
            <a:endParaRPr lang="en-US" sz="1300" dirty="0"/>
          </a:p>
        </p:txBody>
      </p:sp>
      <p:sp>
        <p:nvSpPr>
          <p:cNvPr id="24" name="node-86"/>
          <p:cNvSpPr/>
          <p:nvPr/>
        </p:nvSpPr>
        <p:spPr>
          <a:xfrm>
            <a:off x="8467344" y="4983480"/>
            <a:ext cx="1508760" cy="384048"/>
          </a:xfrm>
          <a:prstGeom prst="roundRect">
            <a:avLst>
              <a:gd name="adj" fmla="val 19048"/>
            </a:avLst>
          </a:prstGeom>
          <a:solidFill>
            <a:schemeClr val="bg2"/>
          </a:solidFill>
          <a:ln w="12700">
            <a:solidFill>
              <a:schemeClr val="bg2"/>
            </a:solidFill>
          </a:ln>
        </p:spPr>
        <p:txBody>
          <a:bodyPr wrap="square" lIns="76200" tIns="76200" rIns="76200" bIns="76200" rtlCol="0" anchor="ctr"/>
          <a:lstStyle/>
          <a:p>
            <a:pPr algn="ctr" indent="0" marL="0">
              <a:buNone/>
            </a:pPr>
            <a:r>
              <a:rPr lang="en-US" sz="1300" dirty="0">
                <a:solidFill>
                  <a:schemeClr val="tx1"/>
                </a:solidFill>
              </a:rPr>
              <a:t>approval context</a:t>
            </a:r>
            <a:endParaRPr lang="en-US" sz="1300" dirty="0"/>
          </a:p>
        </p:txBody>
      </p:sp>
      <p:sp>
        <p:nvSpPr>
          <p:cNvPr id="25" name="node-87"/>
          <p:cNvSpPr/>
          <p:nvPr/>
        </p:nvSpPr>
        <p:spPr>
          <a:xfrm>
            <a:off x="10085832" y="4983480"/>
            <a:ext cx="1508760" cy="384048"/>
          </a:xfrm>
          <a:prstGeom prst="roundRect">
            <a:avLst>
              <a:gd name="adj" fmla="val 19048"/>
            </a:avLst>
          </a:prstGeom>
          <a:solidFill>
            <a:schemeClr val="bg2"/>
          </a:solidFill>
          <a:ln w="12700">
            <a:solidFill>
              <a:schemeClr val="bg2"/>
            </a:solidFill>
          </a:ln>
        </p:spPr>
        <p:txBody>
          <a:bodyPr wrap="square" lIns="76200" tIns="76200" rIns="76200" bIns="76200" rtlCol="0" anchor="ctr"/>
          <a:lstStyle/>
          <a:p>
            <a:pPr algn="ctr" indent="0" marL="0">
              <a:buNone/>
            </a:pPr>
            <a:r>
              <a:rPr lang="en-US" sz="1300" dirty="0">
                <a:solidFill>
                  <a:schemeClr val="tx1"/>
                </a:solidFill>
              </a:rPr>
              <a:t>entry into PLM</a:t>
            </a:r>
            <a:endParaRPr lang="en-US" sz="1300" dirty="0"/>
          </a:p>
        </p:txBody>
      </p:sp>
      <p:sp>
        <p:nvSpPr>
          <p:cNvPr id="26" name="text-88"/>
          <p:cNvSpPr txBox="1"/>
          <p:nvPr/>
        </p:nvSpPr>
        <p:spPr>
          <a:xfrm>
            <a:off x="548640" y="5998464"/>
            <a:ext cx="11094415" cy="310896"/>
          </a:xfrm>
          <a:prstGeom prst="rect">
            <a:avLst/>
          </a:prstGeom>
          <a:noFill/>
          <a:ln/>
        </p:spPr>
        <p:txBody>
          <a:bodyPr wrap="square" lIns="0" tIns="0" rIns="0" bIns="0" rtlCol="0" anchor="ctr"/>
          <a:lstStyle/>
          <a:p>
            <a:pPr indent="0" marL="0">
              <a:buNone/>
            </a:pPr>
            <a:r>
              <a:rPr lang="en-US" sz="1100" dirty="0">
                <a:solidFill>
                  <a:schemeClr val="tx2"/>
                </a:solidFill>
              </a:rPr>
              <a:t>Source: Engineering.com, “Autodesk's AI push is actually a pull,” Sept. 22, 2026</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transition spd="med" advClick="1" advTm="38900">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Sequence adoption by consequence</a:t>
            </a:r>
            <a:endParaRPr lang="en-US" sz="3200" dirty="0"/>
          </a:p>
        </p:txBody>
      </p:sp>
      <p:graphicFrame>
        <p:nvGraphicFramePr>
          <p:cNvPr id="7" name="adoption-table-89"/>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103120"/>
                <a:gridCol w="3291840"/>
                <a:gridCol w="2834640"/>
                <a:gridCol w="2864815"/>
              </a:tblGrid>
              <a:tr h="457200">
                <a:tc>
                  <a:txBody>
                    <a:bodyPr/>
                    <a:lstStyle/>
                    <a:p>
                      <a:pPr indent="0" marL="0">
                        <a:buNone/>
                      </a:pPr>
                      <a:r>
                        <a:rPr lang="en-US" sz="1400" b="1" dirty="0">
                          <a:solidFill>
                            <a:schemeClr val="bg1"/>
                          </a:solidFill>
                        </a:rPr>
                        <a:t>Workflow</a:t>
                      </a:r>
                      <a:endParaRPr lang="en-US" sz="1400" dirty="0"/>
                    </a:p>
                  </a:txBody>
                  <a:tcPr marL="109728" marR="109728"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Observed check (per source)</a:t>
                      </a:r>
                      <a:endParaRPr lang="en-US" sz="1400" dirty="0"/>
                    </a:p>
                  </a:txBody>
                  <a:tcPr marL="109728" marR="109728"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If it is wrong</a:t>
                      </a:r>
                      <a:endParaRPr lang="en-US" sz="1400" dirty="0"/>
                    </a:p>
                  </a:txBody>
                  <a:tcPr marL="109728" marR="109728"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Required control</a:t>
                      </a:r>
                      <a:endParaRPr lang="en-US" sz="1400" dirty="0"/>
                    </a:p>
                  </a:txBody>
                  <a:tcPr marL="109728" marR="109728"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solidFill>
                      <a:schemeClr val="tx1"/>
                    </a:solidFill>
                  </a:tcPr>
                </a:tc>
              </a:tr>
              <a:tr h="868680">
                <a:tc>
                  <a:txBody>
                    <a:bodyPr/>
                    <a:lstStyle/>
                    <a:p>
                      <a:pPr indent="0" marL="0">
                        <a:buNone/>
                      </a:pPr>
                      <a:r>
                        <a:rPr lang="en-US" sz="1600" b="1" dirty="0">
                          <a:solidFill>
                            <a:schemeClr val="tx1"/>
                          </a:solidFill>
                        </a:rPr>
                        <a:t>Discovery</a:t>
                      </a:r>
                      <a:endParaRPr lang="en-US" sz="1600" dirty="0"/>
                    </a:p>
                  </a:txBody>
                  <a:tcPr marL="109728" marR="109728"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tcPr>
                </a:tc>
                <a:tc>
                  <a:txBody>
                    <a:bodyPr/>
                    <a:lstStyle/>
                    <a:p>
                      <a:pPr indent="0" marL="0">
                        <a:buNone/>
                      </a:pPr>
                      <a:r>
                        <a:rPr lang="en-US" sz="1400" dirty="0">
                          <a:solidFill>
                            <a:schemeClr val="tx1"/>
                          </a:solidFill>
                        </a:rPr>
                        <a:t>Retrieval from thumbnails; public documents only (Onshape)</a:t>
                      </a:r>
                      <a:endParaRPr lang="en-US" sz="1400" dirty="0"/>
                    </a:p>
                  </a:txBody>
                  <a:tcPr marL="109728" marR="109728"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tcPr>
                </a:tc>
                <a:tc>
                  <a:txBody>
                    <a:bodyPr/>
                    <a:lstStyle/>
                    <a:p>
                      <a:pPr indent="0" marL="0">
                        <a:buNone/>
                      </a:pPr>
                      <a:r>
                        <a:rPr lang="en-US" sz="1400" dirty="0">
                          <a:solidFill>
                            <a:schemeClr val="tx1"/>
                          </a:solidFill>
                        </a:rPr>
                        <a:t>A person inspects the candidate before acting</a:t>
                      </a:r>
                      <a:endParaRPr lang="en-US" sz="1400" dirty="0"/>
                    </a:p>
                  </a:txBody>
                  <a:tcPr marL="109728" marR="109728"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tcPr>
                </a:tc>
                <a:tc>
                  <a:txBody>
                    <a:bodyPr/>
                    <a:lstStyle/>
                    <a:p>
                      <a:pPr indent="0" marL="0">
                        <a:buNone/>
                      </a:pPr>
                      <a:r>
                        <a:rPr lang="en-US" sz="1400" dirty="0">
                          <a:solidFill>
                            <a:schemeClr val="tx1"/>
                          </a:solidFill>
                        </a:rPr>
                        <a:t>Human inspection</a:t>
                      </a:r>
                      <a:endParaRPr lang="en-US" sz="1400" dirty="0"/>
                    </a:p>
                  </a:txBody>
                  <a:tcPr marL="109728" marR="109728"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tcPr>
                </a:tc>
              </a:tr>
              <a:tr h="960120">
                <a:tc>
                  <a:txBody>
                    <a:bodyPr/>
                    <a:lstStyle/>
                    <a:p>
                      <a:pPr indent="0" marL="0">
                        <a:buNone/>
                      </a:pPr>
                      <a:r>
                        <a:rPr lang="en-US" sz="1600" b="1" dirty="0">
                          <a:solidFill>
                            <a:schemeClr val="tx1"/>
                          </a:solidFill>
                        </a:rPr>
                        <a:t>Simulation preparation</a:t>
                      </a:r>
                      <a:endParaRPr lang="en-US" sz="1600" dirty="0"/>
                    </a:p>
                  </a:txBody>
                  <a:tcPr marL="109728" marR="109728"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tcPr>
                </a:tc>
                <a:tc>
                  <a:txBody>
                    <a:bodyPr/>
                    <a:lstStyle/>
                    <a:p>
                      <a:pPr indent="0" marL="0">
                        <a:buNone/>
                      </a:pPr>
                      <a:r>
                        <a:rPr lang="en-US" sz="1400" dirty="0">
                          <a:solidFill>
                            <a:schemeClr val="tx1"/>
                          </a:solidFill>
                        </a:rPr>
                        <a:t>Scale, parts, appearance checks; rerun checks and grasp test, in simulation (NVIDIA)</a:t>
                      </a:r>
                      <a:endParaRPr lang="en-US" sz="1400" dirty="0"/>
                    </a:p>
                  </a:txBody>
                  <a:tcPr marL="109728" marR="109728"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tcPr>
                </a:tc>
                <a:tc>
                  <a:txBody>
                    <a:bodyPr/>
                    <a:lstStyle/>
                    <a:p>
                      <a:pPr indent="0" marL="0">
                        <a:buNone/>
                      </a:pPr>
                      <a:r>
                        <a:rPr lang="en-US" sz="1400" dirty="0">
                          <a:solidFill>
                            <a:schemeClr val="tx1"/>
                          </a:solidFill>
                        </a:rPr>
                        <a:t>Traceable if the evidence is kept</a:t>
                      </a:r>
                      <a:endParaRPr lang="en-US" sz="1400" dirty="0"/>
                    </a:p>
                  </a:txBody>
                  <a:tcPr marL="109728" marR="109728"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tcPr>
                </a:tc>
                <a:tc>
                  <a:txBody>
                    <a:bodyPr/>
                    <a:lstStyle/>
                    <a:p>
                      <a:pPr indent="0" marL="0">
                        <a:buNone/>
                      </a:pPr>
                      <a:r>
                        <a:rPr lang="en-US" sz="1400" dirty="0">
                          <a:solidFill>
                            <a:schemeClr val="tx1"/>
                          </a:solidFill>
                        </a:rPr>
                        <a:t>Keep references, asset changes, check results, simulation conditions</a:t>
                      </a:r>
                      <a:endParaRPr lang="en-US" sz="1400" dirty="0"/>
                    </a:p>
                  </a:txBody>
                  <a:tcPr marL="109728" marR="109728"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tcPr>
                </a:tc>
              </a:tr>
              <a:tr h="868680">
                <a:tc>
                  <a:txBody>
                    <a:bodyPr/>
                    <a:lstStyle/>
                    <a:p>
                      <a:pPr indent="0" marL="0">
                        <a:buNone/>
                      </a:pPr>
                      <a:r>
                        <a:rPr lang="en-US" sz="1600" b="1" dirty="0">
                          <a:solidFill>
                            <a:schemeClr val="tx1"/>
                          </a:solidFill>
                        </a:rPr>
                        <a:t>Writing to PLM</a:t>
                      </a:r>
                      <a:endParaRPr lang="en-US" sz="1600" dirty="0"/>
                    </a:p>
                  </a:txBody>
                  <a:tcPr marL="109728" marR="109728"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tcPr>
                </a:tc>
                <a:tc>
                  <a:txBody>
                    <a:bodyPr/>
                    <a:lstStyle/>
                    <a:p>
                      <a:pPr indent="0" marL="0">
                        <a:buNone/>
                      </a:pPr>
                      <a:r>
                        <a:rPr lang="en-US" sz="1400" dirty="0">
                          <a:solidFill>
                            <a:schemeClr val="tx1"/>
                          </a:solidFill>
                        </a:rPr>
                        <a:t>None disclosed; capability is planned (Autodesk)</a:t>
                      </a:r>
                      <a:endParaRPr lang="en-US" sz="1400" dirty="0"/>
                    </a:p>
                  </a:txBody>
                  <a:tcPr marL="109728" marR="109728"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tcPr>
                </a:tc>
                <a:tc>
                  <a:txBody>
                    <a:bodyPr/>
                    <a:lstStyle/>
                    <a:p>
                      <a:pPr indent="0" marL="0">
                        <a:buNone/>
                      </a:pPr>
                      <a:r>
                        <a:rPr lang="en-US" sz="1400" dirty="0">
                          <a:solidFill>
                            <a:schemeClr val="tx1"/>
                          </a:solidFill>
                        </a:rPr>
                        <a:t>Inferred information becomes part of the official record</a:t>
                      </a:r>
                      <a:endParaRPr lang="en-US" sz="1400" dirty="0"/>
                    </a:p>
                  </a:txBody>
                  <a:tcPr marL="109728" marR="109728"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tcPr>
                </a:tc>
                <a:tc>
                  <a:txBody>
                    <a:bodyPr/>
                    <a:lstStyle/>
                    <a:p>
                      <a:pPr indent="0" marL="0">
                        <a:buNone/>
                      </a:pPr>
                      <a:r>
                        <a:rPr lang="en-US" sz="1600" b="1" dirty="0">
                          <a:solidFill>
                            <a:schemeClr val="bg1"/>
                          </a:solidFill>
                        </a:rPr>
                        <a:t>Auditable approval required</a:t>
                      </a:r>
                      <a:endParaRPr lang="en-US" sz="1600" dirty="0"/>
                    </a:p>
                  </a:txBody>
                  <a:tcPr marL="109728" marR="109728"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solidFill>
                      <a:schemeClr val="accent5"/>
                    </a:solidFill>
                  </a:tcPr>
                </a:tc>
              </a:tr>
            </a:tbl>
          </a:graphicData>
        </a:graphic>
      </p:graphicFrame>
      <p:sp>
        <p:nvSpPr>
          <p:cNvPr id="4" name="evidence-tag-90"/>
          <p:cNvSpPr txBox="1"/>
          <p:nvPr/>
        </p:nvSpPr>
        <p:spPr>
          <a:xfrm>
            <a:off x="548640" y="4983480"/>
            <a:ext cx="1927555" cy="256032"/>
          </a:xfrm>
          <a:prstGeom prst="roundRect">
            <a:avLst>
              <a:gd name="adj" fmla="val 46429"/>
            </a:avLst>
          </a:prstGeom>
          <a:solidFill>
            <a:schemeClr val="accent4"/>
          </a:solidFill>
          <a:ln w="12700">
            <a:solidFill>
              <a:schemeClr val="accent4"/>
            </a:solidFill>
          </a:ln>
        </p:spPr>
        <p:txBody>
          <a:bodyPr wrap="square" lIns="0" tIns="0" rIns="0" bIns="0" rtlCol="0" anchor="ctr"/>
          <a:lstStyle/>
          <a:p>
            <a:pPr algn="ctr" indent="0" marL="0">
              <a:buNone/>
            </a:pPr>
            <a:r>
              <a:rPr lang="en-US" sz="1000" b="1" spc="100" kern="0" dirty="0">
                <a:solidFill>
                  <a:schemeClr val="bg1"/>
                </a:solidFill>
              </a:rPr>
              <a:t>EDITORIAL INFERENCE</a:t>
            </a:r>
            <a:endParaRPr lang="en-US" sz="1000" dirty="0"/>
          </a:p>
        </p:txBody>
      </p:sp>
      <p:sp>
        <p:nvSpPr>
          <p:cNvPr id="5" name="text-91"/>
          <p:cNvSpPr txBox="1"/>
          <p:nvPr/>
        </p:nvSpPr>
        <p:spPr>
          <a:xfrm>
            <a:off x="2613355" y="4956048"/>
            <a:ext cx="9029700" cy="310896"/>
          </a:xfrm>
          <a:prstGeom prst="rect">
            <a:avLst/>
          </a:prstGeom>
          <a:noFill/>
          <a:ln/>
        </p:spPr>
        <p:txBody>
          <a:bodyPr wrap="square" lIns="0" tIns="0" rIns="0" bIns="0" rtlCol="0" anchor="ctr"/>
          <a:lstStyle/>
          <a:p>
            <a:pPr indent="0" marL="0">
              <a:buNone/>
            </a:pPr>
            <a:r>
              <a:rPr lang="en-US" sz="1400" dirty="0">
                <a:solidFill>
                  <a:schemeClr val="tx2"/>
                </a:solidFill>
              </a:rPr>
              <a:t>Ordered by reversibility and consequence, from what each workflow says it does. Not a claim that any system is more accurate.</a:t>
            </a:r>
            <a:endParaRPr lang="en-US" sz="1400" dirty="0"/>
          </a:p>
        </p:txBody>
      </p:sp>
      <p:sp>
        <p:nvSpPr>
          <p:cNvPr id="6" name="text-92"/>
          <p:cNvSpPr txBox="1"/>
          <p:nvPr/>
        </p:nvSpPr>
        <p:spPr>
          <a:xfrm>
            <a:off x="548640" y="5998464"/>
            <a:ext cx="11094415" cy="310896"/>
          </a:xfrm>
          <a:prstGeom prst="rect">
            <a:avLst/>
          </a:prstGeom>
          <a:noFill/>
          <a:ln/>
        </p:spPr>
        <p:txBody>
          <a:bodyPr wrap="square" lIns="0" tIns="0" rIns="0" bIns="0" rtlCol="0" anchor="ctr"/>
          <a:lstStyle/>
          <a:p>
            <a:pPr indent="0" marL="0">
              <a:buNone/>
            </a:pPr>
            <a:r>
              <a:rPr lang="en-US" sz="1100" dirty="0">
                <a:solidFill>
                  <a:schemeClr val="tx2"/>
                </a:solidFill>
              </a:rPr>
              <a:t>Source: Inference from Onshape, Oct. 5, 2026; NVIDIA, Oct. 8, 2026; Engineering.com, Sept. 22, 2026</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transition spd="med" advClick="1" advTm="41350">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Watch for physical-task evidence</a:t>
            </a:r>
            <a:endParaRPr lang="en-US" sz="3200" dirty="0"/>
          </a:p>
        </p:txBody>
      </p:sp>
      <p:sp>
        <p:nvSpPr>
          <p:cNvPr id="3" name="panel-93"/>
          <p:cNvSpPr/>
          <p:nvPr/>
        </p:nvSpPr>
        <p:spPr>
          <a:xfrm>
            <a:off x="548640" y="1463040"/>
            <a:ext cx="5394960" cy="3566160"/>
          </a:xfrm>
          <a:prstGeom prst="roundRect">
            <a:avLst>
              <a:gd name="adj" fmla="val 2564"/>
            </a:avLst>
          </a:prstGeom>
          <a:solidFill>
            <a:schemeClr val="bg2"/>
          </a:solidFill>
          <a:ln w="12700">
            <a:solidFill>
              <a:schemeClr val="bg2"/>
            </a:solidFill>
            <a:prstDash val="solid"/>
          </a:ln>
        </p:spPr>
      </p:sp>
      <p:sp>
        <p:nvSpPr>
          <p:cNvPr id="4" name="text-94"/>
          <p:cNvSpPr txBox="1"/>
          <p:nvPr/>
        </p:nvSpPr>
        <p:spPr>
          <a:xfrm>
            <a:off x="822960" y="1691640"/>
            <a:ext cx="2743200" cy="274320"/>
          </a:xfrm>
          <a:prstGeom prst="rect">
            <a:avLst/>
          </a:prstGeom>
          <a:noFill/>
          <a:ln/>
        </p:spPr>
        <p:txBody>
          <a:bodyPr wrap="square" lIns="0" tIns="0" rIns="0" bIns="0" rtlCol="0" anchor="t"/>
          <a:lstStyle/>
          <a:p>
            <a:pPr indent="0" marL="0">
              <a:buNone/>
            </a:pPr>
            <a:r>
              <a:rPr lang="en-US" sz="1200" b="1" spc="200" kern="0" dirty="0">
                <a:solidFill>
                  <a:schemeClr val="tx2"/>
                </a:solidFill>
              </a:rPr>
              <a:t>SIMULATION</a:t>
            </a:r>
            <a:endParaRPr lang="en-US" sz="1200" dirty="0"/>
          </a:p>
        </p:txBody>
      </p:sp>
      <p:sp>
        <p:nvSpPr>
          <p:cNvPr id="5" name="text-95"/>
          <p:cNvSpPr txBox="1"/>
          <p:nvPr/>
        </p:nvSpPr>
        <p:spPr>
          <a:xfrm>
            <a:off x="822960" y="2057400"/>
            <a:ext cx="4846320" cy="54864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Grasp test in Isaac Sim</a:t>
            </a:r>
            <a:endParaRPr lang="en-US" sz="2400" dirty="0"/>
          </a:p>
        </p:txBody>
      </p:sp>
      <p:sp>
        <p:nvSpPr>
          <p:cNvPr id="6" name="evidence-tag-96"/>
          <p:cNvSpPr txBox="1"/>
          <p:nvPr/>
        </p:nvSpPr>
        <p:spPr>
          <a:xfrm>
            <a:off x="822960" y="2788920"/>
            <a:ext cx="1338682" cy="256032"/>
          </a:xfrm>
          <a:prstGeom prst="roundRect">
            <a:avLst>
              <a:gd name="adj" fmla="val 46429"/>
            </a:avLst>
          </a:prstGeom>
          <a:solidFill>
            <a:schemeClr val="accent3"/>
          </a:solidFill>
          <a:ln w="12700">
            <a:solidFill>
              <a:schemeClr val="accent3"/>
            </a:solidFill>
          </a:ln>
        </p:spPr>
        <p:txBody>
          <a:bodyPr wrap="square" lIns="0" tIns="0" rIns="0" bIns="0" rtlCol="0" anchor="ctr"/>
          <a:lstStyle/>
          <a:p>
            <a:pPr algn="ctr" indent="0" marL="0">
              <a:buNone/>
            </a:pPr>
            <a:r>
              <a:rPr lang="en-US" sz="1000" b="1" spc="100" kern="0" dirty="0">
                <a:solidFill>
                  <a:schemeClr val="bg1"/>
                </a:solidFill>
              </a:rPr>
              <a:t>SOURCE CLAIM</a:t>
            </a:r>
            <a:endParaRPr lang="en-US" sz="1000" dirty="0"/>
          </a:p>
        </p:txBody>
      </p:sp>
      <p:sp>
        <p:nvSpPr>
          <p:cNvPr id="7" name="text-97"/>
          <p:cNvSpPr txBox="1"/>
          <p:nvPr/>
        </p:nvSpPr>
        <p:spPr>
          <a:xfrm>
            <a:off x="822960" y="3200400"/>
            <a:ext cx="4846320" cy="365760"/>
          </a:xfrm>
          <a:prstGeom prst="rect">
            <a:avLst/>
          </a:prstGeom>
          <a:noFill/>
          <a:ln/>
        </p:spPr>
        <p:txBody>
          <a:bodyPr wrap="square" lIns="0" tIns="0" rIns="0" bIns="0" rtlCol="0" anchor="t"/>
          <a:lstStyle/>
          <a:p>
            <a:pPr indent="0" marL="0">
              <a:buNone/>
            </a:pPr>
            <a:r>
              <a:rPr lang="en-US" sz="1500" dirty="0">
                <a:solidFill>
                  <a:schemeClr val="tx2"/>
                </a:solidFill>
              </a:rPr>
              <a:t>Part of NVIDIA's simulation-preparation workflow</a:t>
            </a:r>
            <a:endParaRPr lang="en-US" sz="1500" dirty="0"/>
          </a:p>
        </p:txBody>
      </p:sp>
      <p:pic>
        <p:nvPicPr>
          <p:cNvPr id="8" name="icon-check-98" descr="preencoded.png">    </p:cNvPr>
          <p:cNvPicPr>
            <a:picLocks noChangeAspect="1"/>
          </p:cNvPicPr>
          <p:nvPr/>
        </p:nvPicPr>
        <p:blipFill>
          <a:blip r:embed="rId1"/>
          <a:stretch>
            <a:fillRect/>
          </a:stretch>
        </p:blipFill>
        <p:spPr>
          <a:xfrm>
            <a:off x="822960" y="3931920"/>
            <a:ext cx="365760" cy="365760"/>
          </a:xfrm>
          <a:prstGeom prst="rect">
            <a:avLst/>
          </a:prstGeom>
        </p:spPr>
      </p:pic>
      <p:sp>
        <p:nvSpPr>
          <p:cNvPr id="9" name="text-99"/>
          <p:cNvSpPr txBox="1"/>
          <p:nvPr/>
        </p:nvSpPr>
        <p:spPr>
          <a:xfrm>
            <a:off x="1325880" y="3931920"/>
            <a:ext cx="4389120" cy="365760"/>
          </a:xfrm>
          <a:prstGeom prst="rect">
            <a:avLst/>
          </a:prstGeom>
          <a:noFill/>
          <a:ln/>
        </p:spPr>
        <p:txBody>
          <a:bodyPr wrap="square" lIns="0" tIns="0" rIns="0" bIns="0" rtlCol="0" anchor="ctr"/>
          <a:lstStyle/>
          <a:p>
            <a:pPr indent="0" marL="0">
              <a:buNone/>
            </a:pPr>
            <a:r>
              <a:rPr lang="en-US" sz="1600" b="1" dirty="0">
                <a:solidFill>
                  <a:schemeClr val="tx1"/>
                </a:solidFill>
              </a:rPr>
              <a:t>Checked in simulation, not physical deployment</a:t>
            </a:r>
            <a:endParaRPr lang="en-US" sz="1600" dirty="0"/>
          </a:p>
        </p:txBody>
      </p:sp>
      <p:sp>
        <p:nvSpPr>
          <p:cNvPr id="10" name="panel-100"/>
          <p:cNvSpPr/>
          <p:nvPr/>
        </p:nvSpPr>
        <p:spPr>
          <a:xfrm>
            <a:off x="6245352" y="1463040"/>
            <a:ext cx="5394960" cy="3566160"/>
          </a:xfrm>
          <a:prstGeom prst="roundRect">
            <a:avLst>
              <a:gd name="adj" fmla="val 2564"/>
            </a:avLst>
          </a:prstGeom>
          <a:solidFill>
            <a:schemeClr val="bg1"/>
          </a:solidFill>
          <a:ln w="15875">
            <a:solidFill>
              <a:schemeClr val="accent6"/>
            </a:solidFill>
            <a:prstDash val="dash"/>
          </a:ln>
        </p:spPr>
      </p:sp>
      <p:sp>
        <p:nvSpPr>
          <p:cNvPr id="11" name="text-101"/>
          <p:cNvSpPr txBox="1"/>
          <p:nvPr/>
        </p:nvSpPr>
        <p:spPr>
          <a:xfrm>
            <a:off x="6519672" y="1691640"/>
            <a:ext cx="2743200" cy="274320"/>
          </a:xfrm>
          <a:prstGeom prst="rect">
            <a:avLst/>
          </a:prstGeom>
          <a:noFill/>
          <a:ln/>
        </p:spPr>
        <p:txBody>
          <a:bodyPr wrap="square" lIns="0" tIns="0" rIns="0" bIns="0" rtlCol="0" anchor="t"/>
          <a:lstStyle/>
          <a:p>
            <a:pPr indent="0" marL="0">
              <a:buNone/>
            </a:pPr>
            <a:r>
              <a:rPr lang="en-US" sz="1200" b="1" spc="200" kern="0" dirty="0">
                <a:solidFill>
                  <a:schemeClr val="tx2"/>
                </a:solidFill>
              </a:rPr>
              <a:t>PHYSICAL</a:t>
            </a:r>
            <a:endParaRPr lang="en-US" sz="1200" dirty="0"/>
          </a:p>
        </p:txBody>
      </p:sp>
      <p:sp>
        <p:nvSpPr>
          <p:cNvPr id="12" name="text-102"/>
          <p:cNvSpPr txBox="1"/>
          <p:nvPr/>
        </p:nvSpPr>
        <p:spPr>
          <a:xfrm>
            <a:off x="6519672" y="2057400"/>
            <a:ext cx="4206240" cy="54864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Replicated real-robot tasks</a:t>
            </a:r>
            <a:endParaRPr lang="en-US" sz="2400" dirty="0"/>
          </a:p>
        </p:txBody>
      </p:sp>
      <p:pic>
        <p:nvPicPr>
          <p:cNvPr id="13" name="icon-q-103" descr="preencoded.png">    </p:cNvPr>
          <p:cNvPicPr>
            <a:picLocks noChangeAspect="1"/>
          </p:cNvPicPr>
          <p:nvPr/>
        </p:nvPicPr>
        <p:blipFill>
          <a:blip r:embed="rId2"/>
          <a:stretch>
            <a:fillRect/>
          </a:stretch>
        </p:blipFill>
        <p:spPr>
          <a:xfrm>
            <a:off x="10835640" y="1691640"/>
            <a:ext cx="566928" cy="566928"/>
          </a:xfrm>
          <a:prstGeom prst="rect">
            <a:avLst/>
          </a:prstGeom>
        </p:spPr>
      </p:pic>
      <p:sp>
        <p:nvSpPr>
          <p:cNvPr id="14" name="evidence-tag-104"/>
          <p:cNvSpPr txBox="1"/>
          <p:nvPr/>
        </p:nvSpPr>
        <p:spPr>
          <a:xfrm>
            <a:off x="6519672" y="2788920"/>
            <a:ext cx="2264054" cy="256032"/>
          </a:xfrm>
          <a:prstGeom prst="roundRect">
            <a:avLst>
              <a:gd name="adj" fmla="val 46429"/>
            </a:avLst>
          </a:prstGeom>
          <a:solidFill>
            <a:schemeClr val="bg1"/>
          </a:solidFill>
          <a:ln w="15875">
            <a:solidFill>
              <a:schemeClr val="accent6"/>
            </a:solidFill>
            <a:prstDash val="dash"/>
          </a:ln>
        </p:spPr>
        <p:txBody>
          <a:bodyPr wrap="square" lIns="0" tIns="0" rIns="0" bIns="0" rtlCol="0" anchor="ctr"/>
          <a:lstStyle/>
          <a:p>
            <a:pPr algn="ctr" indent="0" marL="0">
              <a:buNone/>
            </a:pPr>
            <a:r>
              <a:rPr lang="en-US" sz="1000" b="1" spc="100" kern="0" dirty="0">
                <a:solidFill>
                  <a:schemeClr val="accent6"/>
                </a:solidFill>
              </a:rPr>
              <a:t>UNVERIFIED · TRANSCRIPT</a:t>
            </a:r>
            <a:endParaRPr lang="en-US" sz="1000" dirty="0"/>
          </a:p>
        </p:txBody>
      </p:sp>
      <p:sp>
        <p:nvSpPr>
          <p:cNvPr id="15" name="text-105"/>
          <p:cNvSpPr txBox="1"/>
          <p:nvPr/>
        </p:nvSpPr>
        <p:spPr>
          <a:xfrm>
            <a:off x="6519672" y="3200400"/>
            <a:ext cx="4846320" cy="914400"/>
          </a:xfrm>
          <a:prstGeom prst="rect">
            <a:avLst/>
          </a:prstGeom>
          <a:noFill/>
          <a:ln/>
        </p:spPr>
        <p:txBody>
          <a:bodyPr wrap="square" lIns="0" tIns="0" rIns="0" bIns="0" rtlCol="0" anchor="t"/>
          <a:lstStyle/>
          <a:p>
            <a:pPr indent="0" marL="0">
              <a:buNone/>
            </a:pPr>
            <a:r>
              <a:rPr lang="en-US" sz="1500" dirty="0">
                <a:solidFill>
                  <a:schemeClr val="tx1"/>
                </a:solidFill>
              </a:rPr>
              <a:t>Podcast report: most cited world-action-model results came from simulation benchmarks; the real-robot result covered one task.</a:t>
            </a:r>
            <a:endParaRPr lang="en-US" sz="1500" dirty="0"/>
          </a:p>
        </p:txBody>
      </p:sp>
      <p:sp>
        <p:nvSpPr>
          <p:cNvPr id="16" name="text-106"/>
          <p:cNvSpPr txBox="1"/>
          <p:nvPr/>
        </p:nvSpPr>
        <p:spPr>
          <a:xfrm>
            <a:off x="6519672" y="4206240"/>
            <a:ext cx="4846320" cy="640080"/>
          </a:xfrm>
          <a:prstGeom prst="rect">
            <a:avLst/>
          </a:prstGeom>
          <a:noFill/>
          <a:ln/>
        </p:spPr>
        <p:txBody>
          <a:bodyPr wrap="square" lIns="0" tIns="0" rIns="0" bIns="0" rtlCol="0" anchor="t"/>
          <a:lstStyle/>
          <a:p>
            <a:pPr indent="0" marL="0">
              <a:buNone/>
            </a:pPr>
            <a:r>
              <a:rPr lang="en-US" sz="1300" b="1" dirty="0">
                <a:solidFill>
                  <a:schemeClr val="accent6"/>
                </a:solidFill>
              </a:rPr>
              <a:t>Secondary report from an automatic transcript: check against the audio and underlying paper.</a:t>
            </a:r>
            <a:endParaRPr lang="en-US" sz="1300" dirty="0"/>
          </a:p>
        </p:txBody>
      </p:sp>
      <p:sp>
        <p:nvSpPr>
          <p:cNvPr id="17" name="evidence-tag-107"/>
          <p:cNvSpPr txBox="1"/>
          <p:nvPr/>
        </p:nvSpPr>
        <p:spPr>
          <a:xfrm>
            <a:off x="548640" y="5303520"/>
            <a:ext cx="1927555" cy="256032"/>
          </a:xfrm>
          <a:prstGeom prst="roundRect">
            <a:avLst>
              <a:gd name="adj" fmla="val 46429"/>
            </a:avLst>
          </a:prstGeom>
          <a:solidFill>
            <a:schemeClr val="accent4"/>
          </a:solidFill>
          <a:ln w="12700">
            <a:solidFill>
              <a:schemeClr val="accent4"/>
            </a:solidFill>
          </a:ln>
        </p:spPr>
        <p:txBody>
          <a:bodyPr wrap="square" lIns="0" tIns="0" rIns="0" bIns="0" rtlCol="0" anchor="ctr"/>
          <a:lstStyle/>
          <a:p>
            <a:pPr algn="ctr" indent="0" marL="0">
              <a:buNone/>
            </a:pPr>
            <a:r>
              <a:rPr lang="en-US" sz="1000" b="1" spc="100" kern="0" dirty="0">
                <a:solidFill>
                  <a:schemeClr val="bg1"/>
                </a:solidFill>
              </a:rPr>
              <a:t>EDITORIAL INFERENCE</a:t>
            </a:r>
            <a:endParaRPr lang="en-US" sz="1000" dirty="0"/>
          </a:p>
        </p:txBody>
      </p:sp>
      <p:sp>
        <p:nvSpPr>
          <p:cNvPr id="18" name="text-108"/>
          <p:cNvSpPr txBox="1"/>
          <p:nvPr/>
        </p:nvSpPr>
        <p:spPr>
          <a:xfrm>
            <a:off x="2613355" y="5276088"/>
            <a:ext cx="9029700" cy="310896"/>
          </a:xfrm>
          <a:prstGeom prst="rect">
            <a:avLst/>
          </a:prstGeom>
          <a:noFill/>
          <a:ln/>
        </p:spPr>
        <p:txBody>
          <a:bodyPr wrap="square" lIns="0" tIns="0" rIns="0" bIns="0" rtlCol="0" anchor="ctr"/>
          <a:lstStyle/>
          <a:p>
            <a:pPr indent="0" marL="0">
              <a:buNone/>
            </a:pPr>
            <a:r>
              <a:rPr lang="en-US" sz="1400" dirty="0">
                <a:solidFill>
                  <a:schemeClr val="tx2"/>
                </a:solidFill>
              </a:rPr>
              <a:t>Physical-task replication is a more consequential watch item than another simulation-only demonstration.</a:t>
            </a:r>
            <a:endParaRPr lang="en-US" sz="1400" dirty="0"/>
          </a:p>
        </p:txBody>
      </p:sp>
      <p:sp>
        <p:nvSpPr>
          <p:cNvPr id="19" name="text-109"/>
          <p:cNvSpPr txBox="1"/>
          <p:nvPr/>
        </p:nvSpPr>
        <p:spPr>
          <a:xfrm>
            <a:off x="548640" y="5998464"/>
            <a:ext cx="11094415" cy="310896"/>
          </a:xfrm>
          <a:prstGeom prst="rect">
            <a:avLst/>
          </a:prstGeom>
          <a:noFill/>
          <a:ln/>
        </p:spPr>
        <p:txBody>
          <a:bodyPr wrap="square" lIns="0" tIns="0" rIns="0" bIns="0" rtlCol="0" anchor="ctr"/>
          <a:lstStyle/>
          <a:p>
            <a:pPr indent="0" marL="0">
              <a:buNone/>
            </a:pPr>
            <a:r>
              <a:rPr lang="en-US" sz="1100" dirty="0">
                <a:solidFill>
                  <a:schemeClr val="tx2"/>
                </a:solidFill>
              </a:rPr>
              <a:t>Source: NVIDIA, Oct. 8, 2026; Physical AI Podcast, “Atlas Loses Its Pinky, Only One Humanoid in Eight Walks,” Oct. 3, 2026 (07:28–07:35)</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transition spd="med" advClick="1" advTm="33340">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t"/>
          <a:lstStyle/>
          <a:p>
            <a:pPr algn="l" indent="0" marL="0">
              <a:buNone/>
            </a:pPr>
            <a:r>
              <a:rPr lang="en-US" sz="3200" b="1" dirty="0">
                <a:solidFill>
                  <a:schemeClr val="bg1"/>
                </a:solidFill>
              </a:rPr>
              <a:t>Pilot, retain, approve, watch</a:t>
            </a:r>
            <a:endParaRPr lang="en-US" sz="3200" dirty="0"/>
          </a:p>
        </p:txBody>
      </p:sp>
      <p:sp>
        <p:nvSpPr>
          <p:cNvPr id="3" name="evidence-tag-110"/>
          <p:cNvSpPr txBox="1"/>
          <p:nvPr/>
        </p:nvSpPr>
        <p:spPr>
          <a:xfrm>
            <a:off x="548640" y="1371600"/>
            <a:ext cx="1927555" cy="256032"/>
          </a:xfrm>
          <a:prstGeom prst="roundRect">
            <a:avLst>
              <a:gd name="adj" fmla="val 46429"/>
            </a:avLst>
          </a:prstGeom>
          <a:solidFill>
            <a:schemeClr val="accent4"/>
          </a:solidFill>
          <a:ln w="12700">
            <a:solidFill>
              <a:schemeClr val="accent4"/>
            </a:solidFill>
          </a:ln>
        </p:spPr>
        <p:txBody>
          <a:bodyPr wrap="square" lIns="0" tIns="0" rIns="0" bIns="0" rtlCol="0" anchor="ctr"/>
          <a:lstStyle/>
          <a:p>
            <a:pPr algn="ctr" indent="0" marL="0">
              <a:buNone/>
            </a:pPr>
            <a:r>
              <a:rPr lang="en-US" sz="1000" b="1" spc="100" kern="0" dirty="0">
                <a:solidFill>
                  <a:schemeClr val="bg1"/>
                </a:solidFill>
              </a:rPr>
              <a:t>EDITORIAL INFERENCE</a:t>
            </a:r>
            <a:endParaRPr lang="en-US" sz="1000" dirty="0"/>
          </a:p>
        </p:txBody>
      </p:sp>
      <p:sp>
        <p:nvSpPr>
          <p:cNvPr id="4" name="step-111"/>
          <p:cNvSpPr/>
          <p:nvPr/>
        </p:nvSpPr>
        <p:spPr>
          <a:xfrm>
            <a:off x="548640" y="1874520"/>
            <a:ext cx="502920" cy="502920"/>
          </a:xfrm>
          <a:prstGeom prst="ellipse">
            <a:avLst/>
          </a:prstGeom>
          <a:solidFill>
            <a:schemeClr val="accent1"/>
          </a:solidFill>
          <a:ln w="9525">
            <a:solidFill>
              <a:schemeClr val="bg2"/>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text-112"/>
          <p:cNvSpPr txBox="1"/>
          <p:nvPr/>
        </p:nvSpPr>
        <p:spPr>
          <a:xfrm>
            <a:off x="1280160" y="1837944"/>
            <a:ext cx="6309360" cy="365760"/>
          </a:xfrm>
          <a:prstGeom prst="rect">
            <a:avLst/>
          </a:prstGeom>
          <a:noFill/>
          <a:ln/>
        </p:spPr>
        <p:txBody>
          <a:bodyPr wrap="square" lIns="0" tIns="0" rIns="0" bIns="0" rtlCol="0" anchor="t"/>
          <a:lstStyle/>
          <a:p>
            <a:pPr indent="0" marL="0">
              <a:buNone/>
            </a:pPr>
            <a:r>
              <a:rPr lang="en-US" sz="2000" b="1" dirty="0">
                <a:solidFill>
                  <a:schemeClr val="bg1"/>
                </a:solidFill>
              </a:rPr>
              <a:t>Pilot retrieval</a:t>
            </a:r>
            <a:endParaRPr lang="en-US" sz="2000" dirty="0"/>
          </a:p>
        </p:txBody>
      </p:sp>
      <p:sp>
        <p:nvSpPr>
          <p:cNvPr id="6" name="text-113"/>
          <p:cNvSpPr txBox="1"/>
          <p:nvPr/>
        </p:nvSpPr>
        <p:spPr>
          <a:xfrm>
            <a:off x="1280160" y="2221992"/>
            <a:ext cx="6309360" cy="548640"/>
          </a:xfrm>
          <a:prstGeom prst="rect">
            <a:avLst/>
          </a:prstGeom>
          <a:noFill/>
          <a:ln/>
        </p:spPr>
        <p:txBody>
          <a:bodyPr wrap="square" lIns="0" tIns="0" rIns="0" bIns="0" rtlCol="0" anchor="t"/>
          <a:lstStyle/>
          <a:p>
            <a:pPr indent="0" marL="0">
              <a:buNone/>
            </a:pPr>
            <a:r>
              <a:rPr lang="en-US" sz="1400" dirty="0">
                <a:solidFill>
                  <a:schemeClr val="bg2"/>
                </a:solidFill>
              </a:rPr>
              <a:t>A narrow retrieval pilot, with human inspection</a:t>
            </a:r>
            <a:endParaRPr lang="en-US" sz="1400" dirty="0"/>
          </a:p>
        </p:txBody>
      </p:sp>
      <p:sp>
        <p:nvSpPr>
          <p:cNvPr id="7" name="step-114"/>
          <p:cNvSpPr/>
          <p:nvPr/>
        </p:nvSpPr>
        <p:spPr>
          <a:xfrm>
            <a:off x="548640" y="2862072"/>
            <a:ext cx="502920" cy="502920"/>
          </a:xfrm>
          <a:prstGeom prst="ellipse">
            <a:avLst/>
          </a:prstGeom>
          <a:solidFill>
            <a:schemeClr val="accent1"/>
          </a:solidFill>
          <a:ln w="9525">
            <a:solidFill>
              <a:schemeClr val="bg2"/>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8" name="text-115"/>
          <p:cNvSpPr txBox="1"/>
          <p:nvPr/>
        </p:nvSpPr>
        <p:spPr>
          <a:xfrm>
            <a:off x="1280160" y="2825496"/>
            <a:ext cx="6309360" cy="365760"/>
          </a:xfrm>
          <a:prstGeom prst="rect">
            <a:avLst/>
          </a:prstGeom>
          <a:noFill/>
          <a:ln/>
        </p:spPr>
        <p:txBody>
          <a:bodyPr wrap="square" lIns="0" tIns="0" rIns="0" bIns="0" rtlCol="0" anchor="t"/>
          <a:lstStyle/>
          <a:p>
            <a:pPr indent="0" marL="0">
              <a:buNone/>
            </a:pPr>
            <a:r>
              <a:rPr lang="en-US" sz="2000" b="1" dirty="0">
                <a:solidFill>
                  <a:schemeClr val="bg1"/>
                </a:solidFill>
              </a:rPr>
              <a:t>Retain simulation evidence</a:t>
            </a:r>
            <a:endParaRPr lang="en-US" sz="2000" dirty="0"/>
          </a:p>
        </p:txBody>
      </p:sp>
      <p:sp>
        <p:nvSpPr>
          <p:cNvPr id="9" name="text-116"/>
          <p:cNvSpPr txBox="1"/>
          <p:nvPr/>
        </p:nvSpPr>
        <p:spPr>
          <a:xfrm>
            <a:off x="1280160" y="3209544"/>
            <a:ext cx="6309360" cy="548640"/>
          </a:xfrm>
          <a:prstGeom prst="rect">
            <a:avLst/>
          </a:prstGeom>
          <a:noFill/>
          <a:ln/>
        </p:spPr>
        <p:txBody>
          <a:bodyPr wrap="square" lIns="0" tIns="0" rIns="0" bIns="0" rtlCol="0" anchor="t"/>
          <a:lstStyle/>
          <a:p>
            <a:pPr indent="0" marL="0">
              <a:buNone/>
            </a:pPr>
            <a:r>
              <a:rPr lang="en-US" sz="1400" dirty="0">
                <a:solidFill>
                  <a:schemeClr val="bg2"/>
                </a:solidFill>
              </a:rPr>
              <a:t>References, asset changes, check results, simulation conditions</a:t>
            </a:r>
            <a:endParaRPr lang="en-US" sz="1400" dirty="0"/>
          </a:p>
        </p:txBody>
      </p:sp>
      <p:sp>
        <p:nvSpPr>
          <p:cNvPr id="10" name="step-117"/>
          <p:cNvSpPr/>
          <p:nvPr/>
        </p:nvSpPr>
        <p:spPr>
          <a:xfrm>
            <a:off x="548640" y="3849624"/>
            <a:ext cx="502920" cy="502920"/>
          </a:xfrm>
          <a:prstGeom prst="ellipse">
            <a:avLst/>
          </a:prstGeom>
          <a:solidFill>
            <a:schemeClr val="accent5"/>
          </a:solidFill>
          <a:ln w="9525">
            <a:solidFill>
              <a:schemeClr val="accent5"/>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1" name="text-118"/>
          <p:cNvSpPr txBox="1"/>
          <p:nvPr/>
        </p:nvSpPr>
        <p:spPr>
          <a:xfrm>
            <a:off x="1280160" y="3813048"/>
            <a:ext cx="6309360" cy="365760"/>
          </a:xfrm>
          <a:prstGeom prst="rect">
            <a:avLst/>
          </a:prstGeom>
          <a:noFill/>
          <a:ln/>
        </p:spPr>
        <p:txBody>
          <a:bodyPr wrap="square" lIns="0" tIns="0" rIns="0" bIns="0" rtlCol="0" anchor="t"/>
          <a:lstStyle/>
          <a:p>
            <a:pPr indent="0" marL="0">
              <a:buNone/>
            </a:pPr>
            <a:r>
              <a:rPr lang="en-US" sz="2000" b="1" dirty="0">
                <a:solidFill>
                  <a:schemeClr val="bg1"/>
                </a:solidFill>
              </a:rPr>
              <a:t>Approve PLM writes</a:t>
            </a:r>
            <a:endParaRPr lang="en-US" sz="2000" dirty="0"/>
          </a:p>
        </p:txBody>
      </p:sp>
      <p:sp>
        <p:nvSpPr>
          <p:cNvPr id="12" name="text-119"/>
          <p:cNvSpPr txBox="1"/>
          <p:nvPr/>
        </p:nvSpPr>
        <p:spPr>
          <a:xfrm>
            <a:off x="1280160" y="4197096"/>
            <a:ext cx="6309360" cy="548640"/>
          </a:xfrm>
          <a:prstGeom prst="rect">
            <a:avLst/>
          </a:prstGeom>
          <a:noFill/>
          <a:ln/>
        </p:spPr>
        <p:txBody>
          <a:bodyPr wrap="square" lIns="0" tIns="0" rIns="0" bIns="0" rtlCol="0" anchor="t"/>
          <a:lstStyle/>
          <a:p>
            <a:pPr indent="0" marL="0">
              <a:buNone/>
            </a:pPr>
            <a:r>
              <a:rPr lang="en-US" sz="1400" dirty="0">
                <a:solidFill>
                  <a:schemeClr val="bg2"/>
                </a:solidFill>
              </a:rPr>
              <a:t>Approval before inferred content becomes a record</a:t>
            </a:r>
            <a:endParaRPr lang="en-US" sz="1400" dirty="0"/>
          </a:p>
        </p:txBody>
      </p:sp>
      <p:sp>
        <p:nvSpPr>
          <p:cNvPr id="13" name="step-120"/>
          <p:cNvSpPr/>
          <p:nvPr/>
        </p:nvSpPr>
        <p:spPr>
          <a:xfrm>
            <a:off x="548640" y="4837176"/>
            <a:ext cx="502920" cy="502920"/>
          </a:xfrm>
          <a:prstGeom prst="ellipse">
            <a:avLst/>
          </a:prstGeom>
          <a:solidFill>
            <a:schemeClr val="accent1"/>
          </a:solidFill>
          <a:ln w="9525">
            <a:solidFill>
              <a:schemeClr val="bg2"/>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4" name="text-121"/>
          <p:cNvSpPr txBox="1"/>
          <p:nvPr/>
        </p:nvSpPr>
        <p:spPr>
          <a:xfrm>
            <a:off x="1280160" y="4800600"/>
            <a:ext cx="6309360" cy="365760"/>
          </a:xfrm>
          <a:prstGeom prst="rect">
            <a:avLst/>
          </a:prstGeom>
          <a:noFill/>
          <a:ln/>
        </p:spPr>
        <p:txBody>
          <a:bodyPr wrap="square" lIns="0" tIns="0" rIns="0" bIns="0" rtlCol="0" anchor="t"/>
          <a:lstStyle/>
          <a:p>
            <a:pPr indent="0" marL="0">
              <a:buNone/>
            </a:pPr>
            <a:r>
              <a:rPr lang="en-US" sz="2000" b="1" dirty="0">
                <a:solidFill>
                  <a:schemeClr val="bg1"/>
                </a:solidFill>
              </a:rPr>
              <a:t>Watch deployment and physical replication</a:t>
            </a:r>
            <a:endParaRPr lang="en-US" sz="2000" dirty="0"/>
          </a:p>
        </p:txBody>
      </p:sp>
      <p:sp>
        <p:nvSpPr>
          <p:cNvPr id="15" name="text-122"/>
          <p:cNvSpPr txBox="1"/>
          <p:nvPr/>
        </p:nvSpPr>
        <p:spPr>
          <a:xfrm>
            <a:off x="1280160" y="5184648"/>
            <a:ext cx="6309360" cy="548640"/>
          </a:xfrm>
          <a:prstGeom prst="rect">
            <a:avLst/>
          </a:prstGeom>
          <a:noFill/>
          <a:ln/>
        </p:spPr>
        <p:txBody>
          <a:bodyPr wrap="square" lIns="0" tIns="0" rIns="0" bIns="0" rtlCol="0" anchor="t"/>
          <a:lstStyle/>
          <a:p>
            <a:pPr indent="0" marL="0">
              <a:buNone/>
            </a:pPr>
            <a:r>
              <a:rPr lang="en-US" sz="1400" dirty="0">
                <a:solidFill>
                  <a:schemeClr val="bg2"/>
                </a:solidFill>
              </a:rPr>
              <a:t>Published deployment evidence, review controls, physical-task results beyond simulation</a:t>
            </a:r>
            <a:endParaRPr lang="en-US" sz="1400" dirty="0"/>
          </a:p>
        </p:txBody>
      </p:sp>
      <p:sp>
        <p:nvSpPr>
          <p:cNvPr id="16" name="panel-123"/>
          <p:cNvSpPr/>
          <p:nvPr/>
        </p:nvSpPr>
        <p:spPr>
          <a:xfrm>
            <a:off x="8001000" y="1874520"/>
            <a:ext cx="3639312" cy="3291840"/>
          </a:xfrm>
          <a:prstGeom prst="roundRect">
            <a:avLst>
              <a:gd name="adj" fmla="val 2778"/>
            </a:avLst>
          </a:prstGeom>
          <a:solidFill>
            <a:schemeClr val="tx1"/>
          </a:solidFill>
          <a:ln w="12700">
            <a:solidFill>
              <a:schemeClr val="bg2"/>
            </a:solidFill>
            <a:prstDash val="dash"/>
          </a:ln>
        </p:spPr>
      </p:sp>
      <p:sp>
        <p:nvSpPr>
          <p:cNvPr id="17" name="evidence-tag-124"/>
          <p:cNvSpPr txBox="1"/>
          <p:nvPr/>
        </p:nvSpPr>
        <p:spPr>
          <a:xfrm>
            <a:off x="8229600" y="1508760"/>
            <a:ext cx="1338682" cy="256032"/>
          </a:xfrm>
          <a:prstGeom prst="roundRect">
            <a:avLst>
              <a:gd name="adj" fmla="val 46429"/>
            </a:avLst>
          </a:prstGeom>
          <a:solidFill>
            <a:schemeClr val="accent3"/>
          </a:solidFill>
          <a:ln w="12700">
            <a:solidFill>
              <a:schemeClr val="accent3"/>
            </a:solidFill>
          </a:ln>
        </p:spPr>
        <p:txBody>
          <a:bodyPr wrap="square" lIns="0" tIns="0" rIns="0" bIns="0" rtlCol="0" anchor="ctr"/>
          <a:lstStyle/>
          <a:p>
            <a:pPr algn="ctr" indent="0" marL="0">
              <a:buNone/>
            </a:pPr>
            <a:r>
              <a:rPr lang="en-US" sz="1000" b="1" spc="100" kern="0" dirty="0">
                <a:solidFill>
                  <a:schemeClr val="bg1"/>
                </a:solidFill>
              </a:rPr>
              <a:t>SOURCE CLAIM</a:t>
            </a:r>
            <a:endParaRPr lang="en-US" sz="1000" dirty="0"/>
          </a:p>
        </p:txBody>
      </p:sp>
      <p:sp>
        <p:nvSpPr>
          <p:cNvPr id="18" name="text-125"/>
          <p:cNvSpPr txBox="1"/>
          <p:nvPr/>
        </p:nvSpPr>
        <p:spPr>
          <a:xfrm>
            <a:off x="8229600" y="2057400"/>
            <a:ext cx="3200400" cy="502920"/>
          </a:xfrm>
          <a:prstGeom prst="rect">
            <a:avLst/>
          </a:prstGeom>
          <a:noFill/>
          <a:ln/>
        </p:spPr>
        <p:txBody>
          <a:bodyPr wrap="square" lIns="0" tIns="0" rIns="0" bIns="0" rtlCol="0" anchor="t"/>
          <a:lstStyle/>
          <a:p>
            <a:pPr indent="0" marL="0">
              <a:buNone/>
            </a:pPr>
            <a:r>
              <a:rPr lang="en-US" sz="1100" b="1" spc="100" kern="0" dirty="0">
                <a:solidFill>
                  <a:schemeClr val="bg2"/>
                </a:solidFill>
              </a:rPr>
              <a:t>SEPARATE FROM CAPABILITY EVIDENCE</a:t>
            </a:r>
            <a:endParaRPr lang="en-US" sz="1100" dirty="0"/>
          </a:p>
        </p:txBody>
      </p:sp>
      <p:sp>
        <p:nvSpPr>
          <p:cNvPr id="19" name="text-126"/>
          <p:cNvSpPr txBox="1"/>
          <p:nvPr/>
        </p:nvSpPr>
        <p:spPr>
          <a:xfrm>
            <a:off x="8229600" y="2560320"/>
            <a:ext cx="3200400" cy="45720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World Labs–AMD</a:t>
            </a:r>
            <a:endParaRPr lang="en-US" sz="2200" dirty="0"/>
          </a:p>
        </p:txBody>
      </p:sp>
      <p:sp>
        <p:nvSpPr>
          <p:cNvPr id="20" name="text-127"/>
          <p:cNvSpPr txBox="1"/>
          <p:nvPr/>
        </p:nvSpPr>
        <p:spPr>
          <a:xfrm>
            <a:off x="8229600" y="3063240"/>
            <a:ext cx="3200400" cy="1280160"/>
          </a:xfrm>
          <a:prstGeom prst="rect">
            <a:avLst/>
          </a:prstGeom>
          <a:noFill/>
          <a:ln/>
        </p:spPr>
        <p:txBody>
          <a:bodyPr wrap="square" lIns="0" tIns="0" rIns="0" bIns="0" rtlCol="0" anchor="t"/>
          <a:lstStyle/>
          <a:p>
            <a:pPr indent="0" marL="0">
              <a:buNone/>
            </a:pPr>
            <a:r>
              <a:rPr lang="en-US" sz="1400" dirty="0">
                <a:solidFill>
                  <a:schemeClr val="bg2"/>
                </a:solidFill>
              </a:rPr>
              <a:t>World Labs says it has signed a definitive agreement to join AMD, subject to regulatory approvals and customary closing conditions.</a:t>
            </a:r>
            <a:endParaRPr lang="en-US" sz="1400" dirty="0"/>
          </a:p>
        </p:txBody>
      </p:sp>
      <p:sp>
        <p:nvSpPr>
          <p:cNvPr id="21" name="text-128"/>
          <p:cNvSpPr txBox="1"/>
          <p:nvPr/>
        </p:nvSpPr>
        <p:spPr>
          <a:xfrm>
            <a:off x="8229600" y="4343400"/>
            <a:ext cx="3200400" cy="685800"/>
          </a:xfrm>
          <a:prstGeom prst="rect">
            <a:avLst/>
          </a:prstGeom>
          <a:noFill/>
          <a:ln/>
        </p:spPr>
        <p:txBody>
          <a:bodyPr wrap="square" lIns="0" tIns="0" rIns="0" bIns="0" rtlCol="0" anchor="t"/>
          <a:lstStyle/>
          <a:p>
            <a:pPr indent="0" marL="0">
              <a:buNone/>
            </a:pPr>
            <a:r>
              <a:rPr lang="en-US" sz="1400" b="1" dirty="0">
                <a:solidFill>
                  <a:schemeClr val="bg1"/>
                </a:solidFill>
              </a:rPr>
              <a:t>A proposed transaction, not evidence of what the technology can do.</a:t>
            </a:r>
            <a:endParaRPr lang="en-US" sz="1400" dirty="0"/>
          </a:p>
        </p:txBody>
      </p:sp>
      <p:sp>
        <p:nvSpPr>
          <p:cNvPr id="22" name="text-129"/>
          <p:cNvSpPr txBox="1"/>
          <p:nvPr/>
        </p:nvSpPr>
        <p:spPr>
          <a:xfrm>
            <a:off x="548640" y="5998464"/>
            <a:ext cx="11094415" cy="310896"/>
          </a:xfrm>
          <a:prstGeom prst="rect">
            <a:avLst/>
          </a:prstGeom>
          <a:noFill/>
          <a:ln/>
        </p:spPr>
        <p:txBody>
          <a:bodyPr wrap="square" lIns="0" tIns="0" rIns="0" bIns="0" rtlCol="0" anchor="ctr"/>
          <a:lstStyle/>
          <a:p>
            <a:pPr indent="0" marL="0">
              <a:buNone/>
            </a:pPr>
            <a:r>
              <a:rPr lang="en-US" sz="1100" dirty="0">
                <a:solidFill>
                  <a:schemeClr val="bg2"/>
                </a:solidFill>
              </a:rPr>
              <a:t>Source: World Labs, “World Labs is Joining AMD,” Sept. 28, 2026; recommendations are editorial</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transition spd="med" advClick="1" advTm="39300">
    <p:fade/>
  </p:transition>
</p:sld>
</file>

<file path=ppt/theme/theme1.xml><?xml version="1.0" encoding="utf-8"?>
<a:theme xmlns:a="http://schemas.openxmlformats.org/drawingml/2006/main" name="Engineering Evidence 03">
  <a:themeElements>
    <a:clrScheme name="Engineering Evidence 03">
      <a:dk1>
        <a:srgbClr val="231E21"/>
      </a:dk1>
      <a:lt1>
        <a:srgbClr val="FFFFFF"/>
      </a:lt1>
      <a:dk2>
        <a:srgbClr val="4A5663"/>
      </a:dk2>
      <a:lt2>
        <a:srgbClr val="EEF1F4"/>
      </a:lt2>
      <a:accent1>
        <a:srgbClr val="3D4F5C"/>
      </a:accent1>
      <a:accent2>
        <a:srgbClr val="2E7D5B"/>
      </a:accent2>
      <a:accent3>
        <a:srgbClr val="8F5A00"/>
      </a:accent3>
      <a:accent4>
        <a:srgbClr val="5E4C94"/>
      </a:accent4>
      <a:accent5>
        <a:srgbClr val="B3362B"/>
      </a:accent5>
      <a:accent6>
        <a:srgbClr val="66707C"/>
      </a:accent6>
      <a:hlink>
        <a:srgbClr val="1F5A99"/>
      </a:hlink>
      <a:folHlink>
        <a:srgbClr val="5E4C94"/>
      </a:folHlink>
    </a:clrScheme>
    <a:fontScheme name="Engineering Evidence 03">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Pilot Where Mistakes Are Easy to Undo</dc:title>
  <dc:subject>AI-ASSISTED</dc:subject>
  <dc:creator>Steph Xu</dc:creator>
  <cp:lastModifiedBy>Steph Xu</cp:lastModifiedBy>
  <cp:revision>1</cp:revision>
  <dcterms:created xsi:type="dcterms:W3CDTF">2026-10-16T21:26:44Z</dcterms:created>
  <dcterms:modified xsi:type="dcterms:W3CDTF">2026-10-16T21:26:44Z</dcterms:modified>
</cp:coreProperties>
</file>